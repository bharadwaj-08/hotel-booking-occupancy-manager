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embeddedFontLst>
    <p:embeddedFont>
      <p:font typeface="Consolas" panose="020B0609020204030204" pitchFamily="49" charset="0"/>
      <p:regular r:id="rId13"/>
      <p:bold r:id="rId14"/>
      <p:italic r:id="rId15"/>
      <p:boldItalic r:id="rId16"/>
    </p:embeddedFont>
    <p:embeddedFont>
      <p:font typeface="Crimson Pro SemiBold" panose="020B0604020202020204" charset="0"/>
      <p:regular r:id="rId17"/>
    </p:embeddedFont>
    <p:embeddedFont>
      <p:font typeface="Heebo" pitchFamily="2" charset="-79"/>
      <p:regular r:id="rId18"/>
      <p:bold r:id="rId19"/>
    </p:embeddedFont>
    <p:embeddedFont>
      <p:font typeface="Heebo Bold" pitchFamily="2" charset="-79"/>
      <p:regular r:id="rId20"/>
      <p:bold r:id="rId21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404137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0F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svg"/><Relationship Id="rId5" Type="http://schemas.openxmlformats.org/officeDocument/2006/relationships/image" Target="../media/image6.svg"/><Relationship Id="rId4" Type="http://schemas.openxmlformats.org/officeDocument/2006/relationships/image" Target="../media/image5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svg"/><Relationship Id="rId4" Type="http://schemas.openxmlformats.org/officeDocument/2006/relationships/image" Target="../media/image10.sv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14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272877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325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Hotel Booking &amp; Occupancy Manager</a:t>
            </a:r>
            <a:endParaRPr lang="en-US" sz="3250" dirty="0"/>
          </a:p>
        </p:txBody>
      </p:sp>
      <p:sp>
        <p:nvSpPr>
          <p:cNvPr id="3" name="Text 1"/>
          <p:cNvSpPr/>
          <p:nvPr/>
        </p:nvSpPr>
        <p:spPr>
          <a:xfrm>
            <a:off x="661475" y="1855688"/>
            <a:ext cx="10868745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60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Java Project Review — Core Java Concepts (CO1, CO2, CO3)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61475" y="2403475"/>
            <a:ext cx="10868745" cy="19050"/>
          </a:xfrm>
          <a:prstGeom prst="roundRect">
            <a:avLst>
              <a:gd name="adj" fmla="val 49999"/>
            </a:avLst>
          </a:prstGeom>
          <a:solidFill>
            <a:srgbClr val="4C4C4D">
              <a:alpha val="5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542415" y="2649835"/>
            <a:ext cx="5470785" cy="1796355"/>
          </a:xfrm>
          <a:prstGeom prst="roundRect">
            <a:avLst>
              <a:gd name="adj" fmla="val 1381"/>
            </a:avLst>
          </a:prstGeom>
          <a:solidFill>
            <a:srgbClr val="0F766E"/>
          </a:solidFill>
          <a:ln/>
        </p:spPr>
      </p:sp>
      <p:sp>
        <p:nvSpPr>
          <p:cNvPr id="6" name="Text 4"/>
          <p:cNvSpPr/>
          <p:nvPr/>
        </p:nvSpPr>
        <p:spPr>
          <a:xfrm>
            <a:off x="707710" y="2815134"/>
            <a:ext cx="5140196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Team Members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07710" y="3238897"/>
            <a:ext cx="5140196" cy="6780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3000"/>
              </a:lnSpc>
              <a:spcAft>
                <a:spcPts val="115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2620080095</a:t>
            </a:r>
            <a:r>
              <a:rPr lang="en-US" sz="1300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— Bharadwaj</a:t>
            </a:r>
            <a:endParaRPr lang="en-US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2620090110</a:t>
            </a:r>
            <a:r>
              <a:rPr lang="en-US" sz="1300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— Mukesh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303904" y="2815134"/>
            <a:ext cx="5232666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Project Scope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303904" y="3238897"/>
            <a:ext cx="5232666" cy="10584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 fully Java-based Hotel Booking &amp; Occupancy Management System demonstrating modular programming, recursion, and array operations. Built to satisfy Course Outcomes CO1, CO2, and CO3 through practical, real-world application.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61475" y="4632226"/>
            <a:ext cx="3512653" cy="952897"/>
          </a:xfrm>
          <a:prstGeom prst="roundRect">
            <a:avLst>
              <a:gd name="adj" fmla="val 2603"/>
            </a:avLst>
          </a:prstGeom>
          <a:solidFill>
            <a:srgbClr val="F2EEEE"/>
          </a:solidFill>
          <a:ln/>
        </p:spPr>
      </p:sp>
      <p:sp>
        <p:nvSpPr>
          <p:cNvPr id="11" name="Text 9"/>
          <p:cNvSpPr/>
          <p:nvPr/>
        </p:nvSpPr>
        <p:spPr>
          <a:xfrm>
            <a:off x="826769" y="4797524"/>
            <a:ext cx="3182064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CO1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26769" y="5155208"/>
            <a:ext cx="3182064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Basic Java Programming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339422" y="4632226"/>
            <a:ext cx="3512752" cy="952897"/>
          </a:xfrm>
          <a:prstGeom prst="roundRect">
            <a:avLst>
              <a:gd name="adj" fmla="val 2603"/>
            </a:avLst>
          </a:prstGeom>
          <a:solidFill>
            <a:srgbClr val="F2EEEE"/>
          </a:solidFill>
          <a:ln/>
        </p:spPr>
      </p:sp>
      <p:sp>
        <p:nvSpPr>
          <p:cNvPr id="14" name="Text 12"/>
          <p:cNvSpPr/>
          <p:nvPr/>
        </p:nvSpPr>
        <p:spPr>
          <a:xfrm>
            <a:off x="4504716" y="4797524"/>
            <a:ext cx="3182163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CO2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504716" y="5155208"/>
            <a:ext cx="3182163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Decision Making &amp; Methods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017468" y="4632226"/>
            <a:ext cx="3512653" cy="952897"/>
          </a:xfrm>
          <a:prstGeom prst="roundRect">
            <a:avLst>
              <a:gd name="adj" fmla="val 2603"/>
            </a:avLst>
          </a:prstGeom>
          <a:solidFill>
            <a:srgbClr val="F2EEEE"/>
          </a:solidFill>
          <a:ln/>
        </p:spPr>
      </p:sp>
      <p:sp>
        <p:nvSpPr>
          <p:cNvPr id="17" name="Text 15"/>
          <p:cNvSpPr/>
          <p:nvPr/>
        </p:nvSpPr>
        <p:spPr>
          <a:xfrm>
            <a:off x="8182762" y="4797524"/>
            <a:ext cx="3182064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CO3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182762" y="5155208"/>
            <a:ext cx="3182064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Decomposition, Recursion &amp; Arrays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729754"/>
            <a:ext cx="1436850" cy="251420"/>
          </a:xfrm>
          <a:prstGeom prst="roundRect">
            <a:avLst>
              <a:gd name="adj" fmla="val 7894"/>
            </a:avLst>
          </a:prstGeom>
          <a:solidFill>
            <a:srgbClr val="CCD7FF"/>
          </a:solidFill>
          <a:ln/>
        </p:spPr>
      </p:sp>
      <p:sp>
        <p:nvSpPr>
          <p:cNvPr id="3" name="Text 1"/>
          <p:cNvSpPr/>
          <p:nvPr/>
        </p:nvSpPr>
        <p:spPr>
          <a:xfrm>
            <a:off x="760691" y="779363"/>
            <a:ext cx="1848002" cy="1522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0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PROJECT OVERVIEW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61475" y="1047254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5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What the System Does</a:t>
            </a:r>
            <a:endParaRPr lang="en-US" sz="3250" dirty="0"/>
          </a:p>
        </p:txBody>
      </p:sp>
      <p:sp>
        <p:nvSpPr>
          <p:cNvPr id="5" name="Text 3"/>
          <p:cNvSpPr/>
          <p:nvPr/>
        </p:nvSpPr>
        <p:spPr>
          <a:xfrm>
            <a:off x="661475" y="1977330"/>
            <a:ext cx="5232666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Core Functionality</a:t>
            </a:r>
            <a:endParaRPr lang="en-US" sz="16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23485" y="2426891"/>
            <a:ext cx="248041" cy="24804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98830" y="2421830"/>
            <a:ext cx="4695311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Customer Data Storage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198830" y="2845594"/>
            <a:ext cx="4695311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Captures name, room type, number of rooms booked, and duration of stay in structured Java objects.</a:t>
            </a:r>
            <a:endParaRPr lang="en-US" sz="130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23485" y="3710583"/>
            <a:ext cx="248041" cy="248047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198830" y="3705523"/>
            <a:ext cx="4695311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Automated Billing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1198830" y="4129286"/>
            <a:ext cx="4695311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Instantly computes booking amount and total charges using the billing formula — zero manual effort.</a:t>
            </a:r>
            <a:endParaRPr lang="en-US" sz="130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23485" y="4994275"/>
            <a:ext cx="248041" cy="248047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198830" y="4989215"/>
            <a:ext cx="4695311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Multi-Booking Management</a:t>
            </a:r>
            <a:endParaRPr lang="en-US" sz="1600" dirty="0"/>
          </a:p>
        </p:txBody>
      </p:sp>
      <p:sp>
        <p:nvSpPr>
          <p:cNvPr id="14" name="Text 9"/>
          <p:cNvSpPr/>
          <p:nvPr/>
        </p:nvSpPr>
        <p:spPr>
          <a:xfrm>
            <a:off x="1198830" y="5412978"/>
            <a:ext cx="4695311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Handles multiple customer bookings simultaneously using 1D and 2D arrays as the data backbone.</a:t>
            </a:r>
            <a:endParaRPr lang="en-US" sz="1300" dirty="0"/>
          </a:p>
        </p:txBody>
      </p:sp>
      <p:sp>
        <p:nvSpPr>
          <p:cNvPr id="15" name="Text 10"/>
          <p:cNvSpPr/>
          <p:nvPr/>
        </p:nvSpPr>
        <p:spPr>
          <a:xfrm>
            <a:off x="6303904" y="1977330"/>
            <a:ext cx="5232666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Analytical Capabilities</a:t>
            </a:r>
            <a:endParaRPr lang="en-US" sz="1600" dirty="0"/>
          </a:p>
        </p:txBody>
      </p:sp>
      <p:sp>
        <p:nvSpPr>
          <p:cNvPr id="16" name="Shape 11"/>
          <p:cNvSpPr/>
          <p:nvPr/>
        </p:nvSpPr>
        <p:spPr>
          <a:xfrm>
            <a:off x="6303904" y="2421830"/>
            <a:ext cx="2533686" cy="1850926"/>
          </a:xfrm>
          <a:prstGeom prst="roundRect">
            <a:avLst>
              <a:gd name="adj" fmla="val 1340"/>
            </a:avLst>
          </a:prstGeom>
          <a:solidFill>
            <a:srgbClr val="FFFFFF"/>
          </a:solidFill>
          <a:ln w="19050">
            <a:solidFill>
              <a:srgbClr val="D8D4D4"/>
            </a:solidFill>
            <a:prstDash val="solid"/>
          </a:ln>
        </p:spPr>
      </p:sp>
      <p:sp>
        <p:nvSpPr>
          <p:cNvPr id="17" name="Text 12"/>
          <p:cNvSpPr/>
          <p:nvPr/>
        </p:nvSpPr>
        <p:spPr>
          <a:xfrm>
            <a:off x="6488248" y="2606179"/>
            <a:ext cx="2164998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Noto Color Emoji" pitchFamily="34" charset="0"/>
                <a:ea typeface="Noto Color Emoji" pitchFamily="34" charset="-122"/>
                <a:cs typeface="Noto Color Emoji" pitchFamily="34" charset="-120"/>
              </a:rPr>
              <a:t>🔍</a:t>
            </a:r>
            <a:r>
              <a:rPr lang="en-US" sz="16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 Search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6488248" y="3029942"/>
            <a:ext cx="2164998" cy="10584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Find any booking by customer name using linear search across the bookings array.</a:t>
            </a:r>
            <a:endParaRPr lang="en-US" sz="1300" dirty="0"/>
          </a:p>
        </p:txBody>
      </p:sp>
      <p:sp>
        <p:nvSpPr>
          <p:cNvPr id="19" name="Shape 14"/>
          <p:cNvSpPr/>
          <p:nvPr/>
        </p:nvSpPr>
        <p:spPr>
          <a:xfrm>
            <a:off x="9002884" y="2421830"/>
            <a:ext cx="2533686" cy="1850926"/>
          </a:xfrm>
          <a:prstGeom prst="roundRect">
            <a:avLst>
              <a:gd name="adj" fmla="val 1340"/>
            </a:avLst>
          </a:prstGeom>
          <a:solidFill>
            <a:srgbClr val="FFFFFF"/>
          </a:solidFill>
          <a:ln w="19050">
            <a:solidFill>
              <a:srgbClr val="D8D4D4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9187228" y="2606179"/>
            <a:ext cx="2164998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Noto Color Emoji" pitchFamily="34" charset="0"/>
                <a:ea typeface="Noto Color Emoji" pitchFamily="34" charset="-122"/>
                <a:cs typeface="Noto Color Emoji" pitchFamily="34" charset="-120"/>
              </a:rPr>
              <a:t>📊</a:t>
            </a:r>
            <a:r>
              <a:rPr lang="en-US" sz="16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 Revenue Analysis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9187228" y="3029942"/>
            <a:ext cx="2164998" cy="10584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Sum total revenue, compute average booking value, and count bookings per room type.</a:t>
            </a:r>
            <a:endParaRPr lang="en-US" sz="1300" dirty="0"/>
          </a:p>
        </p:txBody>
      </p:sp>
      <p:sp>
        <p:nvSpPr>
          <p:cNvPr id="22" name="Shape 17"/>
          <p:cNvSpPr/>
          <p:nvPr/>
        </p:nvSpPr>
        <p:spPr>
          <a:xfrm>
            <a:off x="6303904" y="4438055"/>
            <a:ext cx="5232666" cy="1321693"/>
          </a:xfrm>
          <a:prstGeom prst="roundRect">
            <a:avLst>
              <a:gd name="adj" fmla="val 1877"/>
            </a:avLst>
          </a:prstGeom>
          <a:solidFill>
            <a:srgbClr val="FFFFFF"/>
          </a:solidFill>
          <a:ln w="19050">
            <a:solidFill>
              <a:srgbClr val="D8D4D4"/>
            </a:solidFill>
            <a:prstDash val="solid"/>
          </a:ln>
        </p:spPr>
      </p:sp>
      <p:sp>
        <p:nvSpPr>
          <p:cNvPr id="23" name="Text 18"/>
          <p:cNvSpPr/>
          <p:nvPr/>
        </p:nvSpPr>
        <p:spPr>
          <a:xfrm>
            <a:off x="6488248" y="4622403"/>
            <a:ext cx="4863978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Noto Color Emoji" pitchFamily="34" charset="0"/>
                <a:ea typeface="Noto Color Emoji" pitchFamily="34" charset="-122"/>
                <a:cs typeface="Noto Color Emoji" pitchFamily="34" charset="-120"/>
              </a:rPr>
              <a:t>🏨</a:t>
            </a:r>
            <a:r>
              <a:rPr lang="en-US" sz="16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 Occupancy Tracking</a:t>
            </a:r>
            <a:endParaRPr lang="en-US" sz="1600" dirty="0"/>
          </a:p>
        </p:txBody>
      </p:sp>
      <p:sp>
        <p:nvSpPr>
          <p:cNvPr id="24" name="Text 19"/>
          <p:cNvSpPr/>
          <p:nvPr/>
        </p:nvSpPr>
        <p:spPr>
          <a:xfrm>
            <a:off x="6488248" y="5046166"/>
            <a:ext cx="4863978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Monitor room occupancy rates and availability using 2D matrix representation.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479326"/>
            <a:ext cx="1937594" cy="196255"/>
          </a:xfrm>
          <a:prstGeom prst="roundRect">
            <a:avLst>
              <a:gd name="adj" fmla="val 7901"/>
            </a:avLst>
          </a:prstGeom>
          <a:solidFill>
            <a:srgbClr val="CCD7FF"/>
          </a:solidFill>
          <a:ln/>
        </p:spPr>
      </p:sp>
      <p:sp>
        <p:nvSpPr>
          <p:cNvPr id="3" name="Text 1"/>
          <p:cNvSpPr/>
          <p:nvPr/>
        </p:nvSpPr>
        <p:spPr>
          <a:xfrm>
            <a:off x="738963" y="518021"/>
            <a:ext cx="2392203" cy="1188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8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PROBLEM STATEMENT &amp; OBJECTIVES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661475" y="715863"/>
            <a:ext cx="10868745" cy="4038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50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Why This System Is Needed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568509" y="1271091"/>
            <a:ext cx="5462748" cy="5107484"/>
          </a:xfrm>
          <a:prstGeom prst="roundRect">
            <a:avLst>
              <a:gd name="adj" fmla="val 379"/>
            </a:avLst>
          </a:prstGeom>
          <a:solidFill>
            <a:srgbClr val="0F766E"/>
          </a:solidFill>
          <a:ln/>
        </p:spPr>
      </p:sp>
      <p:sp>
        <p:nvSpPr>
          <p:cNvPr id="6" name="Text 4"/>
          <p:cNvSpPr/>
          <p:nvPr/>
        </p:nvSpPr>
        <p:spPr>
          <a:xfrm>
            <a:off x="697689" y="1371997"/>
            <a:ext cx="5204389" cy="2019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Manual Management Challenges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1089295" y="1731764"/>
            <a:ext cx="4812783" cy="2019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Repetitive Calculations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1089295" y="2034580"/>
            <a:ext cx="4812783" cy="3681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Room charges must be computed manually for every single booking — slow and error-prone.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089295" y="2648843"/>
            <a:ext cx="4812783" cy="2019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Data Disorganization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089295" y="2951659"/>
            <a:ext cx="4812783" cy="3681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Booking records stored in registers or spreadsheets with no structured retrieval mechanism.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089295" y="3565922"/>
            <a:ext cx="4812783" cy="2019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Occupancy Blind Spots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1089295" y="3868737"/>
            <a:ext cx="4812783" cy="1840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No real-time view of room availability or occupancy rates across room categories.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089295" y="4298950"/>
            <a:ext cx="4812783" cy="2019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Search Inefficiency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1089295" y="4601766"/>
            <a:ext cx="4812783" cy="3681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Manual scanning of records to find a customer booking wastes time and invites errors.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259753" y="1371997"/>
            <a:ext cx="5276817" cy="2019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Project Objectives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6259753" y="1687413"/>
            <a:ext cx="258359" cy="1614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dirty="0">
                <a:solidFill>
                  <a:srgbClr val="4C4C4D"/>
                </a:solidFill>
                <a:latin typeface="Crimson Pro Light" pitchFamily="34" charset="0"/>
                <a:ea typeface="Crimson Pro Light" pitchFamily="34" charset="-122"/>
                <a:cs typeface="Crimson Pro Light" pitchFamily="34" charset="-120"/>
              </a:rPr>
              <a:t>01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259753" y="1887835"/>
            <a:ext cx="5276817" cy="19050"/>
          </a:xfrm>
          <a:prstGeom prst="rect">
            <a:avLst/>
          </a:prstGeom>
          <a:solidFill>
            <a:srgbClr val="2150FE"/>
          </a:solidFill>
          <a:ln/>
        </p:spPr>
      </p:sp>
      <p:sp>
        <p:nvSpPr>
          <p:cNvPr id="18" name="Text 16"/>
          <p:cNvSpPr/>
          <p:nvPr/>
        </p:nvSpPr>
        <p:spPr>
          <a:xfrm>
            <a:off x="6259753" y="1990527"/>
            <a:ext cx="5276817" cy="2019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Efficient Booking Management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6259753" y="2293342"/>
            <a:ext cx="5276817" cy="1840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10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Store and manage customer booking info using structured Java classes and arrays.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259753" y="2675136"/>
            <a:ext cx="258359" cy="1614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dirty="0">
                <a:solidFill>
                  <a:srgbClr val="4C4C4D"/>
                </a:solidFill>
                <a:latin typeface="Crimson Pro Light" pitchFamily="34" charset="0"/>
                <a:ea typeface="Crimson Pro Light" pitchFamily="34" charset="-122"/>
                <a:cs typeface="Crimson Pro Light" pitchFamily="34" charset="-120"/>
              </a:rPr>
              <a:t>02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259753" y="2875558"/>
            <a:ext cx="5276817" cy="19050"/>
          </a:xfrm>
          <a:prstGeom prst="rect">
            <a:avLst/>
          </a:prstGeom>
          <a:solidFill>
            <a:srgbClr val="2150FE"/>
          </a:solidFill>
          <a:ln/>
        </p:spPr>
      </p:sp>
      <p:sp>
        <p:nvSpPr>
          <p:cNvPr id="22" name="Text 20"/>
          <p:cNvSpPr/>
          <p:nvPr/>
        </p:nvSpPr>
        <p:spPr>
          <a:xfrm>
            <a:off x="6259753" y="2978249"/>
            <a:ext cx="5276817" cy="2019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Multi-Room Type Pricing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6259753" y="3281065"/>
            <a:ext cx="5276817" cy="1840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10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Support Standard, Deluxe, and Suite categories with distinct per-night pricing.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259753" y="3662859"/>
            <a:ext cx="258359" cy="1614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dirty="0">
                <a:solidFill>
                  <a:srgbClr val="4C4C4D"/>
                </a:solidFill>
                <a:latin typeface="Crimson Pro Light" pitchFamily="34" charset="0"/>
                <a:ea typeface="Crimson Pro Light" pitchFamily="34" charset="-122"/>
                <a:cs typeface="Crimson Pro Light" pitchFamily="34" charset="-120"/>
              </a:rPr>
              <a:t>03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259753" y="3863280"/>
            <a:ext cx="5276817" cy="19050"/>
          </a:xfrm>
          <a:prstGeom prst="rect">
            <a:avLst/>
          </a:prstGeom>
          <a:solidFill>
            <a:srgbClr val="2150FE"/>
          </a:solidFill>
          <a:ln/>
        </p:spPr>
      </p:sp>
      <p:sp>
        <p:nvSpPr>
          <p:cNvPr id="26" name="Text 24"/>
          <p:cNvSpPr/>
          <p:nvPr/>
        </p:nvSpPr>
        <p:spPr>
          <a:xfrm>
            <a:off x="6259753" y="3965972"/>
            <a:ext cx="5276817" cy="2019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Automated Charge Calculation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6259753" y="4268788"/>
            <a:ext cx="5276817" cy="1840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10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Apply the billing formula automatically: </a:t>
            </a:r>
            <a:r>
              <a:rPr lang="en-US" sz="1000" b="1" dirty="0">
                <a:solidFill>
                  <a:srgbClr val="4C4C4D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Price × Rooms × Days</a:t>
            </a:r>
            <a:r>
              <a:rPr lang="en-US" sz="10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.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259753" y="4650581"/>
            <a:ext cx="258359" cy="1614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dirty="0">
                <a:solidFill>
                  <a:srgbClr val="4C4C4D"/>
                </a:solidFill>
                <a:latin typeface="Crimson Pro Light" pitchFamily="34" charset="0"/>
                <a:ea typeface="Crimson Pro Light" pitchFamily="34" charset="-122"/>
                <a:cs typeface="Crimson Pro Light" pitchFamily="34" charset="-120"/>
              </a:rPr>
              <a:t>04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259753" y="4851003"/>
            <a:ext cx="5276817" cy="19050"/>
          </a:xfrm>
          <a:prstGeom prst="rect">
            <a:avLst/>
          </a:prstGeom>
          <a:solidFill>
            <a:srgbClr val="2150FE"/>
          </a:solidFill>
          <a:ln/>
        </p:spPr>
      </p:sp>
      <p:sp>
        <p:nvSpPr>
          <p:cNvPr id="30" name="Text 28"/>
          <p:cNvSpPr/>
          <p:nvPr/>
        </p:nvSpPr>
        <p:spPr>
          <a:xfrm>
            <a:off x="6259753" y="4953695"/>
            <a:ext cx="5276817" cy="2019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Demonstrate Core Java CO1–CO3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6259753" y="5256510"/>
            <a:ext cx="5276817" cy="1840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10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Modular programming, recursion, 1D/2D arrays, searching, counting, and averaging.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259753" y="5650905"/>
            <a:ext cx="5276817" cy="614164"/>
          </a:xfrm>
          <a:prstGeom prst="roundRect">
            <a:avLst>
              <a:gd name="adj" fmla="val 3156"/>
            </a:avLst>
          </a:prstGeom>
          <a:solidFill>
            <a:srgbClr val="CCD7FF"/>
          </a:solidFill>
          <a:ln/>
        </p:spPr>
      </p:sp>
      <p:pic>
        <p:nvPicPr>
          <p:cNvPr id="3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8932" y="5797947"/>
            <a:ext cx="161425" cy="129183"/>
          </a:xfrm>
          <a:prstGeom prst="rect">
            <a:avLst/>
          </a:prstGeom>
        </p:spPr>
      </p:pic>
      <p:sp>
        <p:nvSpPr>
          <p:cNvPr id="34" name="Text 31"/>
          <p:cNvSpPr/>
          <p:nvPr/>
        </p:nvSpPr>
        <p:spPr>
          <a:xfrm>
            <a:off x="6679537" y="5773936"/>
            <a:ext cx="4727854" cy="3681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The solution replaces error-prone manual processes with a fully automated, Java-driven system that is accurate, fast, and extensible.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512763"/>
            <a:ext cx="1507790" cy="200223"/>
          </a:xfrm>
          <a:prstGeom prst="roundRect">
            <a:avLst>
              <a:gd name="adj" fmla="val 7899"/>
            </a:avLst>
          </a:prstGeom>
          <a:solidFill>
            <a:srgbClr val="CCD7FF"/>
          </a:solidFill>
          <a:ln/>
        </p:spPr>
      </p:sp>
      <p:sp>
        <p:nvSpPr>
          <p:cNvPr id="3" name="Text 1"/>
          <p:cNvSpPr/>
          <p:nvPr/>
        </p:nvSpPr>
        <p:spPr>
          <a:xfrm>
            <a:off x="740550" y="552252"/>
            <a:ext cx="1959224" cy="1212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8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FEATURES &amp; ROOM PRICING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661475" y="754955"/>
            <a:ext cx="10868745" cy="4118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55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Main Features &amp; Room Categories</a:t>
            </a:r>
            <a:endParaRPr lang="en-US" sz="2550" dirty="0"/>
          </a:p>
        </p:txBody>
      </p:sp>
      <p:sp>
        <p:nvSpPr>
          <p:cNvPr id="5" name="Text 3"/>
          <p:cNvSpPr/>
          <p:nvPr/>
        </p:nvSpPr>
        <p:spPr>
          <a:xfrm>
            <a:off x="661475" y="1429246"/>
            <a:ext cx="5273642" cy="2058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System Features</a:t>
            </a:r>
            <a:endParaRPr lang="en-US" sz="125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1753195"/>
            <a:ext cx="329398" cy="32940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61475" y="2213868"/>
            <a:ext cx="5273642" cy="2058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Customer Details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661475" y="2524720"/>
            <a:ext cx="5273642" cy="1894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Store name, contact, and booking date for each customer record.</a:t>
            </a:r>
            <a:endParaRPr lang="en-US" sz="100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1475" y="2924175"/>
            <a:ext cx="329398" cy="32940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61475" y="3384848"/>
            <a:ext cx="5273642" cy="2058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Booking Search</a:t>
            </a:r>
            <a:endParaRPr lang="en-US" sz="1250" dirty="0"/>
          </a:p>
        </p:txBody>
      </p:sp>
      <p:sp>
        <p:nvSpPr>
          <p:cNvPr id="11" name="Text 7"/>
          <p:cNvSpPr/>
          <p:nvPr/>
        </p:nvSpPr>
        <p:spPr>
          <a:xfrm>
            <a:off x="661475" y="3695700"/>
            <a:ext cx="5273642" cy="1894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Linear search by customer name across all stored booking records.</a:t>
            </a:r>
            <a:endParaRPr lang="en-US" sz="100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1475" y="4095155"/>
            <a:ext cx="329398" cy="329406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61475" y="4555827"/>
            <a:ext cx="5273642" cy="2058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Revenue Analysis</a:t>
            </a:r>
            <a:endParaRPr lang="en-US" sz="1250" dirty="0"/>
          </a:p>
        </p:txBody>
      </p:sp>
      <p:sp>
        <p:nvSpPr>
          <p:cNvPr id="14" name="Text 9"/>
          <p:cNvSpPr/>
          <p:nvPr/>
        </p:nvSpPr>
        <p:spPr>
          <a:xfrm>
            <a:off x="661475" y="4866680"/>
            <a:ext cx="5273642" cy="1894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Total revenue sum, average booking value, and per-type booking count.</a:t>
            </a:r>
            <a:endParaRPr lang="en-US" sz="1000" dirty="0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1475" y="5266134"/>
            <a:ext cx="329398" cy="329406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661475" y="5726807"/>
            <a:ext cx="5273642" cy="2058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Data Persistence</a:t>
            </a:r>
            <a:endParaRPr lang="en-US" sz="1250" dirty="0"/>
          </a:p>
        </p:txBody>
      </p:sp>
      <p:sp>
        <p:nvSpPr>
          <p:cNvPr id="17" name="Text 11"/>
          <p:cNvSpPr/>
          <p:nvPr/>
        </p:nvSpPr>
        <p:spPr>
          <a:xfrm>
            <a:off x="661475" y="6037659"/>
            <a:ext cx="5273642" cy="1894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Store and retrieve booking records across the session using arrays.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6262928" y="1429246"/>
            <a:ext cx="5273642" cy="2058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Room Types &amp; Pricing</a:t>
            </a:r>
            <a:endParaRPr lang="en-US" sz="125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62928" y="1753195"/>
          <a:ext cx="5273643" cy="1331482"/>
        </p:xfrm>
        <a:graphic>
          <a:graphicData uri="http://schemas.openxmlformats.org/drawingml/2006/table">
            <a:tbl>
              <a:tblPr/>
              <a:tblGrid>
                <a:gridCol w="210945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457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1841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3128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Room Type</a:t>
                      </a:r>
                      <a:endParaRPr lang="en-US" sz="10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31796" marR="131796" marT="6350" marB="6350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76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Rate / Night</a:t>
                      </a:r>
                      <a:endParaRPr lang="en-US" sz="10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31796" marR="131796" marT="6350" marB="6350" anchor="ctr">
                    <a:lnL w="12700" cap="flat" cmpd="sng" algn="ctr">
                      <a:solidFill>
                        <a:srgbClr val="0F76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76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Code</a:t>
                      </a:r>
                      <a:endParaRPr lang="en-US" sz="10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31796" marR="131796" marT="6350" marB="6350" anchor="ctr">
                    <a:lnL w="12700" cap="flat" cmpd="sng" algn="ctr">
                      <a:solidFill>
                        <a:srgbClr val="0F76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445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Standard Room</a:t>
                      </a:r>
                      <a:endParaRPr lang="en-US" sz="10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31796" marR="131796" marT="6350" marB="6350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₹ 2,000</a:t>
                      </a:r>
                      <a:endParaRPr lang="en-US" sz="10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31796" marR="131796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Case 1</a:t>
                      </a:r>
                      <a:endParaRPr lang="en-US" sz="10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31796" marR="131796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445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Deluxe Room</a:t>
                      </a:r>
                      <a:endParaRPr lang="en-US" sz="10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31796" marR="131796" marT="6350" marB="6350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₹ 3,000</a:t>
                      </a:r>
                      <a:endParaRPr lang="en-US" sz="10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31796" marR="131796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Case 2</a:t>
                      </a:r>
                      <a:endParaRPr lang="en-US" sz="10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31796" marR="131796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128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Suite</a:t>
                      </a:r>
                      <a:endParaRPr lang="en-US" sz="10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31796" marR="131796" marT="6350" marB="6350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₹ 5,000</a:t>
                      </a:r>
                      <a:endParaRPr lang="en-US" sz="10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31796" marR="131796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Case 3</a:t>
                      </a:r>
                      <a:endParaRPr lang="en-US" sz="10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31796" marR="131796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0" name="Text 13"/>
          <p:cNvSpPr/>
          <p:nvPr/>
        </p:nvSpPr>
        <p:spPr>
          <a:xfrm>
            <a:off x="6460567" y="3309937"/>
            <a:ext cx="5076003" cy="3788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4C4C4D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Billing Formula</a:t>
            </a:r>
            <a:endParaRPr lang="en-US" sz="100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Total Charge = Room Price × Number of Rooms × Number of Days</a:t>
            </a:r>
            <a:endParaRPr lang="en-US" sz="1000" dirty="0"/>
          </a:p>
        </p:txBody>
      </p:sp>
      <p:sp>
        <p:nvSpPr>
          <p:cNvPr id="21" name="Shape 14"/>
          <p:cNvSpPr/>
          <p:nvPr/>
        </p:nvSpPr>
        <p:spPr>
          <a:xfrm>
            <a:off x="6262928" y="3215481"/>
            <a:ext cx="19050" cy="567730"/>
          </a:xfrm>
          <a:prstGeom prst="roundRect">
            <a:avLst>
              <a:gd name="adj" fmla="val 49999"/>
            </a:avLst>
          </a:prstGeom>
          <a:solidFill>
            <a:srgbClr val="2150FE"/>
          </a:solidFill>
          <a:ln/>
        </p:spPr>
      </p:sp>
      <p:sp>
        <p:nvSpPr>
          <p:cNvPr id="22" name="Text 15"/>
          <p:cNvSpPr/>
          <p:nvPr/>
        </p:nvSpPr>
        <p:spPr>
          <a:xfrm>
            <a:off x="6262928" y="3901281"/>
            <a:ext cx="5273642" cy="2058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Example</a:t>
            </a:r>
            <a:endParaRPr lang="en-US" sz="1250" dirty="0"/>
          </a:p>
        </p:txBody>
      </p:sp>
      <p:sp>
        <p:nvSpPr>
          <p:cNvPr id="23" name="Text 16"/>
          <p:cNvSpPr/>
          <p:nvPr/>
        </p:nvSpPr>
        <p:spPr>
          <a:xfrm>
            <a:off x="6262928" y="4212134"/>
            <a:ext cx="5273642" cy="4732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spcAft>
                <a:spcPts val="700"/>
              </a:spcAft>
              <a:buNone/>
            </a:pPr>
            <a:r>
              <a:rPr lang="en-US" sz="10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2 Deluxe Rooms × 3 Nights = </a:t>
            </a:r>
            <a:r>
              <a:rPr lang="en-US" sz="1000" b="1" dirty="0">
                <a:solidFill>
                  <a:srgbClr val="0F766E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₹ 18,000</a:t>
            </a:r>
            <a:endParaRPr lang="en-US" sz="100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1 Suite × 5 Nights = </a:t>
            </a:r>
            <a:r>
              <a:rPr lang="en-US" sz="1000" b="1" dirty="0">
                <a:solidFill>
                  <a:srgbClr val="0F766E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₹ 25,000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563166"/>
            <a:ext cx="1207264" cy="208062"/>
          </a:xfrm>
          <a:prstGeom prst="roundRect">
            <a:avLst>
              <a:gd name="adj" fmla="val 7899"/>
            </a:avLst>
          </a:prstGeom>
          <a:solidFill>
            <a:srgbClr val="CCD7FF"/>
          </a:solidFill>
          <a:ln/>
        </p:spPr>
      </p:sp>
      <p:sp>
        <p:nvSpPr>
          <p:cNvPr id="3" name="Text 1"/>
          <p:cNvSpPr/>
          <p:nvPr/>
        </p:nvSpPr>
        <p:spPr>
          <a:xfrm>
            <a:off x="743626" y="604242"/>
            <a:ext cx="1652546" cy="1259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8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SYSTEM WORKFLOW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661475" y="816570"/>
            <a:ext cx="10868745" cy="4279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65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End-to-End Booking Workflow</a:t>
            </a:r>
            <a:endParaRPr lang="en-US" sz="26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5500" y="1414562"/>
            <a:ext cx="10520595" cy="394791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336045" y="4251239"/>
            <a:ext cx="1586822" cy="611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9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Calculate Charge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7336215" y="4404083"/>
            <a:ext cx="1586822" cy="3056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9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Enter Days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5347253" y="4404083"/>
            <a:ext cx="1586822" cy="3056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9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Enter Rooms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3358291" y="4404083"/>
            <a:ext cx="1586822" cy="3056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9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Select Room</a:t>
            </a:r>
            <a:endParaRPr lang="en-US" sz="1900" dirty="0"/>
          </a:p>
        </p:txBody>
      </p:sp>
      <p:sp>
        <p:nvSpPr>
          <p:cNvPr id="10" name="Text 7"/>
          <p:cNvSpPr/>
          <p:nvPr/>
        </p:nvSpPr>
        <p:spPr>
          <a:xfrm>
            <a:off x="1325854" y="4251239"/>
            <a:ext cx="1586822" cy="611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9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Input Customer</a:t>
            </a:r>
            <a:endParaRPr lang="en-US" sz="1900" dirty="0"/>
          </a:p>
        </p:txBody>
      </p:sp>
      <p:sp>
        <p:nvSpPr>
          <p:cNvPr id="11" name="Text 8"/>
          <p:cNvSpPr/>
          <p:nvPr/>
        </p:nvSpPr>
        <p:spPr>
          <a:xfrm>
            <a:off x="661475" y="5592068"/>
            <a:ext cx="3399745" cy="6006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1050" b="1" dirty="0">
                <a:solidFill>
                  <a:srgbClr val="4C4C4D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Input Phase (Steps 1–4):</a:t>
            </a:r>
            <a:r>
              <a:rPr lang="en-US" sz="10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Scanner reads customer details and preferences. Switch-case maps room type to price. Inputs validated with if-else before proceeding.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4401730" y="5592068"/>
            <a:ext cx="3399745" cy="6006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1050" b="1" dirty="0">
                <a:solidFill>
                  <a:srgbClr val="4C4C4D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Processing Phase (Steps 5–6):</a:t>
            </a:r>
            <a:r>
              <a:rPr lang="en-US" sz="10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Billing formula applied instantly. Booking object stored in the 1D bookings array at the next available index.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8141985" y="5592068"/>
            <a:ext cx="3399745" cy="6006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1050" b="1" dirty="0">
                <a:solidFill>
                  <a:srgbClr val="4C4C4D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Analytics Phase (Steps 7–8):</a:t>
            </a:r>
            <a:r>
              <a:rPr lang="en-US" sz="10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Array traversal powers search, count, sum, and average operations. Results displayed to the user via formatted console output.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482997"/>
            <a:ext cx="1900686" cy="204192"/>
          </a:xfrm>
          <a:prstGeom prst="roundRect">
            <a:avLst>
              <a:gd name="adj" fmla="val 7897"/>
            </a:avLst>
          </a:prstGeom>
          <a:solidFill>
            <a:srgbClr val="CCD7FF"/>
          </a:solidFill>
          <a:ln/>
        </p:spPr>
      </p:sp>
      <p:sp>
        <p:nvSpPr>
          <p:cNvPr id="3" name="Text 1"/>
          <p:cNvSpPr/>
          <p:nvPr/>
        </p:nvSpPr>
        <p:spPr>
          <a:xfrm>
            <a:off x="742038" y="523280"/>
            <a:ext cx="2349144" cy="1236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8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CO1 — BASIC JAVA PROGRAMMING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661475" y="730845"/>
            <a:ext cx="10868745" cy="4198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60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CO1: Core Java Concepts Applied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61475" y="1423591"/>
            <a:ext cx="5270467" cy="2099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Language Constructs Used</a:t>
            </a:r>
            <a:endParaRPr lang="en-US" sz="13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1756370"/>
            <a:ext cx="2580615" cy="14303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91061" y="1909763"/>
            <a:ext cx="2197640" cy="2099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Variables &amp; Data Types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891061" y="2228850"/>
            <a:ext cx="2197640" cy="8044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050" dirty="0">
                <a:solidFill>
                  <a:srgbClr val="4C4C4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0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for rooms/days, </a:t>
            </a:r>
            <a:r>
              <a:rPr lang="en-US" sz="1050" dirty="0">
                <a:solidFill>
                  <a:srgbClr val="4C4C4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double</a:t>
            </a:r>
            <a:r>
              <a:rPr lang="en-US" sz="10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for charges, </a:t>
            </a:r>
            <a:r>
              <a:rPr lang="en-US" sz="1050" dirty="0">
                <a:solidFill>
                  <a:srgbClr val="4C4C4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r>
              <a:rPr lang="en-US" sz="10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for name and contact — chosen to match data semantics precisely.</a:t>
            </a:r>
            <a:endParaRPr lang="en-US" sz="105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351228" y="1756370"/>
            <a:ext cx="2580714" cy="143033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580814" y="1909763"/>
            <a:ext cx="2197740" cy="2099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Scanner Input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3580814" y="2228850"/>
            <a:ext cx="2197740" cy="8044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050" dirty="0">
                <a:solidFill>
                  <a:srgbClr val="4C4C4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Scanner sc = new Scanner(System.in)</a:t>
            </a:r>
            <a:r>
              <a:rPr lang="en-US" sz="10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reads customer name, room type selection, and stay duration interactively.</a:t>
            </a:r>
            <a:endParaRPr lang="en-US" sz="105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1475" y="3295848"/>
            <a:ext cx="2580615" cy="1222871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891061" y="3449241"/>
            <a:ext cx="2197640" cy="2099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Arithmetic Operators</a:t>
            </a:r>
            <a:endParaRPr lang="en-US" sz="1300" dirty="0"/>
          </a:p>
        </p:txBody>
      </p:sp>
      <p:sp>
        <p:nvSpPr>
          <p:cNvPr id="14" name="Text 9"/>
          <p:cNvSpPr/>
          <p:nvPr/>
        </p:nvSpPr>
        <p:spPr>
          <a:xfrm>
            <a:off x="891061" y="3768328"/>
            <a:ext cx="2197640" cy="5969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0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Multiplication and addition operators compute total charge: </a:t>
            </a:r>
            <a:r>
              <a:rPr lang="en-US" sz="1050" dirty="0">
                <a:solidFill>
                  <a:srgbClr val="4C4C4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charge = price * rooms * days</a:t>
            </a:r>
            <a:r>
              <a:rPr lang="en-US" sz="10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.</a:t>
            </a:r>
            <a:endParaRPr lang="en-US" sz="1050" dirty="0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351228" y="3295848"/>
            <a:ext cx="2580714" cy="1222871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3580814" y="3449241"/>
            <a:ext cx="2197740" cy="2099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Conditional Statements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3580814" y="3768328"/>
            <a:ext cx="2197740" cy="5969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050" dirty="0">
                <a:solidFill>
                  <a:srgbClr val="4C4C4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if-else</a:t>
            </a:r>
            <a:r>
              <a:rPr lang="en-US" sz="10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validates input ranges; </a:t>
            </a:r>
            <a:r>
              <a:rPr lang="en-US" sz="1050" dirty="0">
                <a:solidFill>
                  <a:srgbClr val="4C4C4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switch</a:t>
            </a:r>
            <a:r>
              <a:rPr lang="en-US" sz="10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maps room type integer to corresponding price constant.</a:t>
            </a:r>
            <a:endParaRPr lang="en-US" sz="1050" dirty="0"/>
          </a:p>
        </p:txBody>
      </p:sp>
      <p:pic>
        <p:nvPicPr>
          <p:cNvPr id="18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1475" y="4627860"/>
            <a:ext cx="2580615" cy="1417638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891061" y="4781252"/>
            <a:ext cx="2197640" cy="2099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Classes &amp; Objects</a:t>
            </a:r>
            <a:endParaRPr lang="en-US" sz="1300" dirty="0"/>
          </a:p>
        </p:txBody>
      </p:sp>
      <p:sp>
        <p:nvSpPr>
          <p:cNvPr id="20" name="Text 13"/>
          <p:cNvSpPr/>
          <p:nvPr/>
        </p:nvSpPr>
        <p:spPr>
          <a:xfrm>
            <a:off x="891061" y="5100340"/>
            <a:ext cx="2197640" cy="7917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0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The </a:t>
            </a:r>
            <a:r>
              <a:rPr lang="en-US" sz="1050" dirty="0">
                <a:solidFill>
                  <a:srgbClr val="4C4C4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Booking</a:t>
            </a:r>
            <a:r>
              <a:rPr lang="en-US" sz="10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class encapsulates all customer and room data. Each booking is an instance of this class stored in the array.</a:t>
            </a:r>
            <a:endParaRPr lang="en-US" sz="1050" dirty="0"/>
          </a:p>
        </p:txBody>
      </p:sp>
      <p:sp>
        <p:nvSpPr>
          <p:cNvPr id="21" name="Text 14"/>
          <p:cNvSpPr/>
          <p:nvPr/>
        </p:nvSpPr>
        <p:spPr>
          <a:xfrm>
            <a:off x="6266103" y="1423591"/>
            <a:ext cx="5270467" cy="2099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Code Snapshot — Booking Class</a:t>
            </a:r>
            <a:endParaRPr lang="en-US" sz="1300" dirty="0"/>
          </a:p>
        </p:txBody>
      </p:sp>
      <p:sp>
        <p:nvSpPr>
          <p:cNvPr id="22" name="Shape 15"/>
          <p:cNvSpPr/>
          <p:nvPr/>
        </p:nvSpPr>
        <p:spPr>
          <a:xfrm>
            <a:off x="6266103" y="1756370"/>
            <a:ext cx="5270467" cy="3707209"/>
          </a:xfrm>
          <a:prstGeom prst="roundRect">
            <a:avLst>
              <a:gd name="adj" fmla="val 544"/>
            </a:avLst>
          </a:prstGeom>
          <a:solidFill>
            <a:srgbClr val="F2F2F2"/>
          </a:solidFill>
          <a:ln/>
        </p:spPr>
      </p:sp>
      <p:sp>
        <p:nvSpPr>
          <p:cNvPr id="23" name="Text 16"/>
          <p:cNvSpPr/>
          <p:nvPr/>
        </p:nvSpPr>
        <p:spPr>
          <a:xfrm>
            <a:off x="6427329" y="1890712"/>
            <a:ext cx="4948014" cy="3438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05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Booking {</a:t>
            </a:r>
            <a:endParaRPr lang="en-US" sz="10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05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String name;</a:t>
            </a:r>
            <a:endParaRPr lang="en-US" sz="10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05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int roomType;</a:t>
            </a:r>
            <a:endParaRPr lang="en-US" sz="10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05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int numRooms;</a:t>
            </a:r>
            <a:endParaRPr lang="en-US" sz="10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05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int numDays;</a:t>
            </a:r>
            <a:endParaRPr lang="en-US" sz="10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05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double totalCharge;</a:t>
            </a:r>
            <a:endParaRPr lang="en-US" sz="1050" dirty="0"/>
          </a:p>
          <a:p>
            <a:pPr marL="0" indent="0" algn="l">
              <a:lnSpc>
                <a:spcPct val="133000"/>
              </a:lnSpc>
              <a:buNone/>
            </a:pPr>
            <a:endParaRPr lang="en-US" sz="10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05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Booking(String n, int rt,</a:t>
            </a:r>
            <a:endParaRPr lang="en-US" sz="10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05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int nr, int nd) {</a:t>
            </a:r>
            <a:endParaRPr lang="en-US" sz="10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05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name = n;</a:t>
            </a:r>
            <a:endParaRPr lang="en-US" sz="10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05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roomType = rt;</a:t>
            </a:r>
            <a:endParaRPr lang="en-US" sz="10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05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numRooms = nr;</a:t>
            </a:r>
            <a:endParaRPr lang="en-US" sz="10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05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numDays = nd;</a:t>
            </a:r>
            <a:endParaRPr lang="en-US" sz="10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05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totalCharge = calcCharge(rt, nr, nd);</a:t>
            </a:r>
            <a:endParaRPr lang="en-US" sz="10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05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0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05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50" dirty="0"/>
          </a:p>
        </p:txBody>
      </p:sp>
      <p:sp>
        <p:nvSpPr>
          <p:cNvPr id="24" name="Shape 17"/>
          <p:cNvSpPr/>
          <p:nvPr/>
        </p:nvSpPr>
        <p:spPr>
          <a:xfrm>
            <a:off x="6266103" y="5586413"/>
            <a:ext cx="5270467" cy="665758"/>
          </a:xfrm>
          <a:prstGeom prst="roundRect">
            <a:avLst>
              <a:gd name="adj" fmla="val 3028"/>
            </a:avLst>
          </a:prstGeom>
          <a:solidFill>
            <a:srgbClr val="CCD7FF"/>
          </a:solidFill>
          <a:ln/>
        </p:spPr>
      </p:sp>
      <p:pic>
        <p:nvPicPr>
          <p:cNvPr id="25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0441" y="5744865"/>
            <a:ext cx="167973" cy="134342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6702753" y="5718175"/>
            <a:ext cx="4699478" cy="402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The constructor immediately calls </a:t>
            </a:r>
            <a:r>
              <a:rPr lang="en-US" sz="1050" dirty="0">
                <a:solidFill>
                  <a:srgbClr val="00000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calcCharge()</a:t>
            </a:r>
            <a:r>
              <a:rPr lang="en-US" sz="10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— connecting CO1 object initialization with CO3 method decomposition.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502940"/>
            <a:ext cx="1921025" cy="192286"/>
          </a:xfrm>
          <a:prstGeom prst="roundRect">
            <a:avLst>
              <a:gd name="adj" fmla="val 7902"/>
            </a:avLst>
          </a:prstGeom>
          <a:solidFill>
            <a:srgbClr val="CCD7FF"/>
          </a:solidFill>
          <a:ln/>
        </p:spPr>
      </p:sp>
      <p:sp>
        <p:nvSpPr>
          <p:cNvPr id="3" name="Text 1"/>
          <p:cNvSpPr/>
          <p:nvPr/>
        </p:nvSpPr>
        <p:spPr>
          <a:xfrm>
            <a:off x="737375" y="540841"/>
            <a:ext cx="2378809" cy="1164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CO2 — DECISION MAKING &amp; METHODS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661475" y="733921"/>
            <a:ext cx="10868745" cy="3956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5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CO2: Decision Structures &amp; OOP</a:t>
            </a:r>
            <a:endParaRPr lang="en-US" sz="2450" dirty="0"/>
          </a:p>
        </p:txBody>
      </p:sp>
      <p:sp>
        <p:nvSpPr>
          <p:cNvPr id="5" name="Text 3"/>
          <p:cNvSpPr/>
          <p:nvPr/>
        </p:nvSpPr>
        <p:spPr>
          <a:xfrm>
            <a:off x="661475" y="1371898"/>
            <a:ext cx="5279893" cy="1977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Key Programming Constructs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61475" y="1678682"/>
            <a:ext cx="2591430" cy="1096963"/>
          </a:xfrm>
          <a:prstGeom prst="roundRect">
            <a:avLst>
              <a:gd name="adj" fmla="val 1732"/>
            </a:avLst>
          </a:prstGeom>
          <a:solidFill>
            <a:srgbClr val="F2EEEE"/>
          </a:solidFill>
          <a:ln/>
        </p:spPr>
      </p:sp>
      <p:sp>
        <p:nvSpPr>
          <p:cNvPr id="7" name="Text 5"/>
          <p:cNvSpPr/>
          <p:nvPr/>
        </p:nvSpPr>
        <p:spPr>
          <a:xfrm>
            <a:off x="788075" y="1805285"/>
            <a:ext cx="2338230" cy="1977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Switch Statement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88075" y="2099965"/>
            <a:ext cx="2338230" cy="5427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9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Room type selection and main menu navigation both use </a:t>
            </a:r>
            <a:r>
              <a:rPr lang="en-US" sz="950" dirty="0">
                <a:solidFill>
                  <a:srgbClr val="4C4C4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switch</a:t>
            </a:r>
            <a:r>
              <a:rPr lang="en-US" sz="9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for clean, multi-branch decision logic.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349839" y="1678682"/>
            <a:ext cx="2591529" cy="1096963"/>
          </a:xfrm>
          <a:prstGeom prst="roundRect">
            <a:avLst>
              <a:gd name="adj" fmla="val 1732"/>
            </a:avLst>
          </a:prstGeom>
          <a:solidFill>
            <a:srgbClr val="F2EEEE"/>
          </a:solidFill>
          <a:ln/>
        </p:spPr>
      </p:sp>
      <p:sp>
        <p:nvSpPr>
          <p:cNvPr id="10" name="Text 8"/>
          <p:cNvSpPr/>
          <p:nvPr/>
        </p:nvSpPr>
        <p:spPr>
          <a:xfrm>
            <a:off x="3476439" y="1805285"/>
            <a:ext cx="2338329" cy="1977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If-Else Conditions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476439" y="2099965"/>
            <a:ext cx="2338329" cy="5490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9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Input validation (e.g., rooms &gt; 0, days &gt; 0) and conditional output messages use </a:t>
            </a:r>
            <a:r>
              <a:rPr lang="en-US" sz="950" dirty="0">
                <a:solidFill>
                  <a:srgbClr val="4C4C4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if-else</a:t>
            </a:r>
            <a:r>
              <a:rPr lang="en-US" sz="9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chains.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61475" y="2872581"/>
            <a:ext cx="2591430" cy="1090613"/>
          </a:xfrm>
          <a:prstGeom prst="roundRect">
            <a:avLst>
              <a:gd name="adj" fmla="val 1742"/>
            </a:avLst>
          </a:prstGeom>
          <a:solidFill>
            <a:srgbClr val="F2EEEE"/>
          </a:solidFill>
          <a:ln/>
        </p:spPr>
      </p:sp>
      <p:sp>
        <p:nvSpPr>
          <p:cNvPr id="13" name="Text 11"/>
          <p:cNvSpPr/>
          <p:nvPr/>
        </p:nvSpPr>
        <p:spPr>
          <a:xfrm>
            <a:off x="788075" y="2999184"/>
            <a:ext cx="2338230" cy="1977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Constructors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88075" y="3293864"/>
            <a:ext cx="2338230" cy="5427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9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Parameterized constructor initializes every </a:t>
            </a:r>
            <a:r>
              <a:rPr lang="en-US" sz="950" dirty="0">
                <a:solidFill>
                  <a:srgbClr val="4C4C4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Booking</a:t>
            </a:r>
            <a:r>
              <a:rPr lang="en-US" sz="9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object with validated customer and room data.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349839" y="2872581"/>
            <a:ext cx="2591529" cy="1090613"/>
          </a:xfrm>
          <a:prstGeom prst="roundRect">
            <a:avLst>
              <a:gd name="adj" fmla="val 1742"/>
            </a:avLst>
          </a:prstGeom>
          <a:solidFill>
            <a:srgbClr val="F2EEEE"/>
          </a:solidFill>
          <a:ln/>
        </p:spPr>
      </p:sp>
      <p:sp>
        <p:nvSpPr>
          <p:cNvPr id="16" name="Text 14"/>
          <p:cNvSpPr/>
          <p:nvPr/>
        </p:nvSpPr>
        <p:spPr>
          <a:xfrm>
            <a:off x="3476439" y="2999184"/>
            <a:ext cx="2338329" cy="1977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Encapsulation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476439" y="3293864"/>
            <a:ext cx="2338329" cy="5427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9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All booking attributes are grouped inside the </a:t>
            </a:r>
            <a:r>
              <a:rPr lang="en-US" sz="950" dirty="0">
                <a:solidFill>
                  <a:srgbClr val="4C4C4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Booking</a:t>
            </a:r>
            <a:r>
              <a:rPr lang="en-US" sz="9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class — one object per customer record.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61475" y="4060130"/>
            <a:ext cx="5279893" cy="905470"/>
          </a:xfrm>
          <a:prstGeom prst="roundRect">
            <a:avLst>
              <a:gd name="adj" fmla="val 2098"/>
            </a:avLst>
          </a:prstGeom>
          <a:solidFill>
            <a:srgbClr val="F2EEEE"/>
          </a:solidFill>
          <a:ln/>
        </p:spPr>
      </p:sp>
      <p:sp>
        <p:nvSpPr>
          <p:cNvPr id="19" name="Text 17"/>
          <p:cNvSpPr/>
          <p:nvPr/>
        </p:nvSpPr>
        <p:spPr>
          <a:xfrm>
            <a:off x="788075" y="4186734"/>
            <a:ext cx="5026693" cy="1977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Modular Methods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88075" y="4481413"/>
            <a:ext cx="5026693" cy="3575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9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Separate methods for billing, search, revenue, and display keep the codebase organized and testable.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6256677" y="1371898"/>
            <a:ext cx="5279893" cy="1977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Code Snapshot — Room Type Switch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256677" y="1678682"/>
            <a:ext cx="5279893" cy="2480766"/>
          </a:xfrm>
          <a:prstGeom prst="roundRect">
            <a:avLst>
              <a:gd name="adj" fmla="val 766"/>
            </a:avLst>
          </a:prstGeom>
          <a:solidFill>
            <a:srgbClr val="F2F2F2"/>
          </a:solidFill>
          <a:ln/>
        </p:spPr>
      </p:sp>
      <p:sp>
        <p:nvSpPr>
          <p:cNvPr id="23" name="Text 21"/>
          <p:cNvSpPr/>
          <p:nvPr/>
        </p:nvSpPr>
        <p:spPr>
          <a:xfrm>
            <a:off x="6408577" y="1805285"/>
            <a:ext cx="4976093" cy="2227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static double getPrice(int roomType) {</a:t>
            </a:r>
            <a:endParaRPr lang="en-US" sz="9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double price = 0;</a:t>
            </a:r>
            <a:endParaRPr lang="en-US" sz="9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switch(roomType) {</a:t>
            </a:r>
            <a:endParaRPr lang="en-US" sz="9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case 1: price = 2000; break; // Standard</a:t>
            </a:r>
            <a:endParaRPr lang="en-US" sz="9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case 2: price = 3000; break; // Deluxe</a:t>
            </a:r>
            <a:endParaRPr lang="en-US" sz="9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case 3: price = 5000; break; // Suite</a:t>
            </a:r>
            <a:endParaRPr lang="en-US" sz="9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default:</a:t>
            </a:r>
            <a:endParaRPr lang="en-US" sz="9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System.out.println("Invalid type");</a:t>
            </a:r>
            <a:endParaRPr lang="en-US" sz="9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9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price;</a:t>
            </a:r>
            <a:endParaRPr lang="en-US" sz="9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6256677" y="4268490"/>
            <a:ext cx="5279893" cy="1977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Menu Navigation Switch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256677" y="4575274"/>
            <a:ext cx="5279893" cy="1670745"/>
          </a:xfrm>
          <a:prstGeom prst="roundRect">
            <a:avLst>
              <a:gd name="adj" fmla="val 1137"/>
            </a:avLst>
          </a:prstGeom>
          <a:solidFill>
            <a:srgbClr val="F2F2F2"/>
          </a:solidFill>
          <a:ln/>
        </p:spPr>
      </p:sp>
      <p:sp>
        <p:nvSpPr>
          <p:cNvPr id="26" name="Text 24"/>
          <p:cNvSpPr/>
          <p:nvPr/>
        </p:nvSpPr>
        <p:spPr>
          <a:xfrm>
            <a:off x="6408577" y="4701877"/>
            <a:ext cx="4976093" cy="14175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switch(choice) {</a:t>
            </a:r>
            <a:endParaRPr lang="en-US" sz="9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case 1: addBooking(); break;</a:t>
            </a:r>
            <a:endParaRPr lang="en-US" sz="9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case 2: searchBooking(); break;</a:t>
            </a:r>
            <a:endParaRPr lang="en-US" sz="9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case 3: showRevenue(); break;</a:t>
            </a:r>
            <a:endParaRPr lang="en-US" sz="9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case 4: showOccupancy(); break;</a:t>
            </a:r>
            <a:endParaRPr lang="en-US" sz="9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case 0: exit = true; break;</a:t>
            </a:r>
            <a:endParaRPr lang="en-US" sz="9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454819"/>
            <a:ext cx="2432386" cy="231676"/>
          </a:xfrm>
          <a:prstGeom prst="roundRect">
            <a:avLst>
              <a:gd name="adj" fmla="val 7897"/>
            </a:avLst>
          </a:prstGeom>
          <a:solidFill>
            <a:srgbClr val="CCD7FF"/>
          </a:solidFill>
          <a:ln/>
        </p:spPr>
      </p:sp>
      <p:sp>
        <p:nvSpPr>
          <p:cNvPr id="3" name="Text 1"/>
          <p:cNvSpPr/>
          <p:nvPr/>
        </p:nvSpPr>
        <p:spPr>
          <a:xfrm>
            <a:off x="752952" y="500559"/>
            <a:ext cx="2859016" cy="1401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9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CO3 — METHODS, RECURSION &amp; ARRAYS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661475" y="742652"/>
            <a:ext cx="10868745" cy="4764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00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CO3: Modular Programming &amp; Recursion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61475" y="1570434"/>
            <a:ext cx="5248441" cy="2382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Decomposition with Methods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61475" y="1966714"/>
            <a:ext cx="304892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dirty="0">
                <a:solidFill>
                  <a:srgbClr val="4C4C4D"/>
                </a:solidFill>
                <a:latin typeface="Crimson Pro Light" pitchFamily="34" charset="0"/>
                <a:ea typeface="Crimson Pro Light" pitchFamily="34" charset="-122"/>
                <a:cs typeface="Crimson Pro Light" pitchFamily="34" charset="-120"/>
              </a:rPr>
              <a:t>01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61475" y="2206724"/>
            <a:ext cx="5248441" cy="19050"/>
          </a:xfrm>
          <a:prstGeom prst="rect">
            <a:avLst/>
          </a:prstGeom>
          <a:solidFill>
            <a:srgbClr val="2150FE"/>
          </a:solidFill>
          <a:ln/>
        </p:spPr>
      </p:sp>
      <p:sp>
        <p:nvSpPr>
          <p:cNvPr id="8" name="Text 6"/>
          <p:cNvSpPr/>
          <p:nvPr/>
        </p:nvSpPr>
        <p:spPr>
          <a:xfrm>
            <a:off x="661475" y="2321024"/>
            <a:ext cx="5248441" cy="2382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Parameter Passing &amp; Return Values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61475" y="2699742"/>
            <a:ext cx="5248441" cy="4943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200" dirty="0">
                <a:solidFill>
                  <a:srgbClr val="4C4C4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calcCharge(roomType, numRooms, numDays)</a:t>
            </a:r>
            <a:r>
              <a:rPr lang="en-US" sz="12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accepts three parameters and returns a </a:t>
            </a:r>
            <a:r>
              <a:rPr lang="en-US" sz="1200" dirty="0">
                <a:solidFill>
                  <a:srgbClr val="4C4C4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double</a:t>
            </a:r>
            <a:r>
              <a:rPr lang="en-US" sz="12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— demonstrating value return and argument passing.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61475" y="3448844"/>
            <a:ext cx="304892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dirty="0">
                <a:solidFill>
                  <a:srgbClr val="4C4C4D"/>
                </a:solidFill>
                <a:latin typeface="Crimson Pro Light" pitchFamily="34" charset="0"/>
                <a:ea typeface="Crimson Pro Light" pitchFamily="34" charset="-122"/>
                <a:cs typeface="Crimson Pro Light" pitchFamily="34" charset="-120"/>
              </a:rPr>
              <a:t>02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61475" y="3688854"/>
            <a:ext cx="5248441" cy="19050"/>
          </a:xfrm>
          <a:prstGeom prst="rect">
            <a:avLst/>
          </a:prstGeom>
          <a:solidFill>
            <a:srgbClr val="2150FE"/>
          </a:solidFill>
          <a:ln/>
        </p:spPr>
      </p:sp>
      <p:sp>
        <p:nvSpPr>
          <p:cNvPr id="12" name="Text 10"/>
          <p:cNvSpPr/>
          <p:nvPr/>
        </p:nvSpPr>
        <p:spPr>
          <a:xfrm>
            <a:off x="661475" y="3803154"/>
            <a:ext cx="5248441" cy="2382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Method Overloading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61475" y="4181872"/>
            <a:ext cx="5248441" cy="481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200" dirty="0">
                <a:solidFill>
                  <a:srgbClr val="4C4C4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displayBooking(Booking b)</a:t>
            </a:r>
            <a:r>
              <a:rPr lang="en-US" sz="12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and </a:t>
            </a:r>
            <a:r>
              <a:rPr lang="en-US" sz="1200" dirty="0">
                <a:solidFill>
                  <a:srgbClr val="4C4C4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displayBooking(Booking[] arr)</a:t>
            </a:r>
            <a:r>
              <a:rPr lang="en-US" sz="12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— same name, different signatures, showcasing overloading.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61475" y="4918273"/>
            <a:ext cx="304892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dirty="0">
                <a:solidFill>
                  <a:srgbClr val="4C4C4D"/>
                </a:solidFill>
                <a:latin typeface="Crimson Pro Light" pitchFamily="34" charset="0"/>
                <a:ea typeface="Crimson Pro Light" pitchFamily="34" charset="-122"/>
                <a:cs typeface="Crimson Pro Light" pitchFamily="34" charset="-120"/>
              </a:rPr>
              <a:t>03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61475" y="5158284"/>
            <a:ext cx="5248441" cy="19050"/>
          </a:xfrm>
          <a:prstGeom prst="rect">
            <a:avLst/>
          </a:prstGeom>
          <a:solidFill>
            <a:srgbClr val="2150FE"/>
          </a:solidFill>
          <a:ln/>
        </p:spPr>
      </p:sp>
      <p:sp>
        <p:nvSpPr>
          <p:cNvPr id="16" name="Text 14"/>
          <p:cNvSpPr/>
          <p:nvPr/>
        </p:nvSpPr>
        <p:spPr>
          <a:xfrm>
            <a:off x="661475" y="5272584"/>
            <a:ext cx="5248441" cy="2382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Enhanced For-Each Loop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61475" y="5651302"/>
            <a:ext cx="5248441" cy="481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200" dirty="0">
                <a:solidFill>
                  <a:srgbClr val="4C4C4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for(Booking b : bookings)</a:t>
            </a:r>
            <a:r>
              <a:rPr lang="en-US" sz="12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traverses the array cleanly for revenue summation and display operations.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288129" y="1570434"/>
            <a:ext cx="5248441" cy="2382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Recursion — Total Revenue Calculation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6288129" y="1966714"/>
            <a:ext cx="5248441" cy="2256631"/>
          </a:xfrm>
          <a:prstGeom prst="roundRect">
            <a:avLst>
              <a:gd name="adj" fmla="val 1013"/>
            </a:avLst>
          </a:prstGeom>
          <a:solidFill>
            <a:srgbClr val="F2F2F2"/>
          </a:solidFill>
          <a:ln/>
        </p:spPr>
      </p:sp>
      <p:sp>
        <p:nvSpPr>
          <p:cNvPr id="20" name="Text 18"/>
          <p:cNvSpPr/>
          <p:nvPr/>
        </p:nvSpPr>
        <p:spPr>
          <a:xfrm>
            <a:off x="6471083" y="2119114"/>
            <a:ext cx="4882532" cy="19518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static double totalRevenue(</a:t>
            </a:r>
            <a:endParaRPr lang="en-US" sz="12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Booking[] arr, int index) {</a:t>
            </a:r>
            <a:endParaRPr lang="en-US" sz="12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Base case</a:t>
            </a:r>
            <a:endParaRPr lang="en-US" sz="12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if(index == arr.length) return 0;</a:t>
            </a:r>
            <a:endParaRPr lang="en-US" sz="12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Recursive case</a:t>
            </a:r>
            <a:endParaRPr lang="en-US" sz="12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arr[index].totalCharge</a:t>
            </a:r>
            <a:endParaRPr lang="en-US" sz="12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+ totalRevenue(arr, index + 1);</a:t>
            </a:r>
            <a:endParaRPr lang="en-US" sz="12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88129" y="4381401"/>
          <a:ext cx="5248442" cy="1754441"/>
        </p:xfrm>
        <a:graphic>
          <a:graphicData uri="http://schemas.openxmlformats.org/drawingml/2006/table">
            <a:tbl>
              <a:tblPr/>
              <a:tblGrid>
                <a:gridCol w="18369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114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1899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Case</a:t>
                      </a:r>
                      <a:endParaRPr lang="en-US" sz="12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52470" marR="152470" marT="6350" marB="6350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Logic</a:t>
                      </a:r>
                      <a:endParaRPr lang="en-US" sz="12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52470" marR="152470" marT="6350" marB="6350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6931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Base Case</a:t>
                      </a:r>
                      <a:endParaRPr lang="en-US" sz="12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52470" marR="152470" marT="6350" marB="6350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4C4C4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index == arr.length</a:t>
                      </a:r>
                      <a:r>
                        <a:rPr lang="en-US" sz="120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 → return 0 (no more bookings to process)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52470" marR="152470" marT="6350" marB="6350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6613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Recursive Case</a:t>
                      </a:r>
                      <a:endParaRPr lang="en-US" sz="12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52470" marR="152470" marT="6350" marB="6350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Add current booking charge + recurse on </a:t>
                      </a:r>
                      <a:r>
                        <a:rPr lang="en-US" sz="1200" dirty="0">
                          <a:solidFill>
                            <a:srgbClr val="4C4C4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index + 1</a:t>
                      </a:r>
                      <a:endParaRPr lang="en-US" sz="12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52470" marR="152470" marT="6350" marB="6350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456605"/>
            <a:ext cx="1953568" cy="184448"/>
          </a:xfrm>
          <a:prstGeom prst="roundRect">
            <a:avLst>
              <a:gd name="adj" fmla="val 7902"/>
            </a:avLst>
          </a:prstGeom>
          <a:solidFill>
            <a:srgbClr val="CCD7FF"/>
          </a:solidFill>
          <a:ln/>
        </p:spPr>
      </p:sp>
      <p:sp>
        <p:nvSpPr>
          <p:cNvPr id="3" name="Text 1"/>
          <p:cNvSpPr/>
          <p:nvPr/>
        </p:nvSpPr>
        <p:spPr>
          <a:xfrm>
            <a:off x="734300" y="493018"/>
            <a:ext cx="2417504" cy="1116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CO3 — ARRAYS &amp; SAMPLE CALCULATION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661475" y="676672"/>
            <a:ext cx="10868745" cy="3795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35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CO3: 1D &amp; 2D Arrays + Sample Calculation</a:t>
            </a:r>
            <a:endParaRPr lang="en-US" sz="2350" dirty="0"/>
          </a:p>
        </p:txBody>
      </p:sp>
      <p:sp>
        <p:nvSpPr>
          <p:cNvPr id="5" name="Text 3"/>
          <p:cNvSpPr/>
          <p:nvPr/>
        </p:nvSpPr>
        <p:spPr>
          <a:xfrm>
            <a:off x="661475" y="1279128"/>
            <a:ext cx="5286243" cy="1897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1D Array Operations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661475" y="1569145"/>
            <a:ext cx="2598474" cy="890488"/>
          </a:xfrm>
          <a:prstGeom prst="roundRect">
            <a:avLst>
              <a:gd name="adj" fmla="val 2046"/>
            </a:avLst>
          </a:prstGeom>
          <a:solidFill>
            <a:srgbClr val="FFFFFF"/>
          </a:solidFill>
          <a:ln w="12700">
            <a:solidFill>
              <a:srgbClr val="D8D4D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95615" y="1703288"/>
            <a:ext cx="2330193" cy="1897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Traversal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795615" y="1982192"/>
            <a:ext cx="2330193" cy="3432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9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Loop through </a:t>
            </a:r>
            <a:r>
              <a:rPr lang="en-US" sz="950" dirty="0">
                <a:solidFill>
                  <a:srgbClr val="4C4C4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bookings[]</a:t>
            </a:r>
            <a:r>
              <a:rPr lang="en-US" sz="9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to display all records using for-each.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349144" y="1569145"/>
            <a:ext cx="2598573" cy="890488"/>
          </a:xfrm>
          <a:prstGeom prst="roundRect">
            <a:avLst>
              <a:gd name="adj" fmla="val 2046"/>
            </a:avLst>
          </a:prstGeom>
          <a:solidFill>
            <a:srgbClr val="FFFFFF"/>
          </a:solidFill>
          <a:ln w="12700">
            <a:solidFill>
              <a:srgbClr val="D8D4D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83285" y="1703288"/>
            <a:ext cx="2330292" cy="1897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Searching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3483285" y="1982192"/>
            <a:ext cx="2330292" cy="3432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9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Linear search by </a:t>
            </a:r>
            <a:r>
              <a:rPr lang="en-US" sz="950" dirty="0">
                <a:solidFill>
                  <a:srgbClr val="4C4C4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name.equals(target)</a:t>
            </a:r>
            <a:r>
              <a:rPr lang="en-US" sz="9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— returns matching Booking object.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61475" y="2548830"/>
            <a:ext cx="2598474" cy="890488"/>
          </a:xfrm>
          <a:prstGeom prst="roundRect">
            <a:avLst>
              <a:gd name="adj" fmla="val 2046"/>
            </a:avLst>
          </a:prstGeom>
          <a:solidFill>
            <a:srgbClr val="FFFFFF"/>
          </a:solidFill>
          <a:ln w="12700">
            <a:solidFill>
              <a:srgbClr val="D8D4D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95615" y="2682974"/>
            <a:ext cx="2330193" cy="1897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Summation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795615" y="2961878"/>
            <a:ext cx="2330193" cy="3432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9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Accumulate </a:t>
            </a:r>
            <a:r>
              <a:rPr lang="en-US" sz="950" dirty="0">
                <a:solidFill>
                  <a:srgbClr val="4C4C4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totalCharge</a:t>
            </a:r>
            <a:r>
              <a:rPr lang="en-US" sz="9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across all bookings for revenue total.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349144" y="2548830"/>
            <a:ext cx="2598573" cy="890488"/>
          </a:xfrm>
          <a:prstGeom prst="roundRect">
            <a:avLst>
              <a:gd name="adj" fmla="val 2046"/>
            </a:avLst>
          </a:prstGeom>
          <a:solidFill>
            <a:srgbClr val="FFFFFF"/>
          </a:solidFill>
          <a:ln w="12700">
            <a:solidFill>
              <a:srgbClr val="D8D4D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483285" y="2682974"/>
            <a:ext cx="2330292" cy="1897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Average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3483285" y="2961878"/>
            <a:ext cx="2330292" cy="3432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950" dirty="0">
                <a:solidFill>
                  <a:srgbClr val="4C4C4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totalRevenue / bookingCount</a:t>
            </a:r>
            <a:r>
              <a:rPr lang="en-US" sz="9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gives average booking value.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61475" y="3528516"/>
            <a:ext cx="5286243" cy="715665"/>
          </a:xfrm>
          <a:prstGeom prst="roundRect">
            <a:avLst>
              <a:gd name="adj" fmla="val 2546"/>
            </a:avLst>
          </a:prstGeom>
          <a:solidFill>
            <a:srgbClr val="FFFFFF"/>
          </a:solidFill>
          <a:ln w="12700">
            <a:solidFill>
              <a:srgbClr val="D8D4D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95615" y="3662660"/>
            <a:ext cx="5017962" cy="1897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Counting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795615" y="3941564"/>
            <a:ext cx="5017962" cy="1684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9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Count bookings per room type using an accumulator inside the loop.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661475" y="4344491"/>
            <a:ext cx="5286243" cy="1897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2D Matrix — Occupancy Grid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61475" y="4634508"/>
            <a:ext cx="5286243" cy="1602780"/>
          </a:xfrm>
          <a:prstGeom prst="roundRect">
            <a:avLst>
              <a:gd name="adj" fmla="val 1137"/>
            </a:avLst>
          </a:prstGeom>
          <a:solidFill>
            <a:srgbClr val="F2F2F2"/>
          </a:solidFill>
          <a:ln/>
        </p:spPr>
      </p:sp>
      <p:sp>
        <p:nvSpPr>
          <p:cNvPr id="23" name="Text 21"/>
          <p:cNvSpPr/>
          <p:nvPr/>
        </p:nvSpPr>
        <p:spPr>
          <a:xfrm>
            <a:off x="807224" y="4755952"/>
            <a:ext cx="4994745" cy="13598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6A73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occupancy[roomType][day] = 1 if booked</a:t>
            </a:r>
            <a:endParaRPr lang="en-US" sz="9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6A73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int[][] occupancy = new int[3][30];</a:t>
            </a:r>
            <a:endParaRPr lang="en-US" sz="9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6A73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Matrix arithmetic: count occupied rooms</a:t>
            </a:r>
            <a:endParaRPr lang="en-US" sz="9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6A73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total = 0;</a:t>
            </a:r>
            <a:endParaRPr lang="en-US" sz="9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6A73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for(int[] row : occupancy)</a:t>
            </a:r>
            <a:endParaRPr lang="en-US" sz="9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6A73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for(int cell : row)</a:t>
            </a:r>
            <a:endParaRPr lang="en-US" sz="9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6A73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total += cell;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6250327" y="1279128"/>
            <a:ext cx="5286243" cy="1897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Sample Calculation — 3 Bookings</a:t>
            </a:r>
            <a:endParaRPr lang="en-US" sz="115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50327" y="1569145"/>
          <a:ext cx="5286243" cy="1152496"/>
        </p:xfrm>
        <a:graphic>
          <a:graphicData uri="http://schemas.openxmlformats.org/drawingml/2006/table">
            <a:tbl>
              <a:tblPr/>
              <a:tblGrid>
                <a:gridCol w="132156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515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434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3434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444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881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Customer</a:t>
                      </a:r>
                      <a:endParaRPr lang="en-US" sz="9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21459" marR="121459" marT="6350" marB="6350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76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76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Room</a:t>
                      </a:r>
                      <a:endParaRPr lang="en-US" sz="9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21459" marR="121459" marT="6350" marB="6350" anchor="ctr">
                    <a:lnL w="12700" cap="flat" cmpd="sng" algn="ctr">
                      <a:solidFill>
                        <a:srgbClr val="0F76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76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76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Rooms</a:t>
                      </a:r>
                      <a:endParaRPr lang="en-US" sz="9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21459" marR="121459" marT="6350" marB="6350" anchor="ctr">
                    <a:lnL w="12700" cap="flat" cmpd="sng" algn="ctr">
                      <a:solidFill>
                        <a:srgbClr val="0F76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76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76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Days</a:t>
                      </a:r>
                      <a:endParaRPr lang="en-US" sz="9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21459" marR="121459" marT="6350" marB="6350" anchor="ctr">
                    <a:lnL w="12700" cap="flat" cmpd="sng" algn="ctr">
                      <a:solidFill>
                        <a:srgbClr val="0F76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76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76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Total Charge</a:t>
                      </a:r>
                      <a:endParaRPr lang="en-US" sz="9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21459" marR="121459" marT="6350" marB="6350" anchor="ctr">
                    <a:lnL w="12700" cap="flat" cmpd="sng" algn="ctr">
                      <a:solidFill>
                        <a:srgbClr val="0F76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76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81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Bharadwaj</a:t>
                      </a:r>
                      <a:endParaRPr lang="en-US" sz="9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21459" marR="121459" marT="6350" marB="6350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76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Deluxe</a:t>
                      </a:r>
                      <a:endParaRPr lang="en-US" sz="9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21459" marR="121459" marT="6350" marB="6350" anchor="ctr">
                    <a:lnL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76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2</a:t>
                      </a:r>
                      <a:endParaRPr lang="en-US" sz="9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21459" marR="121459" marT="6350" marB="6350" anchor="ctr">
                    <a:lnL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76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3</a:t>
                      </a:r>
                      <a:endParaRPr lang="en-US" sz="9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21459" marR="121459" marT="6350" marB="6350" anchor="ctr">
                    <a:lnL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76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₹3,000×2×3 = </a:t>
                      </a:r>
                      <a:r>
                        <a:rPr lang="en-US" sz="950" b="1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₹18,000</a:t>
                      </a:r>
                      <a:endParaRPr lang="en-US" sz="9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21459" marR="121459" marT="6350" marB="6350" anchor="ctr">
                    <a:lnL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76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81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Mukesh</a:t>
                      </a:r>
                      <a:endParaRPr lang="en-US" sz="9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21459" marR="121459" marT="6350" marB="6350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Suite</a:t>
                      </a:r>
                      <a:endParaRPr lang="en-US" sz="9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21459" marR="121459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1</a:t>
                      </a:r>
                      <a:endParaRPr lang="en-US" sz="9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21459" marR="121459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5</a:t>
                      </a:r>
                      <a:endParaRPr lang="en-US" sz="9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21459" marR="121459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₹5,000×1×5 = </a:t>
                      </a:r>
                      <a:r>
                        <a:rPr lang="en-US" sz="950" b="1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₹25,000</a:t>
                      </a:r>
                      <a:endParaRPr lang="en-US" sz="9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21459" marR="121459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81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Ramesh</a:t>
                      </a:r>
                      <a:endParaRPr lang="en-US" sz="9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21459" marR="121459" marT="6350" marB="6350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Standard</a:t>
                      </a:r>
                      <a:endParaRPr lang="en-US" sz="9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21459" marR="121459" marT="6350" marB="6350" anchor="ctr">
                    <a:lnL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3</a:t>
                      </a:r>
                      <a:endParaRPr lang="en-US" sz="9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21459" marR="121459" marT="6350" marB="6350" anchor="ctr">
                    <a:lnL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2</a:t>
                      </a:r>
                      <a:endParaRPr lang="en-US" sz="9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21459" marR="121459" marT="6350" marB="6350" anchor="ctr">
                    <a:lnL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₹2,000×3×2 = </a:t>
                      </a:r>
                      <a:r>
                        <a:rPr lang="en-US" sz="950" b="1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₹12,000</a:t>
                      </a:r>
                      <a:endParaRPr lang="en-US" sz="9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21459" marR="121459" marT="6350" marB="6350" anchor="ctr">
                    <a:lnL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6" name="Text 23"/>
          <p:cNvSpPr/>
          <p:nvPr/>
        </p:nvSpPr>
        <p:spPr>
          <a:xfrm>
            <a:off x="6250327" y="2895402"/>
            <a:ext cx="5286243" cy="400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1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₹55K</a:t>
            </a:r>
            <a:endParaRPr lang="en-US" sz="3150" dirty="0"/>
          </a:p>
        </p:txBody>
      </p:sp>
      <p:sp>
        <p:nvSpPr>
          <p:cNvPr id="27" name="Text 24"/>
          <p:cNvSpPr/>
          <p:nvPr/>
        </p:nvSpPr>
        <p:spPr>
          <a:xfrm>
            <a:off x="6250327" y="3423841"/>
            <a:ext cx="5286243" cy="1897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1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Total Revenue</a:t>
            </a:r>
            <a:endParaRPr lang="en-US" sz="1150" dirty="0"/>
          </a:p>
        </p:txBody>
      </p:sp>
      <p:sp>
        <p:nvSpPr>
          <p:cNvPr id="28" name="Text 25"/>
          <p:cNvSpPr/>
          <p:nvPr/>
        </p:nvSpPr>
        <p:spPr>
          <a:xfrm>
            <a:off x="6250327" y="3702745"/>
            <a:ext cx="5286243" cy="1684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6000"/>
              </a:lnSpc>
              <a:buNone/>
            </a:pPr>
            <a:r>
              <a:rPr lang="en-US" sz="9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18,000 + 25,000 + 12,000</a:t>
            </a:r>
            <a:endParaRPr lang="en-US" sz="950" dirty="0"/>
          </a:p>
        </p:txBody>
      </p:sp>
      <p:sp>
        <p:nvSpPr>
          <p:cNvPr id="29" name="Text 26"/>
          <p:cNvSpPr/>
          <p:nvPr/>
        </p:nvSpPr>
        <p:spPr>
          <a:xfrm>
            <a:off x="6250327" y="4110335"/>
            <a:ext cx="5286243" cy="400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1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₹18.3K</a:t>
            </a:r>
            <a:endParaRPr lang="en-US" sz="3150" dirty="0"/>
          </a:p>
        </p:txBody>
      </p:sp>
      <p:sp>
        <p:nvSpPr>
          <p:cNvPr id="30" name="Text 27"/>
          <p:cNvSpPr/>
          <p:nvPr/>
        </p:nvSpPr>
        <p:spPr>
          <a:xfrm>
            <a:off x="6250327" y="4638774"/>
            <a:ext cx="5286243" cy="1897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1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Avg Booking</a:t>
            </a:r>
            <a:endParaRPr lang="en-US" sz="1150" dirty="0"/>
          </a:p>
        </p:txBody>
      </p:sp>
      <p:sp>
        <p:nvSpPr>
          <p:cNvPr id="31" name="Text 28"/>
          <p:cNvSpPr/>
          <p:nvPr/>
        </p:nvSpPr>
        <p:spPr>
          <a:xfrm>
            <a:off x="6250327" y="4917678"/>
            <a:ext cx="5286243" cy="1684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6000"/>
              </a:lnSpc>
              <a:buNone/>
            </a:pPr>
            <a:r>
              <a:rPr lang="en-US" sz="9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55,000 ÷ 3 bookings</a:t>
            </a:r>
            <a:endParaRPr lang="en-US" sz="950" dirty="0"/>
          </a:p>
        </p:txBody>
      </p:sp>
      <p:sp>
        <p:nvSpPr>
          <p:cNvPr id="32" name="Text 29"/>
          <p:cNvSpPr/>
          <p:nvPr/>
        </p:nvSpPr>
        <p:spPr>
          <a:xfrm>
            <a:off x="6250327" y="5325269"/>
            <a:ext cx="5286243" cy="400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1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3</a:t>
            </a:r>
            <a:endParaRPr lang="en-US" sz="3150" dirty="0"/>
          </a:p>
        </p:txBody>
      </p:sp>
      <p:sp>
        <p:nvSpPr>
          <p:cNvPr id="33" name="Text 30"/>
          <p:cNvSpPr/>
          <p:nvPr/>
        </p:nvSpPr>
        <p:spPr>
          <a:xfrm>
            <a:off x="6250327" y="5853708"/>
            <a:ext cx="5286243" cy="1897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1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Total Bookings</a:t>
            </a:r>
            <a:endParaRPr lang="en-US" sz="1150" dirty="0"/>
          </a:p>
        </p:txBody>
      </p:sp>
      <p:sp>
        <p:nvSpPr>
          <p:cNvPr id="34" name="Text 31"/>
          <p:cNvSpPr/>
          <p:nvPr/>
        </p:nvSpPr>
        <p:spPr>
          <a:xfrm>
            <a:off x="6250327" y="6132612"/>
            <a:ext cx="5286243" cy="1684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6000"/>
              </a:lnSpc>
              <a:buNone/>
            </a:pPr>
            <a:r>
              <a:rPr lang="en-US" sz="9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Across all room types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486767"/>
            <a:ext cx="710885" cy="176609"/>
          </a:xfrm>
          <a:prstGeom prst="roundRect">
            <a:avLst>
              <a:gd name="adj" fmla="val 7902"/>
            </a:avLst>
          </a:prstGeom>
          <a:solidFill>
            <a:srgbClr val="CCD7FF"/>
          </a:solidFill>
          <a:ln/>
        </p:spPr>
      </p:sp>
      <p:sp>
        <p:nvSpPr>
          <p:cNvPr id="3" name="Text 1"/>
          <p:cNvSpPr/>
          <p:nvPr/>
        </p:nvSpPr>
        <p:spPr>
          <a:xfrm>
            <a:off x="731224" y="521593"/>
            <a:ext cx="1180971" cy="1069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7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CONCLUSION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661475" y="696020"/>
            <a:ext cx="10868745" cy="3633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5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Summary &amp; Key Takeaways</a:t>
            </a:r>
            <a:endParaRPr lang="en-US" sz="2250" dirty="0"/>
          </a:p>
        </p:txBody>
      </p:sp>
      <p:sp>
        <p:nvSpPr>
          <p:cNvPr id="5" name="Shape 3"/>
          <p:cNvSpPr/>
          <p:nvPr/>
        </p:nvSpPr>
        <p:spPr>
          <a:xfrm>
            <a:off x="577836" y="1181993"/>
            <a:ext cx="5459871" cy="5189240"/>
          </a:xfrm>
          <a:prstGeom prst="roundRect">
            <a:avLst>
              <a:gd name="adj" fmla="val 336"/>
            </a:avLst>
          </a:prstGeom>
          <a:solidFill>
            <a:srgbClr val="0F766E"/>
          </a:solidFill>
          <a:ln/>
        </p:spPr>
      </p:sp>
      <p:sp>
        <p:nvSpPr>
          <p:cNvPr id="6" name="Text 4"/>
          <p:cNvSpPr/>
          <p:nvPr/>
        </p:nvSpPr>
        <p:spPr>
          <a:xfrm>
            <a:off x="694117" y="1263749"/>
            <a:ext cx="5227308" cy="1816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What We Built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94117" y="1527175"/>
            <a:ext cx="5227308" cy="4750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 fully functional Java-based Hotel Booking &amp; Occupancy Manager that automates billing, tracks room occupancy, and provides revenue analytics — replacing error-prone manual processes with structured, object-oriented code.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694117" y="2123281"/>
            <a:ext cx="5227308" cy="12700"/>
          </a:xfrm>
          <a:prstGeom prst="roundRect">
            <a:avLst>
              <a:gd name="adj" fmla="val 49999"/>
            </a:avLst>
          </a:prstGeom>
          <a:solidFill>
            <a:srgbClr val="FFFFFF">
              <a:alpha val="50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694117" y="2257028"/>
            <a:ext cx="5227308" cy="1816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CO Learning Outcomes Demonstrated</a:t>
            </a:r>
            <a:endParaRPr lang="en-US" sz="1100" dirty="0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81417" y="2517973"/>
            <a:ext cx="5240008" cy="447179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835798" y="2530673"/>
            <a:ext cx="5085627" cy="1816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CO1 — Java Basics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835798" y="2794099"/>
            <a:ext cx="5085627" cy="1583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Variables, Scanner, arithmetic, conditionals, classes &amp; objects applied throughout the system.</a:t>
            </a:r>
            <a:endParaRPr lang="en-US" sz="900" dirty="0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81417" y="3103265"/>
            <a:ext cx="5240008" cy="447179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835798" y="3115965"/>
            <a:ext cx="5085627" cy="1816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CO2 — Decision Making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835798" y="3379391"/>
            <a:ext cx="5085627" cy="1583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Switch-case menus, if-else validation, parameterized constructors, and encapsulation.</a:t>
            </a:r>
            <a:endParaRPr lang="en-US" sz="900" dirty="0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81417" y="3688556"/>
            <a:ext cx="5240008" cy="60553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35798" y="3701256"/>
            <a:ext cx="5085627" cy="1816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CO3 — Decomposition</a:t>
            </a:r>
            <a:endParaRPr lang="en-US" sz="1100" dirty="0"/>
          </a:p>
        </p:txBody>
      </p:sp>
      <p:sp>
        <p:nvSpPr>
          <p:cNvPr id="18" name="Text 13"/>
          <p:cNvSpPr/>
          <p:nvPr/>
        </p:nvSpPr>
        <p:spPr>
          <a:xfrm>
            <a:off x="835798" y="3964682"/>
            <a:ext cx="5085627" cy="3167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Modular methods, recursion with base &amp; recursive cases, 1D array operations, 2D matrix arithmetic.</a:t>
            </a:r>
            <a:endParaRPr lang="en-US" sz="900" dirty="0"/>
          </a:p>
        </p:txBody>
      </p:sp>
      <p:sp>
        <p:nvSpPr>
          <p:cNvPr id="21" name="Text 15"/>
          <p:cNvSpPr/>
          <p:nvPr/>
        </p:nvSpPr>
        <p:spPr>
          <a:xfrm>
            <a:off x="6243977" y="2895798"/>
            <a:ext cx="5292593" cy="1816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Future Enhancements</a:t>
            </a:r>
            <a:endParaRPr lang="en-US" sz="1100" dirty="0"/>
          </a:p>
        </p:txBody>
      </p:sp>
      <p:sp>
        <p:nvSpPr>
          <p:cNvPr id="22" name="Text 16"/>
          <p:cNvSpPr/>
          <p:nvPr/>
        </p:nvSpPr>
        <p:spPr>
          <a:xfrm>
            <a:off x="6243977" y="3169444"/>
            <a:ext cx="232563" cy="14535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dirty="0">
                <a:solidFill>
                  <a:srgbClr val="4C4C4D"/>
                </a:solidFill>
                <a:latin typeface="Crimson Pro Light" pitchFamily="34" charset="0"/>
                <a:ea typeface="Crimson Pro Light" pitchFamily="34" charset="-122"/>
                <a:cs typeface="Crimson Pro Light" pitchFamily="34" charset="-120"/>
              </a:rPr>
              <a:t>01</a:t>
            </a:r>
            <a:endParaRPr lang="en-US" sz="900" dirty="0"/>
          </a:p>
        </p:txBody>
      </p:sp>
      <p:sp>
        <p:nvSpPr>
          <p:cNvPr id="23" name="Shape 17"/>
          <p:cNvSpPr/>
          <p:nvPr/>
        </p:nvSpPr>
        <p:spPr>
          <a:xfrm>
            <a:off x="6243977" y="3354388"/>
            <a:ext cx="5292593" cy="12700"/>
          </a:xfrm>
          <a:prstGeom prst="rect">
            <a:avLst/>
          </a:prstGeom>
          <a:solidFill>
            <a:srgbClr val="2150FE"/>
          </a:solidFill>
          <a:ln/>
        </p:spPr>
      </p:sp>
      <p:sp>
        <p:nvSpPr>
          <p:cNvPr id="24" name="Text 18"/>
          <p:cNvSpPr/>
          <p:nvPr/>
        </p:nvSpPr>
        <p:spPr>
          <a:xfrm>
            <a:off x="6243977" y="3437930"/>
            <a:ext cx="5292593" cy="1816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File I/O Persistence</a:t>
            </a:r>
            <a:endParaRPr lang="en-US" sz="1100" dirty="0"/>
          </a:p>
        </p:txBody>
      </p:sp>
      <p:sp>
        <p:nvSpPr>
          <p:cNvPr id="25" name="Text 19"/>
          <p:cNvSpPr/>
          <p:nvPr/>
        </p:nvSpPr>
        <p:spPr>
          <a:xfrm>
            <a:off x="6243977" y="3701355"/>
            <a:ext cx="5292593" cy="1583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9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Save and load booking records using Java file handling for permanent storage.</a:t>
            </a:r>
            <a:endParaRPr lang="en-US" sz="900" dirty="0"/>
          </a:p>
        </p:txBody>
      </p:sp>
      <p:sp>
        <p:nvSpPr>
          <p:cNvPr id="26" name="Text 20"/>
          <p:cNvSpPr/>
          <p:nvPr/>
        </p:nvSpPr>
        <p:spPr>
          <a:xfrm>
            <a:off x="6243977" y="4028678"/>
            <a:ext cx="232563" cy="14535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dirty="0">
                <a:solidFill>
                  <a:srgbClr val="4C4C4D"/>
                </a:solidFill>
                <a:latin typeface="Crimson Pro Light" pitchFamily="34" charset="0"/>
                <a:ea typeface="Crimson Pro Light" pitchFamily="34" charset="-122"/>
                <a:cs typeface="Crimson Pro Light" pitchFamily="34" charset="-120"/>
              </a:rPr>
              <a:t>02</a:t>
            </a:r>
            <a:endParaRPr lang="en-US" sz="900" dirty="0"/>
          </a:p>
        </p:txBody>
      </p:sp>
      <p:sp>
        <p:nvSpPr>
          <p:cNvPr id="27" name="Shape 21"/>
          <p:cNvSpPr/>
          <p:nvPr/>
        </p:nvSpPr>
        <p:spPr>
          <a:xfrm>
            <a:off x="6243977" y="4213622"/>
            <a:ext cx="5292593" cy="12700"/>
          </a:xfrm>
          <a:prstGeom prst="rect">
            <a:avLst/>
          </a:prstGeom>
          <a:solidFill>
            <a:srgbClr val="2150FE"/>
          </a:solidFill>
          <a:ln/>
        </p:spPr>
      </p:sp>
      <p:sp>
        <p:nvSpPr>
          <p:cNvPr id="28" name="Text 22"/>
          <p:cNvSpPr/>
          <p:nvPr/>
        </p:nvSpPr>
        <p:spPr>
          <a:xfrm>
            <a:off x="6243977" y="4297164"/>
            <a:ext cx="5292593" cy="1816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GUI Interface</a:t>
            </a:r>
            <a:endParaRPr lang="en-US" sz="1100" dirty="0"/>
          </a:p>
        </p:txBody>
      </p:sp>
      <p:sp>
        <p:nvSpPr>
          <p:cNvPr id="29" name="Text 23"/>
          <p:cNvSpPr/>
          <p:nvPr/>
        </p:nvSpPr>
        <p:spPr>
          <a:xfrm>
            <a:off x="6243977" y="4560590"/>
            <a:ext cx="5292593" cy="1583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9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Java Swing or JavaFX front-end for a user-friendly graphical booking experience.</a:t>
            </a:r>
            <a:endParaRPr lang="en-US" sz="900" dirty="0"/>
          </a:p>
        </p:txBody>
      </p:sp>
      <p:sp>
        <p:nvSpPr>
          <p:cNvPr id="30" name="Text 24"/>
          <p:cNvSpPr/>
          <p:nvPr/>
        </p:nvSpPr>
        <p:spPr>
          <a:xfrm>
            <a:off x="6243977" y="4887913"/>
            <a:ext cx="232563" cy="14535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dirty="0">
                <a:solidFill>
                  <a:srgbClr val="4C4C4D"/>
                </a:solidFill>
                <a:latin typeface="Crimson Pro Light" pitchFamily="34" charset="0"/>
                <a:ea typeface="Crimson Pro Light" pitchFamily="34" charset="-122"/>
                <a:cs typeface="Crimson Pro Light" pitchFamily="34" charset="-120"/>
              </a:rPr>
              <a:t>03</a:t>
            </a:r>
            <a:endParaRPr lang="en-US" sz="900" dirty="0"/>
          </a:p>
        </p:txBody>
      </p:sp>
      <p:sp>
        <p:nvSpPr>
          <p:cNvPr id="31" name="Shape 25"/>
          <p:cNvSpPr/>
          <p:nvPr/>
        </p:nvSpPr>
        <p:spPr>
          <a:xfrm>
            <a:off x="6243977" y="5072856"/>
            <a:ext cx="5292593" cy="12700"/>
          </a:xfrm>
          <a:prstGeom prst="rect">
            <a:avLst/>
          </a:prstGeom>
          <a:solidFill>
            <a:srgbClr val="2150FE"/>
          </a:solidFill>
          <a:ln/>
        </p:spPr>
      </p:sp>
      <p:sp>
        <p:nvSpPr>
          <p:cNvPr id="32" name="Text 26"/>
          <p:cNvSpPr/>
          <p:nvPr/>
        </p:nvSpPr>
        <p:spPr>
          <a:xfrm>
            <a:off x="6243977" y="5156398"/>
            <a:ext cx="5292593" cy="1816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Database Integration</a:t>
            </a:r>
            <a:endParaRPr lang="en-US" sz="1100" dirty="0"/>
          </a:p>
        </p:txBody>
      </p:sp>
      <p:sp>
        <p:nvSpPr>
          <p:cNvPr id="33" name="Text 27"/>
          <p:cNvSpPr/>
          <p:nvPr/>
        </p:nvSpPr>
        <p:spPr>
          <a:xfrm>
            <a:off x="6243977" y="5419824"/>
            <a:ext cx="5292593" cy="1583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9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JDBC connectivity to MySQL for scalable, multi-session data management.</a:t>
            </a:r>
            <a:endParaRPr lang="en-US" sz="900" dirty="0"/>
          </a:p>
        </p:txBody>
      </p:sp>
      <p:sp>
        <p:nvSpPr>
          <p:cNvPr id="34" name="Shape 28"/>
          <p:cNvSpPr/>
          <p:nvPr/>
        </p:nvSpPr>
        <p:spPr>
          <a:xfrm>
            <a:off x="6243977" y="5757366"/>
            <a:ext cx="5292593" cy="521891"/>
          </a:xfrm>
          <a:prstGeom prst="roundRect">
            <a:avLst>
              <a:gd name="adj" fmla="val 3342"/>
            </a:avLst>
          </a:prstGeom>
          <a:solidFill>
            <a:srgbClr val="CCD7FF"/>
          </a:solidFill>
          <a:ln/>
        </p:spPr>
      </p:sp>
      <p:pic>
        <p:nvPicPr>
          <p:cNvPr id="35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60259" y="5874345"/>
            <a:ext cx="145352" cy="116284"/>
          </a:xfrm>
          <a:prstGeom prst="rect">
            <a:avLst/>
          </a:prstGeom>
        </p:spPr>
      </p:pic>
      <p:sp>
        <p:nvSpPr>
          <p:cNvPr id="36" name="Text 29"/>
          <p:cNvSpPr/>
          <p:nvPr/>
        </p:nvSpPr>
        <p:spPr>
          <a:xfrm>
            <a:off x="6621892" y="5859959"/>
            <a:ext cx="4798396" cy="3167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All core Java concepts from CO1, CO2, and CO3 are implemented and demonstrated through practical, working hotel booking operations.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1623</Words>
  <Application>Microsoft Office PowerPoint</Application>
  <PresentationFormat>Widescreen</PresentationFormat>
  <Paragraphs>267</Paragraphs>
  <Slides>10</Slides>
  <Notes>10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Bharadwaj Gangavarapu</cp:lastModifiedBy>
  <cp:revision>2</cp:revision>
  <dcterms:created xsi:type="dcterms:W3CDTF">2026-09-22T05:23:10Z</dcterms:created>
  <dcterms:modified xsi:type="dcterms:W3CDTF">2026-09-22T13:24:49Z</dcterms:modified>
</cp:coreProperties>
</file>