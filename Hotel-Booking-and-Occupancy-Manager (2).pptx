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Bitter Bold" panose="020B0604020202020204" charset="0"/>
      <p:regular r:id="rId19"/>
    </p:embeddedFont>
    <p:embeddedFont>
      <p:font typeface="Bitter ExtraBold" panose="020B0604020202020204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Host Grotesk" panose="020B0604020202020204" charset="0"/>
      <p:regular r:id="rId25"/>
    </p:embeddedFont>
    <p:embeddedFont>
      <p:font typeface="Host Grotesk Bold" panose="020B0604020202020204" charset="0"/>
      <p:regular r:id="rId26"/>
    </p:embeddedFont>
    <p:embeddedFont>
      <p:font typeface="Host Grotesk Light" panose="020B0604020202020204" charset="0"/>
      <p:regular r:id="rId27"/>
    </p:embeddedFont>
    <p:embeddedFont>
      <p:font typeface="Host Grotesk Medium" panose="020B0604020202020204" charset="0"/>
      <p:regular r:id="rId28"/>
    </p:embeddedFont>
    <p:embeddedFont>
      <p:font typeface="Host Grotesk SemiBold" panose="020B0604020202020204" charset="0"/>
      <p:regular r:id="rId29"/>
    </p:embeddedFont>
    <p:embeddedFont>
      <p:font typeface="Public Sans" panose="020B0604020202020204" charset="0"/>
      <p:regular r:id="rId30"/>
    </p:embeddedFont>
    <p:embeddedFont>
      <p:font typeface="Public Sans Bold" panose="020B0604020202020204" charset="0"/>
      <p:regular r:id="rId31"/>
    </p:embeddedFont>
    <p:embeddedFont>
      <p:font typeface="Public Sans SemiBold" panose="020B0604020202020204" charset="0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B540B-CA9E-4DE2-A06E-5F2D390E0EE0}" v="8" dt="2026-09-26T05:28:36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dwaj Gangavarapu" userId="e53788ab4bbe805b" providerId="LiveId" clId="{9AFCBED6-7A31-446E-824B-855C20203D8A}"/>
    <pc:docChg chg="custSel addSld modSld">
      <pc:chgData name="Bharadwaj Gangavarapu" userId="e53788ab4bbe805b" providerId="LiveId" clId="{9AFCBED6-7A31-446E-824B-855C20203D8A}" dt="2026-09-26T05:31:19.970" v="14" actId="207"/>
      <pc:docMkLst>
        <pc:docMk/>
      </pc:docMkLst>
      <pc:sldChg chg="modSp mod">
        <pc:chgData name="Bharadwaj Gangavarapu" userId="e53788ab4bbe805b" providerId="LiveId" clId="{9AFCBED6-7A31-446E-824B-855C20203D8A}" dt="2026-09-26T04:42:41.858" v="1" actId="27636"/>
        <pc:sldMkLst>
          <pc:docMk/>
          <pc:sldMk cId="0" sldId="262"/>
        </pc:sldMkLst>
        <pc:spChg chg="mod">
          <ac:chgData name="Bharadwaj Gangavarapu" userId="e53788ab4bbe805b" providerId="LiveId" clId="{9AFCBED6-7A31-446E-824B-855C20203D8A}" dt="2026-09-26T04:42:41.858" v="1" actId="27636"/>
          <ac:spMkLst>
            <pc:docMk/>
            <pc:sldMk cId="0" sldId="262"/>
            <ac:spMk id="8" creationId="{00000000-0000-0000-0000-000000000000}"/>
          </ac:spMkLst>
        </pc:spChg>
      </pc:sldChg>
      <pc:sldChg chg="modSp add mod">
        <pc:chgData name="Bharadwaj Gangavarapu" userId="e53788ab4bbe805b" providerId="LiveId" clId="{9AFCBED6-7A31-446E-824B-855C20203D8A}" dt="2026-09-26T05:31:19.970" v="14" actId="207"/>
        <pc:sldMkLst>
          <pc:docMk/>
          <pc:sldMk cId="126321114" sldId="264"/>
        </pc:sldMkLst>
        <pc:spChg chg="mod">
          <ac:chgData name="Bharadwaj Gangavarapu" userId="e53788ab4bbe805b" providerId="LiveId" clId="{9AFCBED6-7A31-446E-824B-855C20203D8A}" dt="2026-09-26T05:30:25.970" v="12" actId="207"/>
          <ac:spMkLst>
            <pc:docMk/>
            <pc:sldMk cId="126321114" sldId="264"/>
            <ac:spMk id="3" creationId="{00000000-0000-0000-0000-000000000000}"/>
          </ac:spMkLst>
        </pc:spChg>
        <pc:spChg chg="mod">
          <ac:chgData name="Bharadwaj Gangavarapu" userId="e53788ab4bbe805b" providerId="LiveId" clId="{9AFCBED6-7A31-446E-824B-855C20203D8A}" dt="2026-09-26T05:31:19.970" v="14" actId="207"/>
          <ac:spMkLst>
            <pc:docMk/>
            <pc:sldMk cId="126321114" sldId="264"/>
            <ac:spMk id="5" creationId="{00000000-0000-0000-0000-000000000000}"/>
          </ac:spMkLst>
        </pc:spChg>
      </pc:sldChg>
      <pc:sldChg chg="add">
        <pc:chgData name="Bharadwaj Gangavarapu" userId="e53788ab4bbe805b" providerId="LiveId" clId="{9AFCBED6-7A31-446E-824B-855C20203D8A}" dt="2026-09-26T05:28:24.161" v="2"/>
        <pc:sldMkLst>
          <pc:docMk/>
          <pc:sldMk cId="1614395980" sldId="265"/>
        </pc:sldMkLst>
      </pc:sldChg>
      <pc:sldChg chg="add">
        <pc:chgData name="Bharadwaj Gangavarapu" userId="e53788ab4bbe805b" providerId="LiveId" clId="{9AFCBED6-7A31-446E-824B-855C20203D8A}" dt="2026-09-26T05:28:27.523" v="3"/>
        <pc:sldMkLst>
          <pc:docMk/>
          <pc:sldMk cId="3060113585" sldId="266"/>
        </pc:sldMkLst>
      </pc:sldChg>
      <pc:sldChg chg="add">
        <pc:chgData name="Bharadwaj Gangavarapu" userId="e53788ab4bbe805b" providerId="LiveId" clId="{9AFCBED6-7A31-446E-824B-855C20203D8A}" dt="2026-09-26T05:28:29.302" v="4"/>
        <pc:sldMkLst>
          <pc:docMk/>
          <pc:sldMk cId="2309521500" sldId="267"/>
        </pc:sldMkLst>
      </pc:sldChg>
      <pc:sldChg chg="add">
        <pc:chgData name="Bharadwaj Gangavarapu" userId="e53788ab4bbe805b" providerId="LiveId" clId="{9AFCBED6-7A31-446E-824B-855C20203D8A}" dt="2026-09-26T05:28:31.183" v="5"/>
        <pc:sldMkLst>
          <pc:docMk/>
          <pc:sldMk cId="2194219031" sldId="268"/>
        </pc:sldMkLst>
      </pc:sldChg>
      <pc:sldChg chg="add">
        <pc:chgData name="Bharadwaj Gangavarapu" userId="e53788ab4bbe805b" providerId="LiveId" clId="{9AFCBED6-7A31-446E-824B-855C20203D8A}" dt="2026-09-26T05:28:32.825" v="6"/>
        <pc:sldMkLst>
          <pc:docMk/>
          <pc:sldMk cId="2726409268" sldId="269"/>
        </pc:sldMkLst>
      </pc:sldChg>
      <pc:sldChg chg="modSp add mod">
        <pc:chgData name="Bharadwaj Gangavarapu" userId="e53788ab4bbe805b" providerId="LiveId" clId="{9AFCBED6-7A31-446E-824B-855C20203D8A}" dt="2026-09-26T05:28:34.522" v="9" actId="27636"/>
        <pc:sldMkLst>
          <pc:docMk/>
          <pc:sldMk cId="1258426495" sldId="270"/>
        </pc:sldMkLst>
        <pc:spChg chg="mod">
          <ac:chgData name="Bharadwaj Gangavarapu" userId="e53788ab4bbe805b" providerId="LiveId" clId="{9AFCBED6-7A31-446E-824B-855C20203D8A}" dt="2026-09-26T05:28:34.522" v="8" actId="27636"/>
          <ac:spMkLst>
            <pc:docMk/>
            <pc:sldMk cId="1258426495" sldId="270"/>
            <ac:spMk id="15" creationId="{00000000-0000-0000-0000-000000000000}"/>
          </ac:spMkLst>
        </pc:spChg>
        <pc:spChg chg="mod">
          <ac:chgData name="Bharadwaj Gangavarapu" userId="e53788ab4bbe805b" providerId="LiveId" clId="{9AFCBED6-7A31-446E-824B-855C20203D8A}" dt="2026-09-26T05:28:34.522" v="9" actId="27636"/>
          <ac:spMkLst>
            <pc:docMk/>
            <pc:sldMk cId="1258426495" sldId="270"/>
            <ac:spMk id="19" creationId="{00000000-0000-0000-0000-000000000000}"/>
          </ac:spMkLst>
        </pc:spChg>
      </pc:sldChg>
      <pc:sldChg chg="add">
        <pc:chgData name="Bharadwaj Gangavarapu" userId="e53788ab4bbe805b" providerId="LiveId" clId="{9AFCBED6-7A31-446E-824B-855C20203D8A}" dt="2026-09-26T05:28:36.162" v="10"/>
        <pc:sldMkLst>
          <pc:docMk/>
          <pc:sldMk cId="2292107009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829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93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2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7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50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71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71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38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7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9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403600"/>
            <a:ext cx="7492813" cy="284480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15975" y="3733800"/>
            <a:ext cx="72896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JAVA PROGRAMMING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15975" y="4115991"/>
            <a:ext cx="668003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0" spc="-2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HOTEL BOOKING &amp;</a:t>
            </a:r>
            <a:endParaRPr lang="en-US" sz="4000" dirty="0"/>
          </a:p>
          <a:p>
            <a:pPr marL="0" indent="0" algn="l">
              <a:lnSpc>
                <a:spcPct val="93000"/>
              </a:lnSpc>
              <a:buNone/>
            </a:pPr>
            <a:r>
              <a:rPr lang="en-US" sz="4000" kern="0" spc="-20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OCCUPANCY MANAGER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15975" y="5569744"/>
            <a:ext cx="6679934" cy="12601"/>
          </a:xfrm>
          <a:prstGeom prst="roundRect">
            <a:avLst>
              <a:gd name="adj" fmla="val 49998"/>
            </a:avLst>
          </a:prstGeom>
          <a:solidFill>
            <a:srgbClr val="57646F"/>
          </a:solidFill>
          <a:ln/>
        </p:spPr>
      </p:sp>
      <p:sp>
        <p:nvSpPr>
          <p:cNvPr id="6" name="Text 4"/>
          <p:cNvSpPr/>
          <p:nvPr/>
        </p:nvSpPr>
        <p:spPr>
          <a:xfrm>
            <a:off x="1015975" y="5872956"/>
            <a:ext cx="7289618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Java Programming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975" y="6429177"/>
            <a:ext cx="728961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26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Project Members: Bharadwaj · Mukesh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0" spc="-15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139156"/>
            <a:ext cx="10972526" cy="747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9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Java-based application for managing hotel room bookings from customer details through booking cost and customer categorization.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09585" y="4175423"/>
            <a:ext cx="2514537" cy="20729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4404023"/>
            <a:ext cx="20573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Capture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79" y="4917678"/>
            <a:ext cx="2057349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Accepts customer and booking details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4175423"/>
            <a:ext cx="2514537" cy="20729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509" y="4404023"/>
            <a:ext cx="20573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Choose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509" y="4917678"/>
            <a:ext cx="2057349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Standard, Deluxe, and Suite room choices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4175423"/>
            <a:ext cx="2514537" cy="20729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76838" y="4404023"/>
            <a:ext cx="20573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6838" y="4917678"/>
            <a:ext cx="2057349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Validates booking information and calculates cost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67573" y="4175423"/>
            <a:ext cx="2514537" cy="20729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296167" y="4404023"/>
            <a:ext cx="20573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Demonstrate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96167" y="4917678"/>
            <a:ext cx="2057349" cy="1102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Methods, arrays, recursion, searching, counting, and matrix operations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kern="0" spc="198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NEED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0" spc="-15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13915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Manual room booking is difficult to track and easy to miscalculate. The application turns a booking request into a validated result.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4059734"/>
            <a:ext cx="2194465" cy="812800"/>
          </a:xfrm>
          <a:prstGeom prst="rect">
            <a:avLst/>
          </a:prstGeom>
          <a:solidFill>
            <a:srgbClr val="C0C9CF"/>
          </a:solidFill>
          <a:ln/>
        </p:spPr>
      </p:sp>
      <p:sp>
        <p:nvSpPr>
          <p:cNvPr id="7" name="Shape 5"/>
          <p:cNvSpPr/>
          <p:nvPr/>
        </p:nvSpPr>
        <p:spPr>
          <a:xfrm>
            <a:off x="622185" y="4072334"/>
            <a:ext cx="2168967" cy="787400"/>
          </a:xfrm>
          <a:prstGeom prst="rect">
            <a:avLst/>
          </a:prstGeom>
          <a:solidFill>
            <a:srgbClr val="DAE3E9"/>
          </a:solidFill>
          <a:ln/>
        </p:spPr>
      </p:sp>
      <p:sp>
        <p:nvSpPr>
          <p:cNvPr id="8" name="Text 6"/>
          <p:cNvSpPr/>
          <p:nvPr/>
        </p:nvSpPr>
        <p:spPr>
          <a:xfrm>
            <a:off x="1607700" y="4313734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780" y="4980484"/>
            <a:ext cx="178807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04050" y="4059734"/>
            <a:ext cx="2194465" cy="812800"/>
          </a:xfrm>
          <a:prstGeom prst="rect">
            <a:avLst/>
          </a:prstGeom>
          <a:solidFill>
            <a:srgbClr val="C0C9CF"/>
          </a:solidFill>
          <a:ln/>
        </p:spPr>
      </p:sp>
      <p:sp>
        <p:nvSpPr>
          <p:cNvPr id="11" name="Shape 9"/>
          <p:cNvSpPr/>
          <p:nvPr/>
        </p:nvSpPr>
        <p:spPr>
          <a:xfrm>
            <a:off x="2816651" y="4072334"/>
            <a:ext cx="2168967" cy="787400"/>
          </a:xfrm>
          <a:prstGeom prst="rect">
            <a:avLst/>
          </a:prstGeom>
          <a:solidFill>
            <a:srgbClr val="DAE3E9"/>
          </a:solidFill>
          <a:ln/>
        </p:spPr>
      </p:sp>
      <p:sp>
        <p:nvSpPr>
          <p:cNvPr id="12" name="Text 10"/>
          <p:cNvSpPr/>
          <p:nvPr/>
        </p:nvSpPr>
        <p:spPr>
          <a:xfrm>
            <a:off x="3802166" y="4313734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07245" y="4980484"/>
            <a:ext cx="178807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Booking details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07245" y="5494139"/>
            <a:ext cx="1788076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Name, room type, rooms, days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98516" y="4059734"/>
            <a:ext cx="2194565" cy="812800"/>
          </a:xfrm>
          <a:prstGeom prst="rect">
            <a:avLst/>
          </a:prstGeom>
          <a:solidFill>
            <a:srgbClr val="C0C9CF"/>
          </a:solidFill>
          <a:ln/>
        </p:spPr>
      </p:sp>
      <p:sp>
        <p:nvSpPr>
          <p:cNvPr id="16" name="Shape 14"/>
          <p:cNvSpPr/>
          <p:nvPr/>
        </p:nvSpPr>
        <p:spPr>
          <a:xfrm>
            <a:off x="5011116" y="4072334"/>
            <a:ext cx="2169165" cy="787400"/>
          </a:xfrm>
          <a:prstGeom prst="rect">
            <a:avLst/>
          </a:prstGeom>
          <a:solidFill>
            <a:srgbClr val="DAE3E9"/>
          </a:solidFill>
          <a:ln/>
        </p:spPr>
      </p:sp>
      <p:sp>
        <p:nvSpPr>
          <p:cNvPr id="17" name="Text 15"/>
          <p:cNvSpPr/>
          <p:nvPr/>
        </p:nvSpPr>
        <p:spPr>
          <a:xfrm>
            <a:off x="5996730" y="4313734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01710" y="4980484"/>
            <a:ext cx="178817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01710" y="5494139"/>
            <a:ext cx="178817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Check room, room-count, and day inputs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93080" y="4059734"/>
            <a:ext cx="2194465" cy="812800"/>
          </a:xfrm>
          <a:prstGeom prst="rect">
            <a:avLst/>
          </a:prstGeom>
          <a:solidFill>
            <a:srgbClr val="C0C9CF"/>
          </a:solidFill>
          <a:ln/>
        </p:spPr>
      </p:sp>
      <p:sp>
        <p:nvSpPr>
          <p:cNvPr id="21" name="Shape 19"/>
          <p:cNvSpPr/>
          <p:nvPr/>
        </p:nvSpPr>
        <p:spPr>
          <a:xfrm>
            <a:off x="7205681" y="4072334"/>
            <a:ext cx="2168967" cy="787400"/>
          </a:xfrm>
          <a:prstGeom prst="rect">
            <a:avLst/>
          </a:prstGeom>
          <a:solidFill>
            <a:srgbClr val="DAE3E9"/>
          </a:solidFill>
          <a:ln/>
        </p:spPr>
      </p:sp>
      <p:sp>
        <p:nvSpPr>
          <p:cNvPr id="22" name="Text 20"/>
          <p:cNvSpPr/>
          <p:nvPr/>
        </p:nvSpPr>
        <p:spPr>
          <a:xfrm>
            <a:off x="8191196" y="4313734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96275" y="4980484"/>
            <a:ext cx="178807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Calculation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96275" y="5494139"/>
            <a:ext cx="1788076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Calculate booking amount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387546" y="4059734"/>
            <a:ext cx="2194565" cy="812800"/>
          </a:xfrm>
          <a:prstGeom prst="rect">
            <a:avLst/>
          </a:prstGeom>
          <a:solidFill>
            <a:srgbClr val="C0C9CF"/>
          </a:solidFill>
          <a:ln/>
        </p:spPr>
      </p:sp>
      <p:sp>
        <p:nvSpPr>
          <p:cNvPr id="26" name="Shape 24"/>
          <p:cNvSpPr/>
          <p:nvPr/>
        </p:nvSpPr>
        <p:spPr>
          <a:xfrm>
            <a:off x="9400146" y="4072334"/>
            <a:ext cx="2169165" cy="787400"/>
          </a:xfrm>
          <a:prstGeom prst="rect">
            <a:avLst/>
          </a:prstGeom>
          <a:solidFill>
            <a:srgbClr val="DAE3E9"/>
          </a:solidFill>
          <a:ln/>
        </p:spPr>
      </p:sp>
      <p:sp>
        <p:nvSpPr>
          <p:cNvPr id="27" name="Text 25"/>
          <p:cNvSpPr/>
          <p:nvPr/>
        </p:nvSpPr>
        <p:spPr>
          <a:xfrm>
            <a:off x="10385760" y="4313734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90741" y="4980484"/>
            <a:ext cx="178817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Booking result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90741" y="5494139"/>
            <a:ext cx="1788175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Process with Java concepts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kern="0" spc="198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THE APPLICATION AIMS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0" spc="-15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183408"/>
            <a:ext cx="3454314" cy="2037556"/>
          </a:xfrm>
          <a:prstGeom prst="rect">
            <a:avLst/>
          </a:prstGeom>
          <a:noFill/>
          <a:ln w="25399">
            <a:solidFill>
              <a:srgbClr val="C0C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2437408"/>
            <a:ext cx="29463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Manage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578" y="3022203"/>
            <a:ext cx="29463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Manage hotel room booking details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1" y="2183408"/>
            <a:ext cx="3454314" cy="2037556"/>
          </a:xfrm>
          <a:prstGeom prst="rect">
            <a:avLst/>
          </a:prstGeom>
          <a:noFill/>
          <a:ln w="25399">
            <a:solidFill>
              <a:srgbClr val="C0C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2684" y="2437408"/>
            <a:ext cx="29463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Calculate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22684" y="3022203"/>
            <a:ext cx="2946326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Calculate total booking cost and provide room types with prices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2183408"/>
            <a:ext cx="3454314" cy="2037556"/>
          </a:xfrm>
          <a:prstGeom prst="rect">
            <a:avLst/>
          </a:prstGeom>
          <a:noFill/>
          <a:ln w="25399">
            <a:solidFill>
              <a:srgbClr val="C0C9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1790" y="2437408"/>
            <a:ext cx="29463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Validate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81790" y="3022203"/>
            <a:ext cx="29463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Validate input and categorize customers by booking amount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585" y="4525764"/>
            <a:ext cx="5333867" cy="1722636"/>
          </a:xfrm>
          <a:prstGeom prst="rect">
            <a:avLst/>
          </a:prstGeom>
          <a:noFill/>
          <a:ln w="25399">
            <a:solidFill>
              <a:srgbClr val="C0C9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578" y="4779764"/>
            <a:ext cx="482587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Demonstrate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3578" y="5364559"/>
            <a:ext cx="482587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Java control flow, methods, arrays, recursion, and matrix operations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8244" y="4525764"/>
            <a:ext cx="5333867" cy="1722636"/>
          </a:xfrm>
          <a:prstGeom prst="rect">
            <a:avLst/>
          </a:prstGeom>
          <a:noFill/>
          <a:ln w="25399">
            <a:solidFill>
              <a:srgbClr val="C0C9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2237" y="4779764"/>
            <a:ext cx="482587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Build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02237" y="5364559"/>
            <a:ext cx="482587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simple console-based hotel management application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kern="0" spc="198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TOOLS &amp;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0" spc="-15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Technologies &amp; Java Concepts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3065463"/>
            <a:ext cx="5333867" cy="3182938"/>
          </a:xfrm>
          <a:prstGeom prst="rect">
            <a:avLst/>
          </a:prstGeom>
          <a:solidFill>
            <a:srgbClr val="FFFFFF"/>
          </a:solidFill>
          <a:ln w="25399">
            <a:solidFill>
              <a:srgbClr val="C0C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3319463"/>
            <a:ext cx="507987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578" y="3701653"/>
            <a:ext cx="482587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Console application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3578" y="4286448"/>
            <a:ext cx="4825879" cy="1078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Java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Scanner for console input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Console-based application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244" y="3065463"/>
            <a:ext cx="5333867" cy="3182938"/>
          </a:xfrm>
          <a:prstGeom prst="rect">
            <a:avLst/>
          </a:prstGeom>
          <a:solidFill>
            <a:srgbClr val="FFFFFF"/>
          </a:solidFill>
          <a:ln w="25399">
            <a:solidFill>
              <a:srgbClr val="C0C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2237" y="3319463"/>
            <a:ext cx="507987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PROGRAMMING CONCEPTS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02237" y="3701653"/>
            <a:ext cx="4825879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From input to processing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2237" y="4286448"/>
            <a:ext cx="4825879" cy="1707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Variables, constants, data types, operators, and typecasting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Console I/O, conditionals, switch, and loops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Methods, overloading, arrays, recursion, and 2D arrays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kern="0" spc="198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THREE PARTS OF 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0" spc="-15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Program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851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895302"/>
            <a:ext cx="3454314" cy="33530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123902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179" y="3408363"/>
            <a:ext cx="2997125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549253"/>
            <a:ext cx="299712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HotelModule1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8179" y="4134048"/>
            <a:ext cx="2997125" cy="188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Java foundations</a:t>
            </a:r>
            <a:endParaRPr lang="en-US" sz="1600" dirty="0"/>
          </a:p>
          <a:p>
            <a:pPr marL="0" indent="0" algn="l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Variables, constants, Scanner input</a:t>
            </a:r>
            <a:endParaRPr lang="en-US" sz="16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Arithmetic, typecasting, formatted output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8691" y="2895302"/>
            <a:ext cx="3454314" cy="33530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85" y="3123902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97285" y="3408363"/>
            <a:ext cx="2997125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3" name="Text 11"/>
          <p:cNvSpPr/>
          <p:nvPr/>
        </p:nvSpPr>
        <p:spPr>
          <a:xfrm>
            <a:off x="4597285" y="3549253"/>
            <a:ext cx="299712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HotelModule2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7285" y="4134048"/>
            <a:ext cx="2997125" cy="1255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Selection and iteration</a:t>
            </a:r>
            <a:endParaRPr lang="en-US" sz="1600" dirty="0"/>
          </a:p>
          <a:p>
            <a:pPr marL="0" indent="0" algn="l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if / else-if, switch, do-while</a:t>
            </a:r>
            <a:endParaRPr lang="en-US" sz="16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for and while loops, validation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7797" y="2895302"/>
            <a:ext cx="3454314" cy="33530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56391" y="3123902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56391" y="3408363"/>
            <a:ext cx="2997125" cy="19050"/>
          </a:xfrm>
          <a:prstGeom prst="rect">
            <a:avLst/>
          </a:prstGeom>
          <a:solidFill>
            <a:srgbClr val="3E4B56"/>
          </a:solidFill>
          <a:ln/>
        </p:spPr>
      </p:sp>
      <p:sp>
        <p:nvSpPr>
          <p:cNvPr id="18" name="Text 16"/>
          <p:cNvSpPr/>
          <p:nvPr/>
        </p:nvSpPr>
        <p:spPr>
          <a:xfrm>
            <a:off x="8356391" y="3549253"/>
            <a:ext cx="2997125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HotelModule3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56391" y="4134048"/>
            <a:ext cx="2997125" cy="188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Methods and overloading</a:t>
            </a:r>
            <a:endParaRPr lang="en-US" sz="1600" dirty="0"/>
          </a:p>
          <a:p>
            <a:pPr marL="0" indent="0" algn="l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Arrays, searching, summation, average, counting</a:t>
            </a:r>
            <a:endParaRPr lang="en-US" sz="16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Recursion and 2D matrix addition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kern="0" spc="198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 · PRICE · TOTAL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0" spc="-15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Java Foundations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343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37556"/>
            <a:ext cx="5608200" cy="2471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Variables store customer and booking information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Constants represent room prices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Scanner captures typed input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Arithmetic and if-else support room selection and cost calculation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Typecasting converts integer values; printf formats output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4664273"/>
            <a:ext cx="5608200" cy="1568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3578" y="4791273"/>
            <a:ext cx="53542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BOOKING CALCULATION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3578" y="5173464"/>
            <a:ext cx="5100212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34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total = price × rooms × days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674874" y="2037556"/>
            <a:ext cx="490723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ROOM PRICING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4874" y="2467372"/>
          <a:ext cx="4907237" cy="1852169"/>
        </p:xfrm>
        <a:graphic>
          <a:graphicData uri="http://schemas.openxmlformats.org/drawingml/2006/table">
            <a:tbl>
              <a:tblPr/>
              <a:tblGrid>
                <a:gridCol w="269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spc="12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ROOM TYPE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spc="120" dirty="0">
                          <a:solidFill>
                            <a:srgbClr val="57646F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PRICE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Standard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Rs. 1000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Deluxe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Rs. 1500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Suite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5303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Rs. 2500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kern="0" spc="198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kern="0" spc="120" dirty="0">
                <a:solidFill>
                  <a:srgbClr val="57646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DECISIONS, REPETITION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91791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000" kern="0" spc="-15" dirty="0">
                <a:solidFill>
                  <a:srgbClr val="25303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Control Flow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734344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37556"/>
            <a:ext cx="4381390" cy="2537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if / else-if:</a:t>
            </a: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validation and customer category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switch:</a:t>
            </a: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selecting room type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do-while:</a:t>
            </a: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allowing multiple bookings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for loop:</a:t>
            </a: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booking counter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while loop:</a:t>
            </a: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room availability checking</a:t>
            </a:r>
            <a:endParaRPr lang="en-US" sz="1600" dirty="0"/>
          </a:p>
          <a:p>
            <a:pPr marL="325120" indent="-325120" algn="l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25303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continue:</a:t>
            </a:r>
            <a:r>
              <a:rPr lang="en-US" sz="1600" dirty="0">
                <a:solidFill>
                  <a:srgbClr val="25303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skipping invalid booking choices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8164" y="2037556"/>
            <a:ext cx="1739856" cy="812800"/>
          </a:xfrm>
          <a:prstGeom prst="rect">
            <a:avLst/>
          </a:prstGeom>
          <a:solidFill>
            <a:srgbClr val="C0C9CF"/>
          </a:solidFill>
          <a:ln/>
        </p:spPr>
      </p:sp>
      <p:sp>
        <p:nvSpPr>
          <p:cNvPr id="7" name="Shape 5"/>
          <p:cNvSpPr/>
          <p:nvPr/>
        </p:nvSpPr>
        <p:spPr>
          <a:xfrm>
            <a:off x="5460764" y="2050157"/>
            <a:ext cx="1714457" cy="787400"/>
          </a:xfrm>
          <a:prstGeom prst="rect">
            <a:avLst/>
          </a:prstGeom>
          <a:solidFill>
            <a:srgbClr val="DAE3E9"/>
          </a:solidFill>
          <a:ln/>
        </p:spPr>
      </p:sp>
      <p:sp>
        <p:nvSpPr>
          <p:cNvPr id="8" name="Text 6"/>
          <p:cNvSpPr/>
          <p:nvPr/>
        </p:nvSpPr>
        <p:spPr>
          <a:xfrm>
            <a:off x="6218975" y="2291556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48164" y="2958306"/>
            <a:ext cx="173985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48164" y="3521174"/>
            <a:ext cx="573966" cy="3165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11" name="Text 9"/>
          <p:cNvSpPr/>
          <p:nvPr/>
        </p:nvSpPr>
        <p:spPr>
          <a:xfrm>
            <a:off x="5448164" y="3843437"/>
            <a:ext cx="173985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45209" y="2037556"/>
            <a:ext cx="1739856" cy="812800"/>
          </a:xfrm>
          <a:prstGeom prst="rect">
            <a:avLst/>
          </a:prstGeom>
          <a:solidFill>
            <a:srgbClr val="C0C9CF"/>
          </a:solidFill>
          <a:ln/>
        </p:spPr>
      </p:sp>
      <p:sp>
        <p:nvSpPr>
          <p:cNvPr id="13" name="Shape 11"/>
          <p:cNvSpPr/>
          <p:nvPr/>
        </p:nvSpPr>
        <p:spPr>
          <a:xfrm>
            <a:off x="7657809" y="2050157"/>
            <a:ext cx="1714457" cy="787400"/>
          </a:xfrm>
          <a:prstGeom prst="rect">
            <a:avLst/>
          </a:prstGeom>
          <a:solidFill>
            <a:srgbClr val="DAE3E9"/>
          </a:solidFill>
          <a:ln/>
        </p:spPr>
      </p:sp>
      <p:sp>
        <p:nvSpPr>
          <p:cNvPr id="14" name="Text 12"/>
          <p:cNvSpPr/>
          <p:nvPr/>
        </p:nvSpPr>
        <p:spPr>
          <a:xfrm>
            <a:off x="8416020" y="2291556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45209" y="2958306"/>
            <a:ext cx="173985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Room Selection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45209" y="3521174"/>
            <a:ext cx="573966" cy="3165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17" name="Text 15"/>
          <p:cNvSpPr/>
          <p:nvPr/>
        </p:nvSpPr>
        <p:spPr>
          <a:xfrm>
            <a:off x="7645209" y="3843437"/>
            <a:ext cx="173985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Calculation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42254" y="2037556"/>
            <a:ext cx="1739856" cy="812800"/>
          </a:xfrm>
          <a:prstGeom prst="rect">
            <a:avLst/>
          </a:prstGeom>
          <a:solidFill>
            <a:srgbClr val="C0C9CF"/>
          </a:solidFill>
          <a:ln/>
        </p:spPr>
      </p:sp>
      <p:sp>
        <p:nvSpPr>
          <p:cNvPr id="19" name="Shape 17"/>
          <p:cNvSpPr/>
          <p:nvPr/>
        </p:nvSpPr>
        <p:spPr>
          <a:xfrm>
            <a:off x="9854854" y="2050157"/>
            <a:ext cx="1714457" cy="787400"/>
          </a:xfrm>
          <a:prstGeom prst="rect">
            <a:avLst/>
          </a:prstGeom>
          <a:solidFill>
            <a:srgbClr val="DAE3E9"/>
          </a:solidFill>
          <a:ln/>
        </p:spPr>
      </p:sp>
      <p:sp>
        <p:nvSpPr>
          <p:cNvPr id="20" name="Text 18"/>
          <p:cNvSpPr/>
          <p:nvPr/>
        </p:nvSpPr>
        <p:spPr>
          <a:xfrm>
            <a:off x="10613065" y="2291556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7646F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42254" y="2958306"/>
            <a:ext cx="173985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Category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42254" y="3521174"/>
            <a:ext cx="573966" cy="31651"/>
          </a:xfrm>
          <a:prstGeom prst="roundRect">
            <a:avLst>
              <a:gd name="adj" fmla="val 49998"/>
            </a:avLst>
          </a:prstGeom>
          <a:solidFill>
            <a:srgbClr val="25303A"/>
          </a:solidFill>
          <a:ln/>
        </p:spPr>
      </p:sp>
      <p:sp>
        <p:nvSpPr>
          <p:cNvPr id="23" name="Text 21"/>
          <p:cNvSpPr/>
          <p:nvPr/>
        </p:nvSpPr>
        <p:spPr>
          <a:xfrm>
            <a:off x="9842254" y="3843437"/>
            <a:ext cx="173985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Another Booking?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8164" y="4638973"/>
            <a:ext cx="613394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26" dirty="0">
                <a:solidFill>
                  <a:srgbClr val="57646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final decision loops back for another booking.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kern="0" spc="198" dirty="0">
                <a:solidFill>
                  <a:srgbClr val="25303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JAVA PROJECT · 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1941810"/>
            <a:ext cx="11277318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600" kern="0" spc="-114" dirty="0">
                <a:solidFill>
                  <a:schemeClr val="bg1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Methods &amp;</a:t>
            </a:r>
            <a:endParaRPr lang="en-US" sz="7600" dirty="0">
              <a:solidFill>
                <a:schemeClr val="bg1"/>
              </a:solidFill>
            </a:endParaRPr>
          </a:p>
          <a:p>
            <a:pPr marL="0" indent="0" algn="l">
              <a:lnSpc>
                <a:spcPct val="83000"/>
              </a:lnSpc>
              <a:buNone/>
            </a:pPr>
            <a:r>
              <a:rPr lang="en-US" sz="7600" kern="0" spc="-114" dirty="0">
                <a:solidFill>
                  <a:schemeClr val="bg1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Modular Programming</a:t>
            </a:r>
            <a:endParaRPr lang="en-US" sz="7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189" y="4123035"/>
            <a:ext cx="3721503" cy="38100"/>
          </a:xfrm>
          <a:prstGeom prst="roundRect">
            <a:avLst>
              <a:gd name="adj" fmla="val 49999"/>
            </a:avLst>
          </a:prstGeom>
          <a:solidFill>
            <a:srgbClr val="AEB9C4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4392910"/>
            <a:ext cx="1127731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Reusable methods keep the Hotel Booking &amp; Occupancy Manager organized and easy to explain</a:t>
            </a: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632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09 · METHODS &amp; MODULAR PROGRAMMING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49895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One method turns input into a useful result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453455"/>
            <a:ext cx="1173450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Explain a method in order: definition → invocation → parameters → return value.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1944291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2246511"/>
            <a:ext cx="2590735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395041"/>
            <a:ext cx="25907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Input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189" y="2859187"/>
            <a:ext cx="259073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Values enter the method.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52716" y="1944291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52716" y="2246511"/>
            <a:ext cx="2590735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1" name="Text 9"/>
          <p:cNvSpPr/>
          <p:nvPr/>
        </p:nvSpPr>
        <p:spPr>
          <a:xfrm>
            <a:off x="3352716" y="2395041"/>
            <a:ext cx="25907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Method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52716" y="2859187"/>
            <a:ext cx="259073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Reusable project logic runs.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244" y="1944291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2246511"/>
            <a:ext cx="2590735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2395041"/>
            <a:ext cx="25907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Processing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48244" y="2859187"/>
            <a:ext cx="259073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method works with its inputs.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3771" y="1944291"/>
            <a:ext cx="8839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3771" y="2246511"/>
            <a:ext cx="2590735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3771" y="2395041"/>
            <a:ext cx="25907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Return Value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3771" y="2859187"/>
            <a:ext cx="259073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result goes back to the caller.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189" y="3715445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AEB9C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189" y="3977382"/>
            <a:ext cx="548626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Project methods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189" y="4441527"/>
            <a:ext cx="5486263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getRoomPrice()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getRoomType()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calculateTotal()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getCategory()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48244" y="3977382"/>
            <a:ext cx="548626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Data methods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48244" y="4441527"/>
            <a:ext cx="5486263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calculateSum()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calculateAverage()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searchBooking()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countLargeBookings()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614395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 · ARRAYS &amp; DATA PROCESSING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49895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Process booking room counts, one value at a time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453455"/>
            <a:ext cx="1127731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the project's one-dimensional array to store booking room counts and process each value with an enhanced for-each loop.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2257326"/>
            <a:ext cx="4389030" cy="4143474"/>
          </a:xfrm>
          <a:prstGeom prst="roundRect">
            <a:avLst>
              <a:gd name="adj" fmla="val 276"/>
            </a:avLst>
          </a:prstGeom>
          <a:solidFill>
            <a:srgbClr val="C5D6E7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2485926"/>
            <a:ext cx="416043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ARRAY + LOOP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783" y="2778621"/>
            <a:ext cx="393184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Actual data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783" y="3242766"/>
            <a:ext cx="3931841" cy="180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bookingRooms = {2, 1, 3, 4, 2}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Traversal: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the loop visits each booking value in sequence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Used for: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displaying values, searching, summation, average, and counting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150912" y="2257326"/>
            <a:ext cx="6583595" cy="41434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150912" y="2257326"/>
            <a:ext cx="6583595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1" name="Text 9"/>
          <p:cNvSpPr/>
          <p:nvPr/>
        </p:nvSpPr>
        <p:spPr>
          <a:xfrm>
            <a:off x="5379506" y="2524026"/>
            <a:ext cx="63550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FIVE EQUAL DATA BLOCKS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79506" y="2816721"/>
            <a:ext cx="612640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Booking room counts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379506" y="3280866"/>
            <a:ext cx="1103384" cy="791170"/>
          </a:xfrm>
          <a:prstGeom prst="rect">
            <a:avLst/>
          </a:prstGeom>
          <a:solidFill>
            <a:srgbClr val="DAE5F0"/>
          </a:solidFill>
          <a:ln w="6350">
            <a:solidFill>
              <a:srgbClr val="AEB9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50" y="3515816"/>
            <a:ext cx="63349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635187" y="3280866"/>
            <a:ext cx="1103483" cy="791170"/>
          </a:xfrm>
          <a:prstGeom prst="rect">
            <a:avLst/>
          </a:prstGeom>
          <a:solidFill>
            <a:srgbClr val="DAE5F0"/>
          </a:solidFill>
          <a:ln w="6350">
            <a:solidFill>
              <a:srgbClr val="AEB9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0131" y="3515816"/>
            <a:ext cx="63359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890967" y="3280866"/>
            <a:ext cx="1103384" cy="791170"/>
          </a:xfrm>
          <a:prstGeom prst="rect">
            <a:avLst/>
          </a:prstGeom>
          <a:solidFill>
            <a:srgbClr val="DAE5F0"/>
          </a:solidFill>
          <a:ln w="6350">
            <a:solidFill>
              <a:srgbClr val="AEB9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5912" y="3515816"/>
            <a:ext cx="63349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46649" y="3280866"/>
            <a:ext cx="1103483" cy="791170"/>
          </a:xfrm>
          <a:prstGeom prst="rect">
            <a:avLst/>
          </a:prstGeom>
          <a:solidFill>
            <a:srgbClr val="DAE5F0"/>
          </a:solidFill>
          <a:ln w="6350">
            <a:solidFill>
              <a:srgbClr val="AEB9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593" y="3515816"/>
            <a:ext cx="63359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402429" y="3280866"/>
            <a:ext cx="1103384" cy="791170"/>
          </a:xfrm>
          <a:prstGeom prst="rect">
            <a:avLst/>
          </a:prstGeom>
          <a:solidFill>
            <a:srgbClr val="DAE5F0"/>
          </a:solidFill>
          <a:ln w="6350">
            <a:solidFill>
              <a:srgbClr val="AEB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37373" y="3515816"/>
            <a:ext cx="63349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79506" y="4186337"/>
            <a:ext cx="635500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Visual:</a:t>
            </a:r>
            <a:r>
              <a:rPr lang="en-US" sz="1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five equal data blocks labelled 2 | 1 | 3 | 4 | 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60113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 · ARRAYS &amp; DATA PROCESSING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49895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One array stores each booking’s room count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453455"/>
            <a:ext cx="11277318" cy="81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Actual data: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bookingRooms = {2, 1, 3, 4, 2}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 enhanced for-each loop visits every booking value in sequence.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2441476"/>
            <a:ext cx="2011610" cy="1155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189" y="2441476"/>
            <a:ext cx="2011610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2708176"/>
            <a:ext cx="1554421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0" spc="-7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2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2773492" y="2441476"/>
            <a:ext cx="2011709" cy="1155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73492" y="2441476"/>
            <a:ext cx="201170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0" name="Text 8"/>
          <p:cNvSpPr/>
          <p:nvPr/>
        </p:nvSpPr>
        <p:spPr>
          <a:xfrm>
            <a:off x="3002086" y="2708176"/>
            <a:ext cx="155452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0" spc="-7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1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5089894" y="2441476"/>
            <a:ext cx="2011808" cy="1155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89894" y="2441476"/>
            <a:ext cx="2011808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3" name="Text 11"/>
          <p:cNvSpPr/>
          <p:nvPr/>
        </p:nvSpPr>
        <p:spPr>
          <a:xfrm>
            <a:off x="5318488" y="2708176"/>
            <a:ext cx="155462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0" spc="-7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3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7406395" y="2441476"/>
            <a:ext cx="2011709" cy="1155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6395" y="2441476"/>
            <a:ext cx="201170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6" name="Text 14"/>
          <p:cNvSpPr/>
          <p:nvPr/>
        </p:nvSpPr>
        <p:spPr>
          <a:xfrm>
            <a:off x="7634989" y="2708176"/>
            <a:ext cx="155452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0" spc="-7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4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9722797" y="2441476"/>
            <a:ext cx="2011709" cy="1155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722797" y="2441476"/>
            <a:ext cx="201170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9" name="Text 17"/>
          <p:cNvSpPr/>
          <p:nvPr/>
        </p:nvSpPr>
        <p:spPr>
          <a:xfrm>
            <a:off x="9951392" y="2708176"/>
            <a:ext cx="155452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0" spc="-7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2</a:t>
            </a:r>
            <a:endParaRPr lang="en-US" sz="5200" dirty="0"/>
          </a:p>
        </p:txBody>
      </p:sp>
      <p:sp>
        <p:nvSpPr>
          <p:cNvPr id="20" name="Shape 18"/>
          <p:cNvSpPr/>
          <p:nvPr/>
        </p:nvSpPr>
        <p:spPr>
          <a:xfrm>
            <a:off x="457189" y="3827363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AEB9C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189" y="4089301"/>
            <a:ext cx="541006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Process the values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189" y="4553446"/>
            <a:ext cx="541006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Display values · search · calculate a sum and average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24442" y="4089301"/>
            <a:ext cx="541006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Count bookings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24442" y="4553446"/>
            <a:ext cx="541006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the same data to count bookings that meet a condition.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30952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12 · ARRAY OPERATIONS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49895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Four operations answer occupancy questions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453455"/>
            <a:ext cx="11734506" cy="319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Start with the same booking-room values: </a:t>
            </a:r>
            <a:r>
              <a:rPr lang="en-US" sz="17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{2, 1, 3, 4, 2}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1950641"/>
            <a:ext cx="5486263" cy="192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189" y="1950641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2217341"/>
            <a:ext cx="539736" cy="539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783" y="2871391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Searching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783" y="3335536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Find the position of a requested room count.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8244" y="1950641"/>
            <a:ext cx="5486263" cy="192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248244" y="1950641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38" y="2217341"/>
            <a:ext cx="539736" cy="539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76838" y="2871391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Summation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476838" y="3335536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Calculate the total rooms booked.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57189" y="4181971"/>
            <a:ext cx="5486263" cy="192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189" y="4181971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83" y="4448671"/>
            <a:ext cx="539736" cy="539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783" y="5102721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Average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85783" y="5566866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Calculate the average number of rooms.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248244" y="4181971"/>
            <a:ext cx="5486263" cy="192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6248244" y="4181971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838" y="4448671"/>
            <a:ext cx="539736" cy="539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76838" y="5102721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Counting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476838" y="5566866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Count bookings with 3 or more rooms.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194219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457200"/>
            <a:ext cx="1203929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14 · INTEGRATED PROJECT PROGRAM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2396" y="749895"/>
            <a:ext cx="11886903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Bring the three Java parts together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52396" y="1453455"/>
            <a:ext cx="11886903" cy="595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Bring the three Java parts together in </a:t>
            </a:r>
            <a:r>
              <a:rPr lang="en-US" sz="1600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HotelBookingManager</a:t>
            </a:r>
            <a:r>
              <a:rPr lang="en-US" sz="16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from user input through booking logic and data operations to final output.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2286000"/>
            <a:ext cx="6095848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52396" y="2438400"/>
            <a:ext cx="579105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Booking 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396" y="2902545"/>
            <a:ext cx="579105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room selection → price calculation → customer category → input validation → multiple bookings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5848" y="2286000"/>
            <a:ext cx="6095848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248244" y="2438400"/>
            <a:ext cx="579105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Programming toolkit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48244" y="2902545"/>
            <a:ext cx="579105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methods, overloading, arrays, searching, summation, average, counting, recursion, matrix addition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2396" y="4776788"/>
            <a:ext cx="11886903" cy="31651"/>
          </a:xfrm>
          <a:prstGeom prst="roundRect">
            <a:avLst>
              <a:gd name="adj" fmla="val 49998"/>
            </a:avLst>
          </a:prstGeom>
          <a:solidFill>
            <a:srgbClr val="AEB9C4"/>
          </a:solidFill>
          <a:ln/>
        </p:spPr>
      </p:sp>
      <p:sp>
        <p:nvSpPr>
          <p:cNvPr id="12" name="Text 10"/>
          <p:cNvSpPr/>
          <p:nvPr/>
        </p:nvSpPr>
        <p:spPr>
          <a:xfrm>
            <a:off x="152396" y="5038725"/>
            <a:ext cx="1203929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0" y="5429845"/>
            <a:ext cx="1219169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6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 Input ↓ Booking Processing ↓ Methods &amp; Control Flow ↓ Array / Recursion Operations ↓ Final Output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26409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14 · INTEGRATED PROJECT PROGRAM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49895"/>
            <a:ext cx="11277318" cy="53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highlight>
                  <a:srgbClr val="FFFF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HotelBookingManager</a:t>
            </a: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 brings the parts together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478855"/>
            <a:ext cx="1173450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Three Java parts connect user input, booking logic, data operations, and final output.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1969691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2271911"/>
            <a:ext cx="201161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420441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User Input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189" y="2884587"/>
            <a:ext cx="20116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Room selection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73492" y="1969691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73492" y="2271911"/>
            <a:ext cx="201161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1" name="Text 9"/>
          <p:cNvSpPr/>
          <p:nvPr/>
        </p:nvSpPr>
        <p:spPr>
          <a:xfrm>
            <a:off x="2773492" y="2420441"/>
            <a:ext cx="201170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Booking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73492" y="2884587"/>
            <a:ext cx="2011709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Price calculation · customer category · input validation · multiple bookings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89894" y="1969691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89894" y="2271911"/>
            <a:ext cx="2011808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5" name="Text 13"/>
          <p:cNvSpPr/>
          <p:nvPr/>
        </p:nvSpPr>
        <p:spPr>
          <a:xfrm>
            <a:off x="5089894" y="2420441"/>
            <a:ext cx="2011808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Methods &amp; Control Flow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89894" y="3205857"/>
            <a:ext cx="201180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Reusable logic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406395" y="1969691"/>
            <a:ext cx="8839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06395" y="2271911"/>
            <a:ext cx="201161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395" y="2420441"/>
            <a:ext cx="2011709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Array / Recursion Operations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06395" y="3527127"/>
            <a:ext cx="201170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Search · sum · average · count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722797" y="1969691"/>
            <a:ext cx="88778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722797" y="2271911"/>
            <a:ext cx="201161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3" name="Text 21"/>
          <p:cNvSpPr/>
          <p:nvPr/>
        </p:nvSpPr>
        <p:spPr>
          <a:xfrm>
            <a:off x="9722797" y="2420441"/>
            <a:ext cx="201170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Final Output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722797" y="2884587"/>
            <a:ext cx="201170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Booking result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7189" y="4383385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AEB9C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189" y="4645323"/>
            <a:ext cx="548626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Programming toolkit: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methods · overloading · arrays · searching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48244" y="4645323"/>
            <a:ext cx="548626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summation · average · counting · recursion · matrix addition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58426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6706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16 · 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49895"/>
            <a:ext cx="7213420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16 · Conclusion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453455"/>
            <a:ext cx="72134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Hotel Booking &amp; Occupancy Manager shows how Java foundations can combine into a practical hotel booking application.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2257326"/>
            <a:ext cx="7213420" cy="2853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189" y="2257326"/>
            <a:ext cx="7213420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2524026"/>
            <a:ext cx="675623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Applied concepts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783" y="2988171"/>
            <a:ext cx="675623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Java foundations, control flow, methods, arrays, recursion, and matrix operations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783" y="3792041"/>
            <a:ext cx="675623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Takeaway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783" y="4256187"/>
            <a:ext cx="675623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structured program can turn booking rules and occupancy data into clear, reusable results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189" y="5288657"/>
            <a:ext cx="72134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Thank You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Project Members: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Bharadwaj &amp; Mukesh</a:t>
            </a:r>
            <a:endParaRPr lang="en-US" sz="17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0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1052</Words>
  <Application>Microsoft Office PowerPoint</Application>
  <PresentationFormat>Widescreen</PresentationFormat>
  <Paragraphs>236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Public Sans SemiBold</vt:lpstr>
      <vt:lpstr>Host Grotesk</vt:lpstr>
      <vt:lpstr>Public Sans Bold</vt:lpstr>
      <vt:lpstr>Public Sans</vt:lpstr>
      <vt:lpstr>Bitter Bold</vt:lpstr>
      <vt:lpstr>Host Grotesk SemiBold</vt:lpstr>
      <vt:lpstr>Host Grotesk Light</vt:lpstr>
      <vt:lpstr>Host Grotesk Medium</vt:lpstr>
      <vt:lpstr>Host Grotesk Bold</vt:lpstr>
      <vt:lpstr>Consolas</vt:lpstr>
      <vt:lpstr>Bitter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Bharadwaj Gangavarapu</cp:lastModifiedBy>
  <cp:revision>1</cp:revision>
  <dcterms:created xsi:type="dcterms:W3CDTF">2026-09-26T04:14:26Z</dcterms:created>
  <dcterms:modified xsi:type="dcterms:W3CDTF">2026-09-26T05:31:30Z</dcterms:modified>
</cp:coreProperties>
</file>