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Consolas" panose="020B0609020204030204" pitchFamily="49" charset="0"/>
      <p:regular r:id="rId15"/>
      <p:bold r:id="rId16"/>
      <p:italic r:id="rId17"/>
      <p:boldItalic r:id="rId18"/>
    </p:embeddedFont>
    <p:embeddedFont>
      <p:font typeface="Cormorant Garamond SemiBold" panose="020B0604020202020204" charset="0"/>
      <p:regular r:id="rId19"/>
    </p:embeddedFont>
    <p:embeddedFont>
      <p:font typeface="Source Sans 3" panose="020B0604020202020204" charset="0"/>
      <p:regular r:id="rId20"/>
    </p:embeddedFont>
    <p:embeddedFont>
      <p:font typeface="Source Sans 3 Bold" panose="020B0604020202020204" charset="0"/>
      <p:regular r:id="rId21"/>
    </p:embeddedFont>
    <p:embeddedFont>
      <p:font typeface="Source Sans 3 SemiBold" panose="020B0604020202020204" charset="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7EBA51-2BEC-449D-B8DC-ACC677183E1F}" v="8" dt="2026-10-16T03:54:32.8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adwaj Gangavarapu" userId="e53788ab4bbe805b" providerId="LiveId" clId="{9AFCBED6-7A31-446E-824B-855C20203D8A}"/>
    <pc:docChg chg="custSel addSld delSld modSld">
      <pc:chgData name="Bharadwaj Gangavarapu" userId="e53788ab4bbe805b" providerId="LiveId" clId="{9AFCBED6-7A31-446E-824B-855C20203D8A}" dt="2026-10-16T03:59:52.167" v="36" actId="1076"/>
      <pc:docMkLst>
        <pc:docMk/>
      </pc:docMkLst>
      <pc:sldChg chg="modSp mod">
        <pc:chgData name="Bharadwaj Gangavarapu" userId="e53788ab4bbe805b" providerId="LiveId" clId="{9AFCBED6-7A31-446E-824B-855C20203D8A}" dt="2026-10-16T03:59:52.167" v="36" actId="1076"/>
        <pc:sldMkLst>
          <pc:docMk/>
          <pc:sldMk cId="0" sldId="256"/>
        </pc:sldMkLst>
        <pc:spChg chg="mod">
          <ac:chgData name="Bharadwaj Gangavarapu" userId="e53788ab4bbe805b" providerId="LiveId" clId="{9AFCBED6-7A31-446E-824B-855C20203D8A}" dt="2026-10-16T03:59:52.167" v="36" actId="1076"/>
          <ac:spMkLst>
            <pc:docMk/>
            <pc:sldMk cId="0" sldId="256"/>
            <ac:spMk id="2" creationId="{00000000-0000-0000-0000-000000000000}"/>
          </ac:spMkLst>
        </pc:spChg>
        <pc:spChg chg="mod">
          <ac:chgData name="Bharadwaj Gangavarapu" userId="e53788ab4bbe805b" providerId="LiveId" clId="{9AFCBED6-7A31-446E-824B-855C20203D8A}" dt="2026-10-16T03:53:58.765" v="2" actId="27636"/>
          <ac:spMkLst>
            <pc:docMk/>
            <pc:sldMk cId="0" sldId="256"/>
            <ac:spMk id="4" creationId="{00000000-0000-0000-0000-000000000000}"/>
          </ac:spMkLst>
        </pc:spChg>
        <pc:spChg chg="mod">
          <ac:chgData name="Bharadwaj Gangavarapu" userId="e53788ab4bbe805b" providerId="LiveId" clId="{9AFCBED6-7A31-446E-824B-855C20203D8A}" dt="2026-10-16T03:59:10.897" v="30" actId="20577"/>
          <ac:spMkLst>
            <pc:docMk/>
            <pc:sldMk cId="0" sldId="256"/>
            <ac:spMk id="7" creationId="{00000000-0000-0000-0000-000000000000}"/>
          </ac:spMkLst>
        </pc:spChg>
      </pc:sldChg>
      <pc:sldChg chg="modSp mod">
        <pc:chgData name="Bharadwaj Gangavarapu" userId="e53788ab4bbe805b" providerId="LiveId" clId="{9AFCBED6-7A31-446E-824B-855C20203D8A}" dt="2026-10-16T03:53:58.776" v="3" actId="27636"/>
        <pc:sldMkLst>
          <pc:docMk/>
          <pc:sldMk cId="0" sldId="257"/>
        </pc:sldMkLst>
        <pc:spChg chg="mod">
          <ac:chgData name="Bharadwaj Gangavarapu" userId="e53788ab4bbe805b" providerId="LiveId" clId="{9AFCBED6-7A31-446E-824B-855C20203D8A}" dt="2026-10-16T03:53:58.776" v="3" actId="27636"/>
          <ac:spMkLst>
            <pc:docMk/>
            <pc:sldMk cId="0" sldId="257"/>
            <ac:spMk id="3" creationId="{00000000-0000-0000-0000-000000000000}"/>
          </ac:spMkLst>
        </pc:spChg>
      </pc:sldChg>
      <pc:sldChg chg="modSp mod">
        <pc:chgData name="Bharadwaj Gangavarapu" userId="e53788ab4bbe805b" providerId="LiveId" clId="{9AFCBED6-7A31-446E-824B-855C20203D8A}" dt="2026-10-16T03:57:04.206" v="28" actId="1036"/>
        <pc:sldMkLst>
          <pc:docMk/>
          <pc:sldMk cId="0" sldId="259"/>
        </pc:sldMkLst>
        <pc:spChg chg="mod">
          <ac:chgData name="Bharadwaj Gangavarapu" userId="e53788ab4bbe805b" providerId="LiveId" clId="{9AFCBED6-7A31-446E-824B-855C20203D8A}" dt="2026-10-16T03:57:04.206" v="28" actId="1036"/>
          <ac:spMkLst>
            <pc:docMk/>
            <pc:sldMk cId="0" sldId="259"/>
            <ac:spMk id="5" creationId="{00000000-0000-0000-0000-000000000000}"/>
          </ac:spMkLst>
        </pc:spChg>
        <pc:spChg chg="mod">
          <ac:chgData name="Bharadwaj Gangavarapu" userId="e53788ab4bbe805b" providerId="LiveId" clId="{9AFCBED6-7A31-446E-824B-855C20203D8A}" dt="2026-10-16T03:57:01.411" v="25" actId="207"/>
          <ac:spMkLst>
            <pc:docMk/>
            <pc:sldMk cId="0" sldId="259"/>
            <ac:spMk id="7" creationId="{00000000-0000-0000-0000-000000000000}"/>
          </ac:spMkLst>
        </pc:spChg>
        <pc:spChg chg="mod">
          <ac:chgData name="Bharadwaj Gangavarapu" userId="e53788ab4bbe805b" providerId="LiveId" clId="{9AFCBED6-7A31-446E-824B-855C20203D8A}" dt="2026-10-16T03:53:58.809" v="4" actId="27636"/>
          <ac:spMkLst>
            <pc:docMk/>
            <pc:sldMk cId="0" sldId="259"/>
            <ac:spMk id="19" creationId="{00000000-0000-0000-0000-000000000000}"/>
          </ac:spMkLst>
        </pc:spChg>
      </pc:sldChg>
      <pc:sldChg chg="modSp mod">
        <pc:chgData name="Bharadwaj Gangavarapu" userId="e53788ab4bbe805b" providerId="LiveId" clId="{9AFCBED6-7A31-446E-824B-855C20203D8A}" dt="2026-10-16T03:56:38.347" v="23" actId="207"/>
        <pc:sldMkLst>
          <pc:docMk/>
          <pc:sldMk cId="0" sldId="260"/>
        </pc:sldMkLst>
        <pc:spChg chg="mod">
          <ac:chgData name="Bharadwaj Gangavarapu" userId="e53788ab4bbe805b" providerId="LiveId" clId="{9AFCBED6-7A31-446E-824B-855C20203D8A}" dt="2026-10-16T03:56:38.347" v="23" actId="207"/>
          <ac:spMkLst>
            <pc:docMk/>
            <pc:sldMk cId="0" sldId="260"/>
            <ac:spMk id="7" creationId="{00000000-0000-0000-0000-000000000000}"/>
          </ac:spMkLst>
        </pc:spChg>
      </pc:sldChg>
      <pc:sldChg chg="modSp mod">
        <pc:chgData name="Bharadwaj Gangavarapu" userId="e53788ab4bbe805b" providerId="LiveId" clId="{9AFCBED6-7A31-446E-824B-855C20203D8A}" dt="2026-10-16T03:53:58.835" v="6" actId="27636"/>
        <pc:sldMkLst>
          <pc:docMk/>
          <pc:sldMk cId="0" sldId="261"/>
        </pc:sldMkLst>
        <pc:spChg chg="mod">
          <ac:chgData name="Bharadwaj Gangavarapu" userId="e53788ab4bbe805b" providerId="LiveId" clId="{9AFCBED6-7A31-446E-824B-855C20203D8A}" dt="2026-10-16T03:53:58.835" v="6" actId="27636"/>
          <ac:spMkLst>
            <pc:docMk/>
            <pc:sldMk cId="0" sldId="261"/>
            <ac:spMk id="7" creationId="{00000000-0000-0000-0000-000000000000}"/>
          </ac:spMkLst>
        </pc:spChg>
      </pc:sldChg>
      <pc:sldChg chg="modSp add mod">
        <pc:chgData name="Bharadwaj Gangavarapu" userId="e53788ab4bbe805b" providerId="LiveId" clId="{9AFCBED6-7A31-446E-824B-855C20203D8A}" dt="2026-10-16T03:54:09.001" v="10" actId="27636"/>
        <pc:sldMkLst>
          <pc:docMk/>
          <pc:sldMk cId="2359575501" sldId="262"/>
        </pc:sldMkLst>
        <pc:spChg chg="mod">
          <ac:chgData name="Bharadwaj Gangavarapu" userId="e53788ab4bbe805b" providerId="LiveId" clId="{9AFCBED6-7A31-446E-824B-855C20203D8A}" dt="2026-10-16T03:54:08.996" v="9" actId="27636"/>
          <ac:spMkLst>
            <pc:docMk/>
            <pc:sldMk cId="2359575501" sldId="262"/>
            <ac:spMk id="7" creationId="{00000000-0000-0000-0000-000000000000}"/>
          </ac:spMkLst>
        </pc:spChg>
        <pc:spChg chg="mod">
          <ac:chgData name="Bharadwaj Gangavarapu" userId="e53788ab4bbe805b" providerId="LiveId" clId="{9AFCBED6-7A31-446E-824B-855C20203D8A}" dt="2026-10-16T03:54:09.001" v="10" actId="27636"/>
          <ac:spMkLst>
            <pc:docMk/>
            <pc:sldMk cId="2359575501" sldId="262"/>
            <ac:spMk id="10" creationId="{00000000-0000-0000-0000-000000000000}"/>
          </ac:spMkLst>
        </pc:spChg>
      </pc:sldChg>
      <pc:sldChg chg="modSp add del mod">
        <pc:chgData name="Bharadwaj Gangavarapu" userId="e53788ab4bbe805b" providerId="LiveId" clId="{9AFCBED6-7A31-446E-824B-855C20203D8A}" dt="2026-10-16T03:54:07.221" v="7" actId="2696"/>
        <pc:sldMkLst>
          <pc:docMk/>
          <pc:sldMk cId="2586863712" sldId="262"/>
        </pc:sldMkLst>
        <pc:spChg chg="mod">
          <ac:chgData name="Bharadwaj Gangavarapu" userId="e53788ab4bbe805b" providerId="LiveId" clId="{9AFCBED6-7A31-446E-824B-855C20203D8A}" dt="2026-10-16T03:53:58.714" v="1" actId="27636"/>
          <ac:spMkLst>
            <pc:docMk/>
            <pc:sldMk cId="2586863712" sldId="262"/>
            <ac:spMk id="7" creationId="{00000000-0000-0000-0000-000000000000}"/>
          </ac:spMkLst>
        </pc:spChg>
      </pc:sldChg>
      <pc:sldChg chg="modSp add mod">
        <pc:chgData name="Bharadwaj Gangavarapu" userId="e53788ab4bbe805b" providerId="LiveId" clId="{9AFCBED6-7A31-446E-824B-855C20203D8A}" dt="2026-10-16T03:54:12.287" v="13" actId="27636"/>
        <pc:sldMkLst>
          <pc:docMk/>
          <pc:sldMk cId="1335003139" sldId="263"/>
        </pc:sldMkLst>
        <pc:spChg chg="mod">
          <ac:chgData name="Bharadwaj Gangavarapu" userId="e53788ab4bbe805b" providerId="LiveId" clId="{9AFCBED6-7A31-446E-824B-855C20203D8A}" dt="2026-10-16T03:54:12.276" v="12" actId="27636"/>
          <ac:spMkLst>
            <pc:docMk/>
            <pc:sldMk cId="1335003139" sldId="263"/>
            <ac:spMk id="7" creationId="{00000000-0000-0000-0000-000000000000}"/>
          </ac:spMkLst>
        </pc:spChg>
        <pc:spChg chg="mod">
          <ac:chgData name="Bharadwaj Gangavarapu" userId="e53788ab4bbe805b" providerId="LiveId" clId="{9AFCBED6-7A31-446E-824B-855C20203D8A}" dt="2026-10-16T03:54:12.287" v="13" actId="27636"/>
          <ac:spMkLst>
            <pc:docMk/>
            <pc:sldMk cId="1335003139" sldId="263"/>
            <ac:spMk id="10" creationId="{00000000-0000-0000-0000-000000000000}"/>
          </ac:spMkLst>
        </pc:spChg>
      </pc:sldChg>
      <pc:sldChg chg="modSp add mod">
        <pc:chgData name="Bharadwaj Gangavarapu" userId="e53788ab4bbe805b" providerId="LiveId" clId="{9AFCBED6-7A31-446E-824B-855C20203D8A}" dt="2026-10-16T03:54:14.347" v="15" actId="27636"/>
        <pc:sldMkLst>
          <pc:docMk/>
          <pc:sldMk cId="1175337580" sldId="264"/>
        </pc:sldMkLst>
        <pc:spChg chg="mod">
          <ac:chgData name="Bharadwaj Gangavarapu" userId="e53788ab4bbe805b" providerId="LiveId" clId="{9AFCBED6-7A31-446E-824B-855C20203D8A}" dt="2026-10-16T03:54:14.347" v="15" actId="27636"/>
          <ac:spMkLst>
            <pc:docMk/>
            <pc:sldMk cId="1175337580" sldId="264"/>
            <ac:spMk id="7" creationId="{00000000-0000-0000-0000-000000000000}"/>
          </ac:spMkLst>
        </pc:spChg>
      </pc:sldChg>
      <pc:sldChg chg="add">
        <pc:chgData name="Bharadwaj Gangavarapu" userId="e53788ab4bbe805b" providerId="LiveId" clId="{9AFCBED6-7A31-446E-824B-855C20203D8A}" dt="2026-10-16T03:54:16.639" v="16"/>
        <pc:sldMkLst>
          <pc:docMk/>
          <pc:sldMk cId="4259052195" sldId="265"/>
        </pc:sldMkLst>
      </pc:sldChg>
      <pc:sldChg chg="add">
        <pc:chgData name="Bharadwaj Gangavarapu" userId="e53788ab4bbe805b" providerId="LiveId" clId="{9AFCBED6-7A31-446E-824B-855C20203D8A}" dt="2026-10-16T03:54:18.511" v="17"/>
        <pc:sldMkLst>
          <pc:docMk/>
          <pc:sldMk cId="87584343" sldId="266"/>
        </pc:sldMkLst>
      </pc:sldChg>
      <pc:sldChg chg="add">
        <pc:chgData name="Bharadwaj Gangavarapu" userId="e53788ab4bbe805b" providerId="LiveId" clId="{9AFCBED6-7A31-446E-824B-855C20203D8A}" dt="2026-10-16T03:54:26.302" v="18"/>
        <pc:sldMkLst>
          <pc:docMk/>
          <pc:sldMk cId="2694314839" sldId="267"/>
        </pc:sldMkLst>
      </pc:sldChg>
      <pc:sldChg chg="add del">
        <pc:chgData name="Bharadwaj Gangavarapu" userId="e53788ab4bbe805b" providerId="LiveId" clId="{9AFCBED6-7A31-446E-824B-855C20203D8A}" dt="2026-10-16T03:55:07.082" v="20" actId="2696"/>
        <pc:sldMkLst>
          <pc:docMk/>
          <pc:sldMk cId="2162490446"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032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Java application for organizing hotel bookings and occupancy-related decisions. Identify the team members and invite the audience to follow the application from input to summary.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application begins with a small set of booking inputs, then performs the calculations and classification needed by hotel staff. The outcome is a consistent summary rather than a manual calculation.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across the flow from start to end. Emphasize that the application is a chain of decisions: details are entered, a room is selected, values are validated, the total is calculated, membership is assigned, and the final summary is displayed.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each foundation to the hotel brief. The program needs named variables for booking details, operators for the total, and Scanner input so a user can provide the values at runtime.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switch selects one of the three room types and how default handles an invalid choice. Then explain that conditional ladders assign membership bands after validation and calculation. Loops make repeated booking entries possible.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showing how methods separate responsibilities and arrays organize repeated booking data. The same manager can grow through additional course outcomes in Part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HotelBooking object keeps its data private. The InvalidBookingException is a custom exception that stops an impossible booking, such as zero rooms, before it is saved.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57029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trim, toLowerCase and equals make names comparable. try-with-resources closes the file streams even when an error occurs. Searching then filters saved booking records by customer name or room type.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23997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an ArrayList stores many booking objects, a HashMap links each customer to an amount, and streams analyse the list in one readable statement. The sum shows the total booking amount.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10907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how each course outcome contributes to the manager. Stress that the future scope items are proposals and are not part of the current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698924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482062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956037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5F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F5F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73B35"/>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haradwaj-08/Hotel-Booking-Occupancy-Manager"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7938"/>
            <a:ext cx="7315017" cy="6858000"/>
          </a:xfrm>
          <a:prstGeom prst="rect">
            <a:avLst/>
          </a:prstGeom>
          <a:solidFill>
            <a:srgbClr val="173B35"/>
          </a:solidFill>
          <a:ln/>
        </p:spPr>
        <p:txBody>
          <a:bodyPr/>
          <a:lstStyle/>
          <a:p>
            <a:endParaRPr lang="en-IN" dirty="0"/>
          </a:p>
        </p:txBody>
      </p:sp>
      <p:sp>
        <p:nvSpPr>
          <p:cNvPr id="3" name="Text 1"/>
          <p:cNvSpPr/>
          <p:nvPr/>
        </p:nvSpPr>
        <p:spPr>
          <a:xfrm>
            <a:off x="533387" y="685800"/>
            <a:ext cx="6781630"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C5A46D"/>
                </a:solidFill>
                <a:latin typeface="Source Sans 3" pitchFamily="34" charset="0"/>
                <a:ea typeface="Source Sans 3" pitchFamily="34" charset="-122"/>
                <a:cs typeface="Source Sans 3" pitchFamily="34" charset="-120"/>
              </a:rPr>
              <a:t>COLLEGE PROJECT · JAVA APPLICATION</a:t>
            </a:r>
            <a:endParaRPr lang="en-US" sz="1200" dirty="0"/>
          </a:p>
        </p:txBody>
      </p:sp>
      <p:sp>
        <p:nvSpPr>
          <p:cNvPr id="4" name="Text 2"/>
          <p:cNvSpPr/>
          <p:nvPr/>
        </p:nvSpPr>
        <p:spPr>
          <a:xfrm>
            <a:off x="533387" y="2039938"/>
            <a:ext cx="6299042" cy="1168400"/>
          </a:xfrm>
          <a:prstGeom prst="rect">
            <a:avLst/>
          </a:prstGeom>
          <a:noFill/>
          <a:ln/>
        </p:spPr>
        <p:txBody>
          <a:bodyPr wrap="square" lIns="0" tIns="0" rIns="0" bIns="0" rtlCol="0" anchor="t">
            <a:normAutofit lnSpcReduction="10000"/>
          </a:bodyPr>
          <a:lstStyle/>
          <a:p>
            <a:pPr marL="0" indent="0" algn="l">
              <a:lnSpc>
                <a:spcPct val="83000"/>
              </a:lnSpc>
              <a:buNone/>
            </a:pPr>
            <a:r>
              <a:rPr lang="en-US" sz="4600" kern="100" spc="-46" dirty="0">
                <a:solidFill>
                  <a:srgbClr val="FFFFFF"/>
                </a:solidFill>
                <a:latin typeface="Cormorant Garamond SemiBold" pitchFamily="34" charset="0"/>
                <a:ea typeface="Cormorant Garamond SemiBold" pitchFamily="34" charset="-122"/>
                <a:cs typeface="Cormorant Garamond SemiBold" pitchFamily="34" charset="-120"/>
              </a:rPr>
              <a:t>Hotel Booking &amp;</a:t>
            </a:r>
            <a:endParaRPr lang="en-US" sz="4600" dirty="0"/>
          </a:p>
          <a:p>
            <a:pPr marL="0" indent="0" algn="l">
              <a:lnSpc>
                <a:spcPct val="83000"/>
              </a:lnSpc>
              <a:buNone/>
            </a:pPr>
            <a:r>
              <a:rPr lang="en-US" sz="4600" i="1" kern="100" spc="-46" dirty="0">
                <a:solidFill>
                  <a:srgbClr val="FFFFFF"/>
                </a:solidFill>
                <a:latin typeface="Cormorant Garamond SemiBold" pitchFamily="34" charset="0"/>
                <a:ea typeface="Cormorant Garamond SemiBold" pitchFamily="34" charset="-122"/>
                <a:cs typeface="Cormorant Garamond SemiBold" pitchFamily="34" charset="-120"/>
              </a:rPr>
              <a:t>Occupancy Manager</a:t>
            </a:r>
            <a:endParaRPr lang="en-US" sz="4600" dirty="0"/>
          </a:p>
        </p:txBody>
      </p:sp>
      <p:sp>
        <p:nvSpPr>
          <p:cNvPr id="5" name="Shape 3"/>
          <p:cNvSpPr/>
          <p:nvPr/>
        </p:nvSpPr>
        <p:spPr>
          <a:xfrm>
            <a:off x="533387" y="3436938"/>
            <a:ext cx="2078680" cy="31651"/>
          </a:xfrm>
          <a:prstGeom prst="roundRect">
            <a:avLst>
              <a:gd name="adj" fmla="val 49998"/>
            </a:avLst>
          </a:prstGeom>
          <a:solidFill>
            <a:srgbClr val="C5A46D"/>
          </a:solidFill>
          <a:ln/>
        </p:spPr>
      </p:sp>
      <p:sp>
        <p:nvSpPr>
          <p:cNvPr id="6" name="Text 4"/>
          <p:cNvSpPr/>
          <p:nvPr/>
        </p:nvSpPr>
        <p:spPr>
          <a:xfrm>
            <a:off x="533387" y="3714750"/>
            <a:ext cx="6781630" cy="302220"/>
          </a:xfrm>
          <a:prstGeom prst="rect">
            <a:avLst/>
          </a:prstGeom>
          <a:noFill/>
          <a:ln/>
        </p:spPr>
        <p:txBody>
          <a:bodyPr wrap="none" lIns="0" tIns="0" rIns="0" bIns="0" rtlCol="0" anchor="t"/>
          <a:lstStyle/>
          <a:p>
            <a:pPr marL="0" indent="0" algn="l">
              <a:lnSpc>
                <a:spcPct val="117000"/>
              </a:lnSpc>
              <a:buNone/>
            </a:pPr>
            <a:r>
              <a:rPr lang="en-US" sz="1700" dirty="0">
                <a:solidFill>
                  <a:srgbClr val="FFFFFF"/>
                </a:solidFill>
                <a:latin typeface="Source Sans 3" pitchFamily="34" charset="0"/>
                <a:ea typeface="Source Sans 3" pitchFamily="34" charset="-122"/>
                <a:cs typeface="Source Sans 3" pitchFamily="34" charset="-120"/>
              </a:rPr>
              <a:t>A structured way to turn booking inputs into a clear stay summary.</a:t>
            </a:r>
            <a:endParaRPr lang="en-US" sz="1700" dirty="0"/>
          </a:p>
        </p:txBody>
      </p:sp>
      <p:sp>
        <p:nvSpPr>
          <p:cNvPr id="7" name="Text 5"/>
          <p:cNvSpPr/>
          <p:nvPr/>
        </p:nvSpPr>
        <p:spPr>
          <a:xfrm>
            <a:off x="533387" y="5118100"/>
            <a:ext cx="6299042" cy="1054100"/>
          </a:xfrm>
          <a:prstGeom prst="rect">
            <a:avLst/>
          </a:prstGeom>
          <a:noFill/>
          <a:ln/>
        </p:spPr>
        <p:txBody>
          <a:bodyPr wrap="square" lIns="0" tIns="0" rIns="0" bIns="0" rtlCol="0" anchor="t"/>
          <a:lstStyle/>
          <a:p>
            <a:pPr marL="0" indent="0" algn="l">
              <a:lnSpc>
                <a:spcPct val="117000"/>
              </a:lnSpc>
              <a:spcAft>
                <a:spcPts val="1500"/>
              </a:spcAft>
              <a:buNone/>
            </a:pPr>
            <a:r>
              <a:rPr lang="en-US" sz="1250" dirty="0">
                <a:solidFill>
                  <a:srgbClr val="C5A46D"/>
                </a:solidFill>
                <a:latin typeface="Source Sans 3" pitchFamily="34" charset="0"/>
                <a:ea typeface="Source Sans 3" pitchFamily="34" charset="-122"/>
                <a:cs typeface="Source Sans 3" pitchFamily="34" charset="-120"/>
              </a:rPr>
              <a:t>Bharadwaj – 2620080095 · Mukesh – 2620090110</a:t>
            </a:r>
            <a:endParaRPr lang="en-US" sz="1250" dirty="0"/>
          </a:p>
        </p:txBody>
      </p:sp>
      <p:pic>
        <p:nvPicPr>
          <p:cNvPr id="8" name="Image 0" descr="preencoded.png"/>
          <p:cNvPicPr>
            <a:picLocks noChangeAspect="1"/>
          </p:cNvPicPr>
          <p:nvPr/>
        </p:nvPicPr>
        <p:blipFill>
          <a:blip r:embed="rId3"/>
          <a:stretch>
            <a:fillRect/>
          </a:stretch>
        </p:blipFill>
        <p:spPr>
          <a:xfrm>
            <a:off x="7315017" y="0"/>
            <a:ext cx="4876678" cy="6858000"/>
          </a:xfrm>
          <a:prstGeom prst="rect">
            <a:avLst/>
          </a:prstGeom>
        </p:spPr>
      </p:pic>
      <p:sp>
        <p:nvSpPr>
          <p:cNvPr id="9" name="Text 6"/>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3387" y="533400"/>
            <a:ext cx="7188020"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APPLICATION PURPOSE</a:t>
            </a:r>
            <a:endParaRPr lang="en-US" sz="1200" dirty="0"/>
          </a:p>
        </p:txBody>
      </p:sp>
      <p:sp>
        <p:nvSpPr>
          <p:cNvPr id="3" name="Text 1"/>
          <p:cNvSpPr/>
          <p:nvPr/>
        </p:nvSpPr>
        <p:spPr>
          <a:xfrm>
            <a:off x="533387" y="853400"/>
            <a:ext cx="6756231" cy="822920"/>
          </a:xfrm>
          <a:prstGeom prst="rect">
            <a:avLst/>
          </a:prstGeom>
          <a:noFill/>
          <a:ln/>
        </p:spPr>
        <p:txBody>
          <a:bodyPr wrap="square" lIns="0" tIns="0" rIns="0" bIns="0" rtlCol="0" anchor="t">
            <a:normAutofit lnSpcReduction="10000"/>
          </a:bodyPr>
          <a:lstStyle/>
          <a:p>
            <a:pPr marL="0" indent="0" algn="l">
              <a:lnSpc>
                <a:spcPct val="90000"/>
              </a:lnSpc>
              <a:buNone/>
            </a:pPr>
            <a:r>
              <a:rPr lang="en-US" sz="3000" kern="100" spc="-30" dirty="0">
                <a:solidFill>
                  <a:srgbClr val="173B35"/>
                </a:solidFill>
                <a:latin typeface="Cormorant Garamond SemiBold" pitchFamily="34" charset="0"/>
                <a:ea typeface="Cormorant Garamond SemiBold" pitchFamily="34" charset="-122"/>
                <a:cs typeface="Cormorant Garamond SemiBold" pitchFamily="34" charset="-120"/>
              </a:rPr>
              <a:t>A Java application that turns booking inputs into a clear stay summary</a:t>
            </a:r>
            <a:endParaRPr lang="en-US" sz="3000" dirty="0"/>
          </a:p>
        </p:txBody>
      </p:sp>
      <p:sp>
        <p:nvSpPr>
          <p:cNvPr id="4" name="Shape 2"/>
          <p:cNvSpPr/>
          <p:nvPr/>
        </p:nvSpPr>
        <p:spPr>
          <a:xfrm>
            <a:off x="533387" y="1923653"/>
            <a:ext cx="2229489" cy="31651"/>
          </a:xfrm>
          <a:prstGeom prst="roundRect">
            <a:avLst>
              <a:gd name="adj" fmla="val 49998"/>
            </a:avLst>
          </a:prstGeom>
          <a:solidFill>
            <a:srgbClr val="C5A46D"/>
          </a:solidFill>
          <a:ln/>
        </p:spPr>
      </p:sp>
      <p:pic>
        <p:nvPicPr>
          <p:cNvPr id="5" name="Image 0" descr="preencoded.png"/>
          <p:cNvPicPr>
            <a:picLocks noChangeAspect="1"/>
          </p:cNvPicPr>
          <p:nvPr/>
        </p:nvPicPr>
        <p:blipFill>
          <a:blip r:embed="rId3"/>
          <a:stretch>
            <a:fillRect/>
          </a:stretch>
        </p:blipFill>
        <p:spPr>
          <a:xfrm>
            <a:off x="533387" y="2201466"/>
            <a:ext cx="539736" cy="539750"/>
          </a:xfrm>
          <a:prstGeom prst="rect">
            <a:avLst/>
          </a:prstGeom>
        </p:spPr>
      </p:pic>
      <p:sp>
        <p:nvSpPr>
          <p:cNvPr id="6" name="Text 3"/>
          <p:cNvSpPr/>
          <p:nvPr/>
        </p:nvSpPr>
        <p:spPr>
          <a:xfrm>
            <a:off x="533387" y="2876598"/>
            <a:ext cx="3301917" cy="233164"/>
          </a:xfrm>
          <a:prstGeom prst="rect">
            <a:avLst/>
          </a:prstGeom>
          <a:noFill/>
          <a:ln/>
        </p:spPr>
        <p:txBody>
          <a:bodyPr wrap="none" lIns="0" tIns="0" rIns="0" bIns="0" rtlCol="0" anchor="t"/>
          <a:lstStyle/>
          <a:p>
            <a:pPr marL="0" indent="0" algn="l">
              <a:lnSpc>
                <a:spcPct val="90000"/>
              </a:lnSpc>
              <a:buNone/>
            </a:pPr>
            <a:r>
              <a:rPr lang="en-US" sz="1700" kern="100" spc="-17" dirty="0">
                <a:solidFill>
                  <a:srgbClr val="173B35"/>
                </a:solidFill>
                <a:latin typeface="Source Sans 3 SemiBold" pitchFamily="34" charset="0"/>
                <a:ea typeface="Source Sans 3 SemiBold" pitchFamily="34" charset="-122"/>
                <a:cs typeface="Source Sans 3 SemiBold" pitchFamily="34" charset="-120"/>
              </a:rPr>
              <a:t>Capture the booking</a:t>
            </a:r>
            <a:endParaRPr lang="en-US" sz="1700" dirty="0"/>
          </a:p>
        </p:txBody>
      </p:sp>
      <p:sp>
        <p:nvSpPr>
          <p:cNvPr id="7" name="Text 4"/>
          <p:cNvSpPr/>
          <p:nvPr/>
        </p:nvSpPr>
        <p:spPr>
          <a:xfrm>
            <a:off x="533387" y="3256955"/>
            <a:ext cx="3301917"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29343A"/>
                </a:solidFill>
                <a:latin typeface="Source Sans 3" pitchFamily="34" charset="0"/>
                <a:ea typeface="Source Sans 3" pitchFamily="34" charset="-122"/>
                <a:cs typeface="Source Sans 3" pitchFamily="34" charset="-120"/>
              </a:rPr>
              <a:t>Accepts customer name, room type, number of rooms, and number of days.</a:t>
            </a:r>
            <a:endParaRPr lang="en-US" sz="1500" dirty="0"/>
          </a:p>
        </p:txBody>
      </p:sp>
      <p:pic>
        <p:nvPicPr>
          <p:cNvPr id="8" name="Image 1" descr="preencoded.png"/>
          <p:cNvPicPr>
            <a:picLocks noChangeAspect="1"/>
          </p:cNvPicPr>
          <p:nvPr/>
        </p:nvPicPr>
        <p:blipFill>
          <a:blip r:embed="rId4"/>
          <a:stretch>
            <a:fillRect/>
          </a:stretch>
        </p:blipFill>
        <p:spPr>
          <a:xfrm>
            <a:off x="3987700" y="2201466"/>
            <a:ext cx="539736" cy="539750"/>
          </a:xfrm>
          <a:prstGeom prst="rect">
            <a:avLst/>
          </a:prstGeom>
        </p:spPr>
      </p:pic>
      <p:sp>
        <p:nvSpPr>
          <p:cNvPr id="9" name="Text 5"/>
          <p:cNvSpPr/>
          <p:nvPr/>
        </p:nvSpPr>
        <p:spPr>
          <a:xfrm>
            <a:off x="3987700" y="2876598"/>
            <a:ext cx="3301917" cy="233164"/>
          </a:xfrm>
          <a:prstGeom prst="rect">
            <a:avLst/>
          </a:prstGeom>
          <a:noFill/>
          <a:ln/>
        </p:spPr>
        <p:txBody>
          <a:bodyPr wrap="none" lIns="0" tIns="0" rIns="0" bIns="0" rtlCol="0" anchor="t"/>
          <a:lstStyle/>
          <a:p>
            <a:pPr marL="0" indent="0" algn="l">
              <a:lnSpc>
                <a:spcPct val="90000"/>
              </a:lnSpc>
              <a:buNone/>
            </a:pPr>
            <a:r>
              <a:rPr lang="en-US" sz="1700" kern="100" spc="-17" dirty="0">
                <a:solidFill>
                  <a:srgbClr val="173B35"/>
                </a:solidFill>
                <a:latin typeface="Source Sans 3 SemiBold" pitchFamily="34" charset="0"/>
                <a:ea typeface="Source Sans 3 SemiBold" pitchFamily="34" charset="-122"/>
                <a:cs typeface="Source Sans 3 SemiBold" pitchFamily="34" charset="-120"/>
              </a:rPr>
              <a:t>Calculate the stay</a:t>
            </a:r>
            <a:endParaRPr lang="en-US" sz="1700" dirty="0"/>
          </a:p>
        </p:txBody>
      </p:sp>
      <p:sp>
        <p:nvSpPr>
          <p:cNvPr id="10" name="Text 6"/>
          <p:cNvSpPr/>
          <p:nvPr/>
        </p:nvSpPr>
        <p:spPr>
          <a:xfrm>
            <a:off x="3987700" y="3256955"/>
            <a:ext cx="3301917"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29343A"/>
                </a:solidFill>
                <a:latin typeface="Source Sans 3" pitchFamily="34" charset="0"/>
                <a:ea typeface="Source Sans 3" pitchFamily="34" charset="-122"/>
                <a:cs typeface="Source Sans 3" pitchFamily="34" charset="-120"/>
              </a:rPr>
              <a:t>Calculates total room charge from price × rooms × days.</a:t>
            </a:r>
            <a:endParaRPr lang="en-US" sz="1500" dirty="0"/>
          </a:p>
        </p:txBody>
      </p:sp>
      <p:pic>
        <p:nvPicPr>
          <p:cNvPr id="11" name="Image 2" descr="preencoded.png"/>
          <p:cNvPicPr>
            <a:picLocks noChangeAspect="1"/>
          </p:cNvPicPr>
          <p:nvPr/>
        </p:nvPicPr>
        <p:blipFill>
          <a:blip r:embed="rId5"/>
          <a:stretch>
            <a:fillRect/>
          </a:stretch>
        </p:blipFill>
        <p:spPr>
          <a:xfrm>
            <a:off x="533387" y="3942755"/>
            <a:ext cx="539736" cy="539750"/>
          </a:xfrm>
          <a:prstGeom prst="rect">
            <a:avLst/>
          </a:prstGeom>
        </p:spPr>
      </p:pic>
      <p:sp>
        <p:nvSpPr>
          <p:cNvPr id="12" name="Text 7"/>
          <p:cNvSpPr/>
          <p:nvPr/>
        </p:nvSpPr>
        <p:spPr>
          <a:xfrm>
            <a:off x="533387" y="4617887"/>
            <a:ext cx="3301917" cy="233164"/>
          </a:xfrm>
          <a:prstGeom prst="rect">
            <a:avLst/>
          </a:prstGeom>
          <a:noFill/>
          <a:ln/>
        </p:spPr>
        <p:txBody>
          <a:bodyPr wrap="none" lIns="0" tIns="0" rIns="0" bIns="0" rtlCol="0" anchor="t"/>
          <a:lstStyle/>
          <a:p>
            <a:pPr marL="0" indent="0" algn="l">
              <a:lnSpc>
                <a:spcPct val="90000"/>
              </a:lnSpc>
              <a:buNone/>
            </a:pPr>
            <a:r>
              <a:rPr lang="en-US" sz="1700" kern="100" spc="-17" dirty="0">
                <a:solidFill>
                  <a:srgbClr val="173B35"/>
                </a:solidFill>
                <a:latin typeface="Source Sans 3 SemiBold" pitchFamily="34" charset="0"/>
                <a:ea typeface="Source Sans 3 SemiBold" pitchFamily="34" charset="-122"/>
                <a:cs typeface="Source Sans 3 SemiBold" pitchFamily="34" charset="-120"/>
              </a:rPr>
              <a:t>Assign membership</a:t>
            </a:r>
            <a:endParaRPr lang="en-US" sz="1700" dirty="0"/>
          </a:p>
        </p:txBody>
      </p:sp>
      <p:sp>
        <p:nvSpPr>
          <p:cNvPr id="13" name="Text 8"/>
          <p:cNvSpPr/>
          <p:nvPr/>
        </p:nvSpPr>
        <p:spPr>
          <a:xfrm>
            <a:off x="533387" y="4998244"/>
            <a:ext cx="3301917"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29343A"/>
                </a:solidFill>
                <a:latin typeface="Source Sans 3" pitchFamily="34" charset="0"/>
                <a:ea typeface="Source Sans 3" pitchFamily="34" charset="-122"/>
                <a:cs typeface="Source Sans 3" pitchFamily="34" charset="-120"/>
              </a:rPr>
              <a:t>Assigns Basic, Silver, Gold, or Platinum membership from the booking amount.</a:t>
            </a:r>
            <a:endParaRPr lang="en-US" sz="1500" dirty="0"/>
          </a:p>
        </p:txBody>
      </p:sp>
      <p:pic>
        <p:nvPicPr>
          <p:cNvPr id="14" name="Image 3" descr="preencoded.png"/>
          <p:cNvPicPr>
            <a:picLocks noChangeAspect="1"/>
          </p:cNvPicPr>
          <p:nvPr/>
        </p:nvPicPr>
        <p:blipFill>
          <a:blip r:embed="rId6"/>
          <a:stretch>
            <a:fillRect/>
          </a:stretch>
        </p:blipFill>
        <p:spPr>
          <a:xfrm>
            <a:off x="3987700" y="3942755"/>
            <a:ext cx="539736" cy="539750"/>
          </a:xfrm>
          <a:prstGeom prst="rect">
            <a:avLst/>
          </a:prstGeom>
        </p:spPr>
      </p:pic>
      <p:sp>
        <p:nvSpPr>
          <p:cNvPr id="15" name="Text 9"/>
          <p:cNvSpPr/>
          <p:nvPr/>
        </p:nvSpPr>
        <p:spPr>
          <a:xfrm>
            <a:off x="3987700" y="4617887"/>
            <a:ext cx="3301917" cy="233164"/>
          </a:xfrm>
          <a:prstGeom prst="rect">
            <a:avLst/>
          </a:prstGeom>
          <a:noFill/>
          <a:ln/>
        </p:spPr>
        <p:txBody>
          <a:bodyPr wrap="none" lIns="0" tIns="0" rIns="0" bIns="0" rtlCol="0" anchor="t"/>
          <a:lstStyle/>
          <a:p>
            <a:pPr marL="0" indent="0" algn="l">
              <a:lnSpc>
                <a:spcPct val="90000"/>
              </a:lnSpc>
              <a:buNone/>
            </a:pPr>
            <a:r>
              <a:rPr lang="en-US" sz="1700" kern="100" spc="-17" dirty="0">
                <a:solidFill>
                  <a:srgbClr val="173B35"/>
                </a:solidFill>
                <a:latin typeface="Source Sans 3 SemiBold" pitchFamily="34" charset="0"/>
                <a:ea typeface="Source Sans 3 SemiBold" pitchFamily="34" charset="-122"/>
                <a:cs typeface="Source Sans 3 SemiBold" pitchFamily="34" charset="-120"/>
              </a:rPr>
              <a:t>Support staff decisions</a:t>
            </a:r>
            <a:endParaRPr lang="en-US" sz="1700" dirty="0"/>
          </a:p>
        </p:txBody>
      </p:sp>
      <p:sp>
        <p:nvSpPr>
          <p:cNvPr id="16" name="Text 10"/>
          <p:cNvSpPr/>
          <p:nvPr/>
        </p:nvSpPr>
        <p:spPr>
          <a:xfrm>
            <a:off x="3987700" y="4998244"/>
            <a:ext cx="3301917" cy="8001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29343A"/>
                </a:solidFill>
                <a:latin typeface="Source Sans 3" pitchFamily="34" charset="0"/>
                <a:ea typeface="Source Sans 3" pitchFamily="34" charset="-122"/>
                <a:cs typeface="Source Sans 3" pitchFamily="34" charset="-120"/>
              </a:rPr>
              <a:t>Reduces manual effort, improves consistency, validates inputs, and gives staff a quick booking summary.</a:t>
            </a:r>
            <a:endParaRPr lang="en-US" sz="1500" dirty="0"/>
          </a:p>
        </p:txBody>
      </p:sp>
      <p:pic>
        <p:nvPicPr>
          <p:cNvPr id="17" name="Image 4" descr="preencoded.png"/>
          <p:cNvPicPr>
            <a:picLocks noChangeAspect="1"/>
          </p:cNvPicPr>
          <p:nvPr/>
        </p:nvPicPr>
        <p:blipFill>
          <a:blip r:embed="rId7"/>
          <a:stretch>
            <a:fillRect/>
          </a:stretch>
        </p:blipFill>
        <p:spPr>
          <a:xfrm>
            <a:off x="7721407" y="0"/>
            <a:ext cx="4470288" cy="6858000"/>
          </a:xfrm>
          <a:prstGeom prst="rect">
            <a:avLst/>
          </a:prstGeom>
        </p:spPr>
      </p:pic>
      <p:sp>
        <p:nvSpPr>
          <p:cNvPr id="18" name="Shape 11"/>
          <p:cNvSpPr/>
          <p:nvPr/>
        </p:nvSpPr>
        <p:spPr>
          <a:xfrm>
            <a:off x="7715057" y="0"/>
            <a:ext cx="12700" cy="6858000"/>
          </a:xfrm>
          <a:prstGeom prst="rect">
            <a:avLst/>
          </a:prstGeom>
          <a:solidFill>
            <a:srgbClr val="C5A46D"/>
          </a:solidFill>
          <a:ln/>
        </p:spPr>
      </p:sp>
      <p:sp>
        <p:nvSpPr>
          <p:cNvPr id="19" name="Text 12"/>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3387" y="431800"/>
            <a:ext cx="11658308"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DECISION FLOW</a:t>
            </a:r>
            <a:endParaRPr lang="en-US" sz="1200" dirty="0"/>
          </a:p>
        </p:txBody>
      </p:sp>
      <p:sp>
        <p:nvSpPr>
          <p:cNvPr id="3" name="Text 1"/>
          <p:cNvSpPr/>
          <p:nvPr/>
        </p:nvSpPr>
        <p:spPr>
          <a:xfrm>
            <a:off x="533387" y="751800"/>
            <a:ext cx="11124922" cy="411460"/>
          </a:xfrm>
          <a:prstGeom prst="rect">
            <a:avLst/>
          </a:prstGeom>
          <a:noFill/>
          <a:ln/>
        </p:spPr>
        <p:txBody>
          <a:bodyPr wrap="none" lIns="0" tIns="0" rIns="0" bIns="0" rtlCol="0" anchor="t"/>
          <a:lstStyle/>
          <a:p>
            <a:pPr marL="0" indent="0" algn="l">
              <a:lnSpc>
                <a:spcPct val="90000"/>
              </a:lnSpc>
              <a:buNone/>
            </a:pPr>
            <a:r>
              <a:rPr lang="en-US" sz="3000" kern="100" spc="-30" dirty="0">
                <a:solidFill>
                  <a:srgbClr val="173B35"/>
                </a:solidFill>
                <a:latin typeface="Cormorant Garamond SemiBold" pitchFamily="34" charset="0"/>
                <a:ea typeface="Cormorant Garamond SemiBold" pitchFamily="34" charset="-122"/>
                <a:cs typeface="Cormorant Garamond SemiBold" pitchFamily="34" charset="-120"/>
              </a:rPr>
              <a:t>The problem is a chain of decisions, not just a room-price calculation</a:t>
            </a:r>
            <a:endParaRPr lang="en-US" sz="3000" dirty="0"/>
          </a:p>
        </p:txBody>
      </p:sp>
      <p:sp>
        <p:nvSpPr>
          <p:cNvPr id="4" name="Shape 2"/>
          <p:cNvSpPr/>
          <p:nvPr/>
        </p:nvSpPr>
        <p:spPr>
          <a:xfrm>
            <a:off x="533387" y="1410593"/>
            <a:ext cx="3671200" cy="31651"/>
          </a:xfrm>
          <a:prstGeom prst="roundRect">
            <a:avLst>
              <a:gd name="adj" fmla="val 49998"/>
            </a:avLst>
          </a:prstGeom>
          <a:solidFill>
            <a:srgbClr val="C5A46D"/>
          </a:solidFill>
          <a:ln/>
        </p:spPr>
      </p:sp>
      <p:sp>
        <p:nvSpPr>
          <p:cNvPr id="5" name="Text 3"/>
          <p:cNvSpPr/>
          <p:nvPr/>
        </p:nvSpPr>
        <p:spPr>
          <a:xfrm>
            <a:off x="533387" y="1688405"/>
            <a:ext cx="11658308" cy="302220"/>
          </a:xfrm>
          <a:prstGeom prst="rect">
            <a:avLst/>
          </a:prstGeom>
          <a:noFill/>
          <a:ln/>
        </p:spPr>
        <p:txBody>
          <a:bodyPr wrap="none" lIns="0" tIns="0" rIns="0" bIns="0" rtlCol="0" anchor="t"/>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Each stage prepares the next one. Validation must happen before calculation.</a:t>
            </a:r>
            <a:endParaRPr lang="en-US" sz="1700" dirty="0"/>
          </a:p>
        </p:txBody>
      </p:sp>
      <p:pic>
        <p:nvPicPr>
          <p:cNvPr id="6" name="Image 0" descr="preencoded.png"/>
          <p:cNvPicPr>
            <a:picLocks noChangeAspect="1"/>
          </p:cNvPicPr>
          <p:nvPr/>
        </p:nvPicPr>
        <p:blipFill>
          <a:blip r:embed="rId3"/>
          <a:stretch>
            <a:fillRect/>
          </a:stretch>
        </p:blipFill>
        <p:spPr>
          <a:xfrm>
            <a:off x="533387" y="2184301"/>
            <a:ext cx="6095848" cy="3429000"/>
          </a:xfrm>
          <a:prstGeom prst="rect">
            <a:avLst/>
          </a:prstGeom>
        </p:spPr>
      </p:pic>
      <p:sp>
        <p:nvSpPr>
          <p:cNvPr id="7" name="Text 4"/>
          <p:cNvSpPr/>
          <p:nvPr/>
        </p:nvSpPr>
        <p:spPr>
          <a:xfrm>
            <a:off x="533387" y="5791101"/>
            <a:ext cx="11658308" cy="222250"/>
          </a:xfrm>
          <a:prstGeom prst="rect">
            <a:avLst/>
          </a:prstGeom>
          <a:noFill/>
          <a:ln/>
        </p:spPr>
        <p:txBody>
          <a:bodyPr wrap="none" lIns="0" tIns="0" rIns="0" bIns="0" rtlCol="0" anchor="t"/>
          <a:lstStyle/>
          <a:p>
            <a:pPr marL="0" indent="0" algn="l">
              <a:lnSpc>
                <a:spcPct val="117000"/>
              </a:lnSpc>
              <a:buNone/>
            </a:pPr>
            <a:r>
              <a:rPr lang="en-US" sz="1250" dirty="0">
                <a:solidFill>
                  <a:srgbClr val="173B35"/>
                </a:solidFill>
                <a:latin typeface="Source Sans 3" pitchFamily="34" charset="0"/>
                <a:ea typeface="Source Sans 3" pitchFamily="34" charset="-122"/>
                <a:cs typeface="Source Sans 3" pitchFamily="34" charset="-120"/>
              </a:rPr>
              <a:t>The application converts a booking brief into executable logic, checks the inputs, then produces a useful stay summary.</a:t>
            </a:r>
            <a:endParaRPr lang="en-US" sz="1250" dirty="0"/>
          </a:p>
        </p:txBody>
      </p:sp>
      <p:sp>
        <p:nvSpPr>
          <p:cNvPr id="8" name="Text 5"/>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3387" y="431800"/>
            <a:ext cx="11658308"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C5A46D"/>
                </a:solidFill>
                <a:latin typeface="Source Sans 3" pitchFamily="34" charset="0"/>
                <a:ea typeface="Source Sans 3" pitchFamily="34" charset="-122"/>
                <a:cs typeface="Source Sans 3" pitchFamily="34" charset="-120"/>
              </a:rPr>
              <a:t>CO1 · JAVA FOUNDATIONS</a:t>
            </a:r>
            <a:endParaRPr lang="en-US" sz="1200" dirty="0"/>
          </a:p>
        </p:txBody>
      </p:sp>
      <p:sp>
        <p:nvSpPr>
          <p:cNvPr id="3" name="Text 1"/>
          <p:cNvSpPr/>
          <p:nvPr/>
        </p:nvSpPr>
        <p:spPr>
          <a:xfrm>
            <a:off x="533387" y="751800"/>
            <a:ext cx="11124922" cy="411460"/>
          </a:xfrm>
          <a:prstGeom prst="rect">
            <a:avLst/>
          </a:prstGeom>
          <a:noFill/>
          <a:ln/>
        </p:spPr>
        <p:txBody>
          <a:bodyPr wrap="none" lIns="0" tIns="0" rIns="0" bIns="0" rtlCol="0" anchor="t"/>
          <a:lstStyle/>
          <a:p>
            <a:pPr marL="0" indent="0" algn="l">
              <a:lnSpc>
                <a:spcPct val="90000"/>
              </a:lnSpc>
              <a:buNone/>
            </a:pPr>
            <a:r>
              <a:rPr lang="en-US" sz="3000" kern="100" spc="-30" dirty="0">
                <a:solidFill>
                  <a:srgbClr val="F7F5F0"/>
                </a:solidFill>
                <a:latin typeface="Cormorant Garamond SemiBold" pitchFamily="34" charset="0"/>
                <a:ea typeface="Cormorant Garamond SemiBold" pitchFamily="34" charset="-122"/>
                <a:cs typeface="Cormorant Garamond SemiBold" pitchFamily="34" charset="-120"/>
              </a:rPr>
              <a:t>Java foundations turn a hotel brief into executable logic</a:t>
            </a:r>
            <a:endParaRPr lang="en-US" sz="3000" dirty="0"/>
          </a:p>
        </p:txBody>
      </p:sp>
      <p:sp>
        <p:nvSpPr>
          <p:cNvPr id="4" name="Shape 2"/>
          <p:cNvSpPr/>
          <p:nvPr/>
        </p:nvSpPr>
        <p:spPr>
          <a:xfrm>
            <a:off x="533387" y="1410593"/>
            <a:ext cx="3671200" cy="31651"/>
          </a:xfrm>
          <a:prstGeom prst="roundRect">
            <a:avLst>
              <a:gd name="adj" fmla="val 49998"/>
            </a:avLst>
          </a:prstGeom>
          <a:solidFill>
            <a:srgbClr val="C5A46D"/>
          </a:solidFill>
          <a:ln/>
        </p:spPr>
      </p:sp>
      <p:sp>
        <p:nvSpPr>
          <p:cNvPr id="5" name="Shape 3"/>
          <p:cNvSpPr/>
          <p:nvPr/>
        </p:nvSpPr>
        <p:spPr>
          <a:xfrm>
            <a:off x="533387" y="1716398"/>
            <a:ext cx="6131466" cy="4612878"/>
          </a:xfrm>
          <a:prstGeom prst="roundRect">
            <a:avLst>
              <a:gd name="adj" fmla="val 1487"/>
            </a:avLst>
          </a:prstGeom>
          <a:solidFill>
            <a:srgbClr val="29343A"/>
          </a:solidFill>
          <a:ln/>
        </p:spPr>
      </p:sp>
      <p:sp>
        <p:nvSpPr>
          <p:cNvPr id="6" name="Text 4"/>
          <p:cNvSpPr/>
          <p:nvPr/>
        </p:nvSpPr>
        <p:spPr>
          <a:xfrm>
            <a:off x="787380" y="1917005"/>
            <a:ext cx="5877472"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C5A46D"/>
                </a:solidFill>
                <a:latin typeface="Source Sans 3" pitchFamily="34" charset="0"/>
                <a:ea typeface="Source Sans 3" pitchFamily="34" charset="-122"/>
                <a:cs typeface="Source Sans 3" pitchFamily="34" charset="-120"/>
              </a:rPr>
              <a:t>CORE VARIABLES</a:t>
            </a:r>
            <a:endParaRPr lang="en-US" sz="1200" dirty="0"/>
          </a:p>
        </p:txBody>
      </p:sp>
      <p:sp>
        <p:nvSpPr>
          <p:cNvPr id="7" name="Text 5"/>
          <p:cNvSpPr/>
          <p:nvPr/>
        </p:nvSpPr>
        <p:spPr>
          <a:xfrm>
            <a:off x="787380" y="2257326"/>
            <a:ext cx="5623479" cy="1561902"/>
          </a:xfrm>
          <a:prstGeom prst="rect">
            <a:avLst/>
          </a:prstGeom>
          <a:noFill/>
          <a:ln/>
        </p:spPr>
        <p:txBody>
          <a:bodyPr wrap="square" lIns="0" tIns="0" rIns="0" bIns="0" rtlCol="0" anchor="t">
            <a:normAutofit/>
          </a:bodyPr>
          <a:lstStyle/>
          <a:p>
            <a:pPr marL="0" indent="0" algn="l">
              <a:lnSpc>
                <a:spcPct val="117000"/>
              </a:lnSpc>
              <a:buNone/>
            </a:pPr>
            <a:r>
              <a:rPr lang="en-US" sz="1700" dirty="0">
                <a:solidFill>
                  <a:schemeClr val="bg2">
                    <a:lumMod val="10000"/>
                  </a:schemeClr>
                </a:solidFill>
                <a:highlight>
                  <a:srgbClr val="FFFF00"/>
                </a:highlight>
                <a:latin typeface="Consolas" pitchFamily="34" charset="0"/>
                <a:ea typeface="Consolas" pitchFamily="34" charset="-122"/>
                <a:cs typeface="Consolas" pitchFamily="34" charset="-120"/>
              </a:rPr>
              <a:t>String customerName;</a:t>
            </a:r>
            <a:endParaRPr lang="en-US" sz="1700" dirty="0">
              <a:solidFill>
                <a:schemeClr val="bg2">
                  <a:lumMod val="10000"/>
                </a:schemeClr>
              </a:solidFill>
              <a:highlight>
                <a:srgbClr val="FFFF00"/>
              </a:highlight>
            </a:endParaRPr>
          </a:p>
          <a:p>
            <a:pPr marL="0" indent="0" algn="l">
              <a:lnSpc>
                <a:spcPct val="117000"/>
              </a:lnSpc>
              <a:buNone/>
            </a:pPr>
            <a:r>
              <a:rPr lang="en-US" sz="1700" dirty="0">
                <a:solidFill>
                  <a:schemeClr val="bg2">
                    <a:lumMod val="10000"/>
                  </a:schemeClr>
                </a:solidFill>
                <a:highlight>
                  <a:srgbClr val="FFFF00"/>
                </a:highlight>
                <a:latin typeface="Consolas" pitchFamily="34" charset="0"/>
                <a:ea typeface="Consolas" pitchFamily="34" charset="-122"/>
                <a:cs typeface="Consolas" pitchFamily="34" charset="-120"/>
              </a:rPr>
              <a:t>int rooms, days, choice;</a:t>
            </a:r>
            <a:endParaRPr lang="en-US" sz="1700" dirty="0">
              <a:solidFill>
                <a:schemeClr val="bg2">
                  <a:lumMod val="10000"/>
                </a:schemeClr>
              </a:solidFill>
              <a:highlight>
                <a:srgbClr val="FFFF00"/>
              </a:highlight>
            </a:endParaRPr>
          </a:p>
          <a:p>
            <a:pPr marL="0" indent="0" algn="l">
              <a:lnSpc>
                <a:spcPct val="117000"/>
              </a:lnSpc>
              <a:buNone/>
            </a:pPr>
            <a:r>
              <a:rPr lang="en-US" sz="1700" dirty="0">
                <a:solidFill>
                  <a:schemeClr val="bg2">
                    <a:lumMod val="10000"/>
                  </a:schemeClr>
                </a:solidFill>
                <a:highlight>
                  <a:srgbClr val="FFFF00"/>
                </a:highlight>
                <a:latin typeface="Consolas" pitchFamily="34" charset="0"/>
                <a:ea typeface="Consolas" pitchFamily="34" charset="-122"/>
                <a:cs typeface="Consolas" pitchFamily="34" charset="-120"/>
              </a:rPr>
              <a:t>double price, total;</a:t>
            </a:r>
            <a:endParaRPr lang="en-US" sz="1700" dirty="0">
              <a:solidFill>
                <a:schemeClr val="bg2">
                  <a:lumMod val="10000"/>
                </a:schemeClr>
              </a:solidFill>
              <a:highlight>
                <a:srgbClr val="FFFF00"/>
              </a:highlight>
            </a:endParaRPr>
          </a:p>
          <a:p>
            <a:pPr marL="0" indent="0" algn="l">
              <a:lnSpc>
                <a:spcPct val="117000"/>
              </a:lnSpc>
              <a:buNone/>
            </a:pPr>
            <a:r>
              <a:rPr lang="en-US" sz="1700" dirty="0">
                <a:solidFill>
                  <a:schemeClr val="bg2">
                    <a:lumMod val="10000"/>
                  </a:schemeClr>
                </a:solidFill>
                <a:highlight>
                  <a:srgbClr val="FFFF00"/>
                </a:highlight>
                <a:latin typeface="Consolas" pitchFamily="34" charset="0"/>
                <a:ea typeface="Consolas" pitchFamily="34" charset="-122"/>
                <a:cs typeface="Consolas" pitchFamily="34" charset="-120"/>
              </a:rPr>
              <a:t>total = price * rooms * days;</a:t>
            </a:r>
            <a:endParaRPr lang="en-US" sz="1700" dirty="0">
              <a:solidFill>
                <a:schemeClr val="bg2">
                  <a:lumMod val="10000"/>
                </a:schemeClr>
              </a:solidFill>
              <a:highlight>
                <a:srgbClr val="FFFF00"/>
              </a:highlight>
            </a:endParaRPr>
          </a:p>
        </p:txBody>
      </p:sp>
      <p:sp>
        <p:nvSpPr>
          <p:cNvPr id="8" name="Text 6"/>
          <p:cNvSpPr/>
          <p:nvPr/>
        </p:nvSpPr>
        <p:spPr>
          <a:xfrm>
            <a:off x="787380" y="3946227"/>
            <a:ext cx="5877472" cy="266700"/>
          </a:xfrm>
          <a:prstGeom prst="rect">
            <a:avLst/>
          </a:prstGeom>
          <a:noFill/>
          <a:ln/>
        </p:spPr>
        <p:txBody>
          <a:bodyPr wrap="none" lIns="0" tIns="0" rIns="0" bIns="0" rtlCol="0" anchor="t"/>
          <a:lstStyle/>
          <a:p>
            <a:pPr marL="0" indent="0" algn="l">
              <a:lnSpc>
                <a:spcPct val="117000"/>
              </a:lnSpc>
              <a:buNone/>
            </a:pPr>
            <a:r>
              <a:rPr lang="en-US" sz="1500" dirty="0">
                <a:solidFill>
                  <a:srgbClr val="F7F5F0"/>
                </a:solidFill>
                <a:latin typeface="Source Sans 3" pitchFamily="34" charset="0"/>
                <a:ea typeface="Source Sans 3" pitchFamily="34" charset="-122"/>
                <a:cs typeface="Source Sans 3" pitchFamily="34" charset="-120"/>
              </a:rPr>
              <a:t>Total Amount = Room Price × Number of Rooms × Number of Days</a:t>
            </a:r>
            <a:endParaRPr lang="en-US" sz="1500" dirty="0"/>
          </a:p>
        </p:txBody>
      </p:sp>
      <p:sp>
        <p:nvSpPr>
          <p:cNvPr id="9" name="Shape 7"/>
          <p:cNvSpPr/>
          <p:nvPr/>
        </p:nvSpPr>
        <p:spPr>
          <a:xfrm>
            <a:off x="6969546" y="1688405"/>
            <a:ext cx="2268183" cy="2230239"/>
          </a:xfrm>
          <a:prstGeom prst="roundRect">
            <a:avLst>
              <a:gd name="adj" fmla="val 512"/>
            </a:avLst>
          </a:prstGeom>
          <a:solidFill>
            <a:srgbClr val="173B35"/>
          </a:solidFill>
          <a:ln w="25399">
            <a:solidFill>
              <a:srgbClr val="D2CEC3"/>
            </a:solidFill>
            <a:prstDash val="solid"/>
          </a:ln>
        </p:spPr>
      </p:sp>
      <p:sp>
        <p:nvSpPr>
          <p:cNvPr id="10" name="Text 8"/>
          <p:cNvSpPr/>
          <p:nvPr/>
        </p:nvSpPr>
        <p:spPr>
          <a:xfrm>
            <a:off x="7223540" y="1950787"/>
            <a:ext cx="1760196" cy="233164"/>
          </a:xfrm>
          <a:prstGeom prst="rect">
            <a:avLst/>
          </a:prstGeom>
          <a:noFill/>
          <a:ln/>
        </p:spPr>
        <p:txBody>
          <a:bodyPr wrap="none" lIns="0" tIns="0" rIns="0" bIns="0" rtlCol="0" anchor="t"/>
          <a:lstStyle/>
          <a:p>
            <a:pPr marL="0" indent="0" algn="l">
              <a:lnSpc>
                <a:spcPct val="90000"/>
              </a:lnSpc>
              <a:buNone/>
            </a:pPr>
            <a:r>
              <a:rPr lang="en-US" sz="1700" kern="100" spc="-17" dirty="0">
                <a:solidFill>
                  <a:srgbClr val="C5A46D"/>
                </a:solidFill>
                <a:latin typeface="Source Sans 3 SemiBold" pitchFamily="34" charset="0"/>
                <a:ea typeface="Source Sans 3 SemiBold" pitchFamily="34" charset="-122"/>
                <a:cs typeface="Source Sans 3 SemiBold" pitchFamily="34" charset="-120"/>
              </a:rPr>
              <a:t>Think first</a:t>
            </a:r>
            <a:endParaRPr lang="en-US" sz="1700" dirty="0"/>
          </a:p>
        </p:txBody>
      </p:sp>
      <p:sp>
        <p:nvSpPr>
          <p:cNvPr id="11" name="Text 9"/>
          <p:cNvSpPr/>
          <p:nvPr/>
        </p:nvSpPr>
        <p:spPr>
          <a:xfrm>
            <a:off x="7223540" y="2331145"/>
            <a:ext cx="1760196" cy="10668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F7F5F0"/>
                </a:solidFill>
                <a:latin typeface="Source Sans 3" pitchFamily="34" charset="0"/>
                <a:ea typeface="Source Sans 3" pitchFamily="34" charset="-122"/>
                <a:cs typeface="Source Sans 3" pitchFamily="34" charset="-120"/>
              </a:rPr>
              <a:t>Problem solving, computational thinking, algorithms, and flowcharts.</a:t>
            </a:r>
            <a:endParaRPr lang="en-US" sz="1500" dirty="0"/>
          </a:p>
        </p:txBody>
      </p:sp>
      <p:sp>
        <p:nvSpPr>
          <p:cNvPr id="12" name="Shape 10"/>
          <p:cNvSpPr/>
          <p:nvPr/>
        </p:nvSpPr>
        <p:spPr>
          <a:xfrm>
            <a:off x="9390125" y="1688405"/>
            <a:ext cx="2268183" cy="2230239"/>
          </a:xfrm>
          <a:prstGeom prst="roundRect">
            <a:avLst>
              <a:gd name="adj" fmla="val 512"/>
            </a:avLst>
          </a:prstGeom>
          <a:solidFill>
            <a:srgbClr val="173B35"/>
          </a:solidFill>
          <a:ln w="25399">
            <a:solidFill>
              <a:srgbClr val="D2CEC3"/>
            </a:solidFill>
            <a:prstDash val="solid"/>
          </a:ln>
        </p:spPr>
      </p:sp>
      <p:sp>
        <p:nvSpPr>
          <p:cNvPr id="13" name="Text 11"/>
          <p:cNvSpPr/>
          <p:nvPr/>
        </p:nvSpPr>
        <p:spPr>
          <a:xfrm>
            <a:off x="9644119" y="1950787"/>
            <a:ext cx="1760196" cy="233164"/>
          </a:xfrm>
          <a:prstGeom prst="rect">
            <a:avLst/>
          </a:prstGeom>
          <a:noFill/>
          <a:ln/>
        </p:spPr>
        <p:txBody>
          <a:bodyPr wrap="none" lIns="0" tIns="0" rIns="0" bIns="0" rtlCol="0" anchor="t"/>
          <a:lstStyle/>
          <a:p>
            <a:pPr marL="0" indent="0" algn="l">
              <a:lnSpc>
                <a:spcPct val="90000"/>
              </a:lnSpc>
              <a:buNone/>
            </a:pPr>
            <a:r>
              <a:rPr lang="en-US" sz="1700" kern="100" spc="-17" dirty="0">
                <a:solidFill>
                  <a:srgbClr val="C5A46D"/>
                </a:solidFill>
                <a:latin typeface="Source Sans 3 SemiBold" pitchFamily="34" charset="0"/>
                <a:ea typeface="Source Sans 3 SemiBold" pitchFamily="34" charset="-122"/>
                <a:cs typeface="Source Sans 3 SemiBold" pitchFamily="34" charset="-120"/>
              </a:rPr>
              <a:t>Build the structure</a:t>
            </a:r>
            <a:endParaRPr lang="en-US" sz="1700" dirty="0"/>
          </a:p>
        </p:txBody>
      </p:sp>
      <p:sp>
        <p:nvSpPr>
          <p:cNvPr id="14" name="Text 12"/>
          <p:cNvSpPr/>
          <p:nvPr/>
        </p:nvSpPr>
        <p:spPr>
          <a:xfrm>
            <a:off x="9644119" y="2331145"/>
            <a:ext cx="1760196" cy="13335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F7F5F0"/>
                </a:solidFill>
                <a:latin typeface="Source Sans 3" pitchFamily="34" charset="0"/>
                <a:ea typeface="Source Sans 3" pitchFamily="34" charset="-122"/>
                <a:cs typeface="Source Sans 3" pitchFamily="34" charset="-120"/>
              </a:rPr>
              <a:t>Java environment, program structure, programming model, identifiers, and literals.</a:t>
            </a:r>
            <a:endParaRPr lang="en-US" sz="1500" dirty="0"/>
          </a:p>
        </p:txBody>
      </p:sp>
      <p:sp>
        <p:nvSpPr>
          <p:cNvPr id="15" name="Shape 13"/>
          <p:cNvSpPr/>
          <p:nvPr/>
        </p:nvSpPr>
        <p:spPr>
          <a:xfrm>
            <a:off x="6969546" y="4071045"/>
            <a:ext cx="2268183" cy="2230239"/>
          </a:xfrm>
          <a:prstGeom prst="roundRect">
            <a:avLst>
              <a:gd name="adj" fmla="val 512"/>
            </a:avLst>
          </a:prstGeom>
          <a:solidFill>
            <a:srgbClr val="173B35"/>
          </a:solidFill>
          <a:ln w="25399">
            <a:solidFill>
              <a:srgbClr val="D2CEC3"/>
            </a:solidFill>
            <a:prstDash val="solid"/>
          </a:ln>
        </p:spPr>
      </p:sp>
      <p:sp>
        <p:nvSpPr>
          <p:cNvPr id="16" name="Text 14"/>
          <p:cNvSpPr/>
          <p:nvPr/>
        </p:nvSpPr>
        <p:spPr>
          <a:xfrm>
            <a:off x="7223540" y="4333427"/>
            <a:ext cx="1760196" cy="233164"/>
          </a:xfrm>
          <a:prstGeom prst="rect">
            <a:avLst/>
          </a:prstGeom>
          <a:noFill/>
          <a:ln/>
        </p:spPr>
        <p:txBody>
          <a:bodyPr wrap="none" lIns="0" tIns="0" rIns="0" bIns="0" rtlCol="0" anchor="t"/>
          <a:lstStyle/>
          <a:p>
            <a:pPr marL="0" indent="0" algn="l">
              <a:lnSpc>
                <a:spcPct val="90000"/>
              </a:lnSpc>
              <a:buNone/>
            </a:pPr>
            <a:r>
              <a:rPr lang="en-US" sz="1700" kern="100" spc="-17" dirty="0">
                <a:solidFill>
                  <a:srgbClr val="C5A46D"/>
                </a:solidFill>
                <a:latin typeface="Source Sans 3 SemiBold" pitchFamily="34" charset="0"/>
                <a:ea typeface="Source Sans 3 SemiBold" pitchFamily="34" charset="-122"/>
                <a:cs typeface="Source Sans 3 SemiBold" pitchFamily="34" charset="-120"/>
              </a:rPr>
              <a:t>Work with values</a:t>
            </a:r>
            <a:endParaRPr lang="en-US" sz="1700" dirty="0"/>
          </a:p>
        </p:txBody>
      </p:sp>
      <p:sp>
        <p:nvSpPr>
          <p:cNvPr id="17" name="Text 15"/>
          <p:cNvSpPr/>
          <p:nvPr/>
        </p:nvSpPr>
        <p:spPr>
          <a:xfrm>
            <a:off x="7223540" y="4713784"/>
            <a:ext cx="1760196" cy="13335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F7F5F0"/>
                </a:solidFill>
                <a:latin typeface="Source Sans 3" pitchFamily="34" charset="0"/>
                <a:ea typeface="Source Sans 3" pitchFamily="34" charset="-122"/>
                <a:cs typeface="Source Sans 3" pitchFamily="34" charset="-120"/>
              </a:rPr>
              <a:t>Primitive data types, variables, constants, operators, expression evaluation, and type casting.</a:t>
            </a:r>
            <a:endParaRPr lang="en-US" sz="1500" dirty="0"/>
          </a:p>
        </p:txBody>
      </p:sp>
      <p:sp>
        <p:nvSpPr>
          <p:cNvPr id="18" name="Shape 16"/>
          <p:cNvSpPr/>
          <p:nvPr/>
        </p:nvSpPr>
        <p:spPr>
          <a:xfrm>
            <a:off x="9390125" y="4071045"/>
            <a:ext cx="2268183" cy="2230239"/>
          </a:xfrm>
          <a:prstGeom prst="roundRect">
            <a:avLst>
              <a:gd name="adj" fmla="val 512"/>
            </a:avLst>
          </a:prstGeom>
          <a:solidFill>
            <a:srgbClr val="173B35"/>
          </a:solidFill>
          <a:ln w="25399">
            <a:solidFill>
              <a:srgbClr val="D2CEC3"/>
            </a:solidFill>
            <a:prstDash val="solid"/>
          </a:ln>
        </p:spPr>
      </p:sp>
      <p:sp>
        <p:nvSpPr>
          <p:cNvPr id="19" name="Text 17"/>
          <p:cNvSpPr/>
          <p:nvPr/>
        </p:nvSpPr>
        <p:spPr>
          <a:xfrm>
            <a:off x="9644119" y="4333427"/>
            <a:ext cx="1760196" cy="466328"/>
          </a:xfrm>
          <a:prstGeom prst="rect">
            <a:avLst/>
          </a:prstGeom>
          <a:noFill/>
          <a:ln/>
        </p:spPr>
        <p:txBody>
          <a:bodyPr wrap="square" lIns="0" tIns="0" rIns="0" bIns="0" rtlCol="0" anchor="t">
            <a:normAutofit lnSpcReduction="10000"/>
          </a:bodyPr>
          <a:lstStyle/>
          <a:p>
            <a:pPr marL="0" indent="0" algn="l">
              <a:lnSpc>
                <a:spcPct val="90000"/>
              </a:lnSpc>
              <a:buNone/>
            </a:pPr>
            <a:r>
              <a:rPr lang="en-US" sz="1700" kern="100" spc="-17" dirty="0">
                <a:solidFill>
                  <a:srgbClr val="C5A46D"/>
                </a:solidFill>
                <a:latin typeface="Source Sans 3 SemiBold" pitchFamily="34" charset="0"/>
                <a:ea typeface="Source Sans 3 SemiBold" pitchFamily="34" charset="-122"/>
                <a:cs typeface="Source Sans 3 SemiBold" pitchFamily="34" charset="-120"/>
              </a:rPr>
              <a:t>Read from the console</a:t>
            </a:r>
            <a:endParaRPr lang="en-US" sz="1700" dirty="0"/>
          </a:p>
        </p:txBody>
      </p:sp>
      <p:sp>
        <p:nvSpPr>
          <p:cNvPr id="20" name="Text 18"/>
          <p:cNvSpPr/>
          <p:nvPr/>
        </p:nvSpPr>
        <p:spPr>
          <a:xfrm>
            <a:off x="9644119" y="4946948"/>
            <a:ext cx="1760196" cy="10668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F7F5F0"/>
                </a:solidFill>
                <a:latin typeface="Source Sans 3" pitchFamily="34" charset="0"/>
                <a:ea typeface="Source Sans 3" pitchFamily="34" charset="-122"/>
                <a:cs typeface="Source Sans 3" pitchFamily="34" charset="-120"/>
              </a:rPr>
              <a:t>The Scanner class supports console input and output for a booking interaction.</a:t>
            </a:r>
            <a:endParaRPr lang="en-US" sz="1500" dirty="0"/>
          </a:p>
        </p:txBody>
      </p:sp>
      <p:sp>
        <p:nvSpPr>
          <p:cNvPr id="21" name="Text 19"/>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3387" y="431800"/>
            <a:ext cx="11658308"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CO2 · CONTROL FLOW</a:t>
            </a:r>
            <a:endParaRPr lang="en-US" sz="1200" dirty="0"/>
          </a:p>
        </p:txBody>
      </p:sp>
      <p:sp>
        <p:nvSpPr>
          <p:cNvPr id="3" name="Text 1"/>
          <p:cNvSpPr/>
          <p:nvPr/>
        </p:nvSpPr>
        <p:spPr>
          <a:xfrm>
            <a:off x="533387" y="751800"/>
            <a:ext cx="11124922" cy="411460"/>
          </a:xfrm>
          <a:prstGeom prst="rect">
            <a:avLst/>
          </a:prstGeom>
          <a:noFill/>
          <a:ln/>
        </p:spPr>
        <p:txBody>
          <a:bodyPr wrap="none" lIns="0" tIns="0" rIns="0" bIns="0" rtlCol="0" anchor="t"/>
          <a:lstStyle/>
          <a:p>
            <a:pPr marL="0" indent="0" algn="l">
              <a:lnSpc>
                <a:spcPct val="90000"/>
              </a:lnSpc>
              <a:buNone/>
            </a:pPr>
            <a:r>
              <a:rPr lang="en-US" sz="3000" kern="100" spc="-30" dirty="0">
                <a:solidFill>
                  <a:srgbClr val="173B35"/>
                </a:solidFill>
                <a:latin typeface="Cormorant Garamond SemiBold" pitchFamily="34" charset="0"/>
                <a:ea typeface="Cormorant Garamond SemiBold" pitchFamily="34" charset="-122"/>
                <a:cs typeface="Cormorant Garamond SemiBold" pitchFamily="34" charset="-120"/>
              </a:rPr>
              <a:t>CO2: Control flow handles room choice, validation, and membership</a:t>
            </a:r>
            <a:endParaRPr lang="en-US" sz="3000" dirty="0"/>
          </a:p>
        </p:txBody>
      </p:sp>
      <p:sp>
        <p:nvSpPr>
          <p:cNvPr id="4" name="Shape 2"/>
          <p:cNvSpPr/>
          <p:nvPr/>
        </p:nvSpPr>
        <p:spPr>
          <a:xfrm>
            <a:off x="533387" y="1410593"/>
            <a:ext cx="3671200" cy="31651"/>
          </a:xfrm>
          <a:prstGeom prst="roundRect">
            <a:avLst>
              <a:gd name="adj" fmla="val 49998"/>
            </a:avLst>
          </a:prstGeom>
          <a:solidFill>
            <a:srgbClr val="C5A46D"/>
          </a:solidFill>
          <a:ln/>
        </p:spPr>
      </p:sp>
      <p:sp>
        <p:nvSpPr>
          <p:cNvPr id="5" name="Shape 3"/>
          <p:cNvSpPr/>
          <p:nvPr/>
        </p:nvSpPr>
        <p:spPr>
          <a:xfrm>
            <a:off x="533387" y="1688405"/>
            <a:ext cx="5410065" cy="3883025"/>
          </a:xfrm>
          <a:prstGeom prst="roundRect">
            <a:avLst>
              <a:gd name="adj" fmla="val 1766"/>
            </a:avLst>
          </a:prstGeom>
          <a:solidFill>
            <a:srgbClr val="173B35"/>
          </a:solidFill>
          <a:ln/>
        </p:spPr>
      </p:sp>
      <p:sp>
        <p:nvSpPr>
          <p:cNvPr id="6" name="Text 4"/>
          <p:cNvSpPr/>
          <p:nvPr/>
        </p:nvSpPr>
        <p:spPr>
          <a:xfrm>
            <a:off x="787380" y="1917005"/>
            <a:ext cx="5156071"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C5A46D"/>
                </a:solidFill>
                <a:latin typeface="Source Sans 3" pitchFamily="34" charset="0"/>
                <a:ea typeface="Source Sans 3" pitchFamily="34" charset="-122"/>
                <a:cs typeface="Source Sans 3" pitchFamily="34" charset="-120"/>
              </a:rPr>
              <a:t>ROOM SELECTION</a:t>
            </a:r>
            <a:endParaRPr lang="en-US" sz="1200" dirty="0"/>
          </a:p>
        </p:txBody>
      </p:sp>
      <p:sp>
        <p:nvSpPr>
          <p:cNvPr id="7" name="Text 5"/>
          <p:cNvSpPr/>
          <p:nvPr/>
        </p:nvSpPr>
        <p:spPr>
          <a:xfrm>
            <a:off x="787380" y="2292942"/>
            <a:ext cx="4902077" cy="944761"/>
          </a:xfrm>
          <a:prstGeom prst="rect">
            <a:avLst/>
          </a:prstGeom>
          <a:noFill/>
          <a:ln/>
        </p:spPr>
        <p:txBody>
          <a:bodyPr wrap="square" lIns="0" tIns="0" rIns="0" bIns="0" rtlCol="0" anchor="t">
            <a:normAutofit fontScale="85000" lnSpcReduction="10000"/>
          </a:bodyPr>
          <a:lstStyle/>
          <a:p>
            <a:pPr marL="0" indent="0" algn="l">
              <a:lnSpc>
                <a:spcPct val="117000"/>
              </a:lnSpc>
              <a:buNone/>
            </a:pPr>
            <a:r>
              <a:rPr lang="en-US" sz="1700" dirty="0">
                <a:solidFill>
                  <a:schemeClr val="bg2">
                    <a:lumMod val="10000"/>
                  </a:schemeClr>
                </a:solidFill>
                <a:highlight>
                  <a:srgbClr val="FFFF00"/>
                </a:highlight>
                <a:latin typeface="Consolas" pitchFamily="34" charset="0"/>
                <a:ea typeface="Consolas" pitchFamily="34" charset="-122"/>
                <a:cs typeface="Consolas" pitchFamily="34" charset="-120"/>
              </a:rPr>
              <a:t>switch (choice) { case 1: room = "Standard"; break; case 2: room = "Deluxe"; break; case 3: room = "Suite"; break; default: valid = false; }</a:t>
            </a:r>
            <a:endParaRPr lang="en-US" sz="1700" dirty="0">
              <a:solidFill>
                <a:schemeClr val="bg2">
                  <a:lumMod val="10000"/>
                </a:schemeClr>
              </a:solidFill>
              <a:highlight>
                <a:srgbClr val="FFFF00"/>
              </a:highlight>
            </a:endParaRPr>
          </a:p>
        </p:txBody>
      </p:sp>
      <p:sp>
        <p:nvSpPr>
          <p:cNvPr id="8" name="Text 6"/>
          <p:cNvSpPr/>
          <p:nvPr/>
        </p:nvSpPr>
        <p:spPr>
          <a:xfrm>
            <a:off x="787380" y="3329087"/>
            <a:ext cx="4902077" cy="927100"/>
          </a:xfrm>
          <a:prstGeom prst="rect">
            <a:avLst/>
          </a:prstGeom>
          <a:noFill/>
          <a:ln/>
        </p:spPr>
        <p:txBody>
          <a:bodyPr wrap="square" lIns="0" tIns="0" rIns="0" bIns="0" rtlCol="0" anchor="t">
            <a:normAutofit/>
          </a:bodyPr>
          <a:lstStyle/>
          <a:p>
            <a:pPr marL="0" indent="0" algn="l">
              <a:lnSpc>
                <a:spcPct val="117000"/>
              </a:lnSpc>
              <a:spcAft>
                <a:spcPts val="950"/>
              </a:spcAft>
              <a:buNone/>
            </a:pPr>
            <a:r>
              <a:rPr lang="en-US" sz="1500" dirty="0">
                <a:solidFill>
                  <a:srgbClr val="F7F5F0"/>
                </a:solidFill>
                <a:latin typeface="Source Sans 3" pitchFamily="34" charset="0"/>
                <a:ea typeface="Source Sans 3" pitchFamily="34" charset="-122"/>
                <a:cs typeface="Source Sans 3" pitchFamily="34" charset="-120"/>
              </a:rPr>
              <a:t>A loop can repeat this process for multiple room or booking entries.</a:t>
            </a:r>
            <a:endParaRPr lang="en-US" sz="1500" dirty="0"/>
          </a:p>
          <a:p>
            <a:pPr marL="0" indent="0" algn="l">
              <a:lnSpc>
                <a:spcPct val="117000"/>
              </a:lnSpc>
              <a:buNone/>
            </a:pPr>
            <a:r>
              <a:rPr lang="en-US" sz="1500" b="1" dirty="0">
                <a:solidFill>
                  <a:srgbClr val="FFFFFF"/>
                </a:solidFill>
                <a:latin typeface="Source Sans 3 Bold" pitchFamily="34" charset="0"/>
                <a:ea typeface="Source Sans 3 Bold" pitchFamily="34" charset="-122"/>
                <a:cs typeface="Source Sans 3 Bold" pitchFamily="34" charset="-120"/>
              </a:rPr>
              <a:t>Validation:</a:t>
            </a:r>
            <a:r>
              <a:rPr lang="en-US" sz="1500" dirty="0">
                <a:solidFill>
                  <a:srgbClr val="FFFFFF"/>
                </a:solidFill>
                <a:latin typeface="Source Sans 3" pitchFamily="34" charset="0"/>
                <a:ea typeface="Source Sans 3" pitchFamily="34" charset="-122"/>
                <a:cs typeface="Source Sans 3" pitchFamily="34" charset="-120"/>
              </a:rPr>
              <a:t> if, if-else, nested-if, and if-else-if ladder.</a:t>
            </a:r>
            <a:endParaRPr lang="en-US" sz="1500" dirty="0"/>
          </a:p>
        </p:txBody>
      </p:sp>
      <p:sp>
        <p:nvSpPr>
          <p:cNvPr id="9" name="Text 7"/>
          <p:cNvSpPr/>
          <p:nvPr/>
        </p:nvSpPr>
        <p:spPr>
          <a:xfrm>
            <a:off x="6248244" y="1917005"/>
            <a:ext cx="5410065"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MEMBERSHIP BANDS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48244" y="2257326"/>
          <a:ext cx="5410065" cy="2425045"/>
        </p:xfrm>
        <a:graphic>
          <a:graphicData uri="http://schemas.openxmlformats.org/drawingml/2006/table">
            <a:tbl>
              <a:tblPr/>
              <a:tblGrid>
                <a:gridCol w="3137814">
                  <a:extLst>
                    <a:ext uri="{9D8B030D-6E8A-4147-A177-3AD203B41FA5}">
                      <a16:colId xmlns:a16="http://schemas.microsoft.com/office/drawing/2014/main" val="20000"/>
                    </a:ext>
                  </a:extLst>
                </a:gridCol>
                <a:gridCol w="2272251">
                  <a:extLst>
                    <a:ext uri="{9D8B030D-6E8A-4147-A177-3AD203B41FA5}">
                      <a16:colId xmlns:a16="http://schemas.microsoft.com/office/drawing/2014/main" val="20001"/>
                    </a:ext>
                  </a:extLst>
                </a:gridCol>
              </a:tblGrid>
              <a:tr h="487549">
                <a:tc>
                  <a:txBody>
                    <a:bodyPr/>
                    <a:lstStyle/>
                    <a:p>
                      <a:pPr marL="0" indent="0" algn="l">
                        <a:buNone/>
                      </a:pPr>
                      <a:r>
                        <a:rPr lang="en-US" sz="1700" dirty="0">
                          <a:solidFill>
                            <a:srgbClr val="173B35"/>
                          </a:solidFill>
                          <a:latin typeface="Source Sans 3" pitchFamily="34" charset="0"/>
                          <a:ea typeface="Source Sans 3" pitchFamily="34" charset="-122"/>
                          <a:cs typeface="Source Sans 3" pitchFamily="34" charset="-120"/>
                        </a:rPr>
                        <a:t>Booking amount</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700" dirty="0">
                          <a:solidFill>
                            <a:srgbClr val="173B35"/>
                          </a:solidFill>
                          <a:latin typeface="Source Sans 3" pitchFamily="34" charset="0"/>
                          <a:ea typeface="Source Sans 3" pitchFamily="34" charset="-122"/>
                          <a:cs typeface="Source Sans 3" pitchFamily="34" charset="-120"/>
                        </a:rPr>
                        <a:t>Membership</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0"/>
                  </a:ext>
                </a:extLst>
              </a:tr>
              <a:tr h="487549">
                <a:tc>
                  <a:txBody>
                    <a:bodyPr/>
                    <a:lstStyle/>
                    <a:p>
                      <a:pPr marL="0" indent="0" algn="l">
                        <a:buNone/>
                      </a:pPr>
                      <a:r>
                        <a:rPr lang="en-US" sz="1700" dirty="0">
                          <a:solidFill>
                            <a:srgbClr val="29343A"/>
                          </a:solidFill>
                          <a:latin typeface="Source Sans 3" pitchFamily="34" charset="0"/>
                          <a:ea typeface="Source Sans 3" pitchFamily="34" charset="-122"/>
                          <a:cs typeface="Source Sans 3" pitchFamily="34" charset="-120"/>
                        </a:rPr>
                        <a:t>Below ₹5,000</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700" b="1" dirty="0">
                          <a:solidFill>
                            <a:srgbClr val="29343A"/>
                          </a:solidFill>
                          <a:latin typeface="Source Sans 3" pitchFamily="34" charset="0"/>
                          <a:ea typeface="Source Sans 3" pitchFamily="34" charset="-122"/>
                          <a:cs typeface="Source Sans 3" pitchFamily="34" charset="-120"/>
                        </a:rPr>
                        <a:t>Basic</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487549">
                <a:tc>
                  <a:txBody>
                    <a:bodyPr/>
                    <a:lstStyle/>
                    <a:p>
                      <a:pPr marL="0" indent="0" algn="l">
                        <a:buNone/>
                      </a:pPr>
                      <a:r>
                        <a:rPr lang="en-US" sz="1700" dirty="0">
                          <a:solidFill>
                            <a:srgbClr val="29343A"/>
                          </a:solidFill>
                          <a:latin typeface="Source Sans 3" pitchFamily="34" charset="0"/>
                          <a:ea typeface="Source Sans 3" pitchFamily="34" charset="-122"/>
                          <a:cs typeface="Source Sans 3" pitchFamily="34" charset="-120"/>
                        </a:rPr>
                        <a:t>₹5,000–₹9,999</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700" b="1" dirty="0">
                          <a:solidFill>
                            <a:srgbClr val="29343A"/>
                          </a:solidFill>
                          <a:latin typeface="Source Sans 3" pitchFamily="34" charset="0"/>
                          <a:ea typeface="Source Sans 3" pitchFamily="34" charset="-122"/>
                          <a:cs typeface="Source Sans 3" pitchFamily="34" charset="-120"/>
                        </a:rPr>
                        <a:t>Silver</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487549">
                <a:tc>
                  <a:txBody>
                    <a:bodyPr/>
                    <a:lstStyle/>
                    <a:p>
                      <a:pPr marL="0" indent="0" algn="l">
                        <a:buNone/>
                      </a:pPr>
                      <a:r>
                        <a:rPr lang="en-US" sz="1700" dirty="0">
                          <a:solidFill>
                            <a:srgbClr val="29343A"/>
                          </a:solidFill>
                          <a:latin typeface="Source Sans 3" pitchFamily="34" charset="0"/>
                          <a:ea typeface="Source Sans 3" pitchFamily="34" charset="-122"/>
                          <a:cs typeface="Source Sans 3" pitchFamily="34" charset="-120"/>
                        </a:rPr>
                        <a:t>₹10,000–₹14,999</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700" b="1" dirty="0">
                          <a:solidFill>
                            <a:srgbClr val="29343A"/>
                          </a:solidFill>
                          <a:latin typeface="Source Sans 3" pitchFamily="34" charset="0"/>
                          <a:ea typeface="Source Sans 3" pitchFamily="34" charset="-122"/>
                          <a:cs typeface="Source Sans 3" pitchFamily="34" charset="-120"/>
                        </a:rPr>
                        <a:t>Gold</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474849">
                <a:tc>
                  <a:txBody>
                    <a:bodyPr/>
                    <a:lstStyle/>
                    <a:p>
                      <a:pPr marL="0" indent="0" algn="l">
                        <a:buNone/>
                      </a:pPr>
                      <a:r>
                        <a:rPr lang="en-US" sz="1700" dirty="0">
                          <a:solidFill>
                            <a:srgbClr val="29343A"/>
                          </a:solidFill>
                          <a:latin typeface="Source Sans 3" pitchFamily="34" charset="0"/>
                          <a:ea typeface="Source Sans 3" pitchFamily="34" charset="-122"/>
                          <a:cs typeface="Source Sans 3" pitchFamily="34" charset="-120"/>
                        </a:rPr>
                        <a:t>₹15,000+</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tc>
                  <a:txBody>
                    <a:bodyPr/>
                    <a:lstStyle/>
                    <a:p>
                      <a:pPr marL="0" indent="0" algn="l">
                        <a:buNone/>
                      </a:pPr>
                      <a:r>
                        <a:rPr lang="en-US" sz="1700" b="1" dirty="0">
                          <a:solidFill>
                            <a:srgbClr val="29343A"/>
                          </a:solidFill>
                          <a:latin typeface="Source Sans 3" pitchFamily="34" charset="0"/>
                          <a:ea typeface="Source Sans 3" pitchFamily="34" charset="-122"/>
                          <a:cs typeface="Source Sans 3" pitchFamily="34" charset="-120"/>
                        </a:rPr>
                        <a:t>Platinum</a:t>
                      </a:r>
                      <a:endParaRPr lang="en-US" sz="1700" dirty="0">
                        <a:latin typeface="Source Sans 3" charset="0"/>
                        <a:ea typeface="Source Sans 3" charset="0"/>
                        <a:cs typeface="Source Sans 3" charset="0"/>
                      </a:endParaRPr>
                    </a:p>
                  </a:txBody>
                  <a:tcPr marL="161921" marR="161921" marT="86358" marB="86358"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bl>
          </a:graphicData>
        </a:graphic>
      </p:graphicFrame>
      <p:sp>
        <p:nvSpPr>
          <p:cNvPr id="11" name="Shape 8"/>
          <p:cNvSpPr/>
          <p:nvPr/>
        </p:nvSpPr>
        <p:spPr>
          <a:xfrm>
            <a:off x="6248244" y="2732175"/>
            <a:ext cx="5410065" cy="12700"/>
          </a:xfrm>
          <a:prstGeom prst="rect">
            <a:avLst/>
          </a:prstGeom>
          <a:solidFill>
            <a:srgbClr val="000000">
              <a:alpha val="8000"/>
            </a:srgbClr>
          </a:solidFill>
          <a:ln/>
        </p:spPr>
      </p:sp>
      <p:sp>
        <p:nvSpPr>
          <p:cNvPr id="12" name="Shape 9"/>
          <p:cNvSpPr/>
          <p:nvPr/>
        </p:nvSpPr>
        <p:spPr>
          <a:xfrm>
            <a:off x="6248244" y="3219724"/>
            <a:ext cx="5410065" cy="12700"/>
          </a:xfrm>
          <a:prstGeom prst="rect">
            <a:avLst/>
          </a:prstGeom>
          <a:solidFill>
            <a:srgbClr val="000000">
              <a:alpha val="8000"/>
            </a:srgbClr>
          </a:solidFill>
          <a:ln/>
        </p:spPr>
      </p:sp>
      <p:sp>
        <p:nvSpPr>
          <p:cNvPr id="13" name="Shape 10"/>
          <p:cNvSpPr/>
          <p:nvPr/>
        </p:nvSpPr>
        <p:spPr>
          <a:xfrm>
            <a:off x="6248244" y="3707272"/>
            <a:ext cx="5410065" cy="12700"/>
          </a:xfrm>
          <a:prstGeom prst="rect">
            <a:avLst/>
          </a:prstGeom>
          <a:solidFill>
            <a:srgbClr val="000000">
              <a:alpha val="8000"/>
            </a:srgbClr>
          </a:solidFill>
          <a:ln/>
        </p:spPr>
      </p:sp>
      <p:sp>
        <p:nvSpPr>
          <p:cNvPr id="14" name="Shape 11"/>
          <p:cNvSpPr/>
          <p:nvPr/>
        </p:nvSpPr>
        <p:spPr>
          <a:xfrm>
            <a:off x="6248244" y="4194821"/>
            <a:ext cx="5410065" cy="12700"/>
          </a:xfrm>
          <a:prstGeom prst="rect">
            <a:avLst/>
          </a:prstGeom>
          <a:solidFill>
            <a:srgbClr val="000000">
              <a:alpha val="8000"/>
            </a:srgbClr>
          </a:solidFill>
          <a:ln/>
        </p:spPr>
      </p:sp>
      <p:sp>
        <p:nvSpPr>
          <p:cNvPr id="15" name="Text 12"/>
          <p:cNvSpPr/>
          <p:nvPr/>
        </p:nvSpPr>
        <p:spPr>
          <a:xfrm>
            <a:off x="6248244" y="4809430"/>
            <a:ext cx="5410065" cy="533400"/>
          </a:xfrm>
          <a:prstGeom prst="rect">
            <a:avLst/>
          </a:prstGeom>
          <a:noFill/>
          <a:ln/>
        </p:spPr>
        <p:txBody>
          <a:bodyPr wrap="square" lIns="0" tIns="0" rIns="0" bIns="0" rtlCol="0" anchor="t">
            <a:normAutofit/>
          </a:bodyPr>
          <a:lstStyle/>
          <a:p>
            <a:pPr marL="0" indent="0" algn="l">
              <a:lnSpc>
                <a:spcPct val="117000"/>
              </a:lnSpc>
              <a:buNone/>
            </a:pPr>
            <a:r>
              <a:rPr lang="en-US" sz="1500" b="1" dirty="0">
                <a:solidFill>
                  <a:srgbClr val="29343A"/>
                </a:solidFill>
                <a:latin typeface="Source Sans 3 Bold" pitchFamily="34" charset="0"/>
                <a:ea typeface="Source Sans 3 Bold" pitchFamily="34" charset="-122"/>
                <a:cs typeface="Source Sans 3 Bold" pitchFamily="34" charset="-120"/>
              </a:rPr>
              <a:t>Repetition:</a:t>
            </a:r>
            <a:r>
              <a:rPr lang="en-US" sz="1500" dirty="0">
                <a:solidFill>
                  <a:srgbClr val="29343A"/>
                </a:solidFill>
                <a:latin typeface="Source Sans 3" pitchFamily="34" charset="0"/>
                <a:ea typeface="Source Sans 3" pitchFamily="34" charset="-122"/>
                <a:cs typeface="Source Sans 3" pitchFamily="34" charset="-120"/>
              </a:rPr>
              <a:t> compound statements; while, do-while, and for loops; continue; infinite loops; nested loops.</a:t>
            </a:r>
            <a:endParaRPr lang="en-US" sz="1500" dirty="0"/>
          </a:p>
        </p:txBody>
      </p:sp>
      <p:sp>
        <p:nvSpPr>
          <p:cNvPr id="16" name="Text 13"/>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3387" y="431800"/>
            <a:ext cx="11658308" cy="189309"/>
          </a:xfrm>
          <a:prstGeom prst="rect">
            <a:avLst/>
          </a:prstGeom>
          <a:noFill/>
          <a:ln/>
        </p:spPr>
        <p:txBody>
          <a:bodyPr wrap="none" lIns="0" tIns="0" rIns="0" bIns="0" rtlCol="0" anchor="t"/>
          <a:lstStyle/>
          <a:p>
            <a:pPr marL="0" indent="0" algn="l">
              <a:lnSpc>
                <a:spcPct val="112000"/>
              </a:lnSpc>
              <a:buNone/>
            </a:pPr>
            <a:r>
              <a:rPr lang="en-US" sz="1100" kern="100" spc="133" dirty="0">
                <a:solidFill>
                  <a:srgbClr val="173B35"/>
                </a:solidFill>
                <a:latin typeface="Source Sans 3" pitchFamily="34" charset="0"/>
                <a:ea typeface="Source Sans 3" pitchFamily="34" charset="-122"/>
                <a:cs typeface="Source Sans 3" pitchFamily="34" charset="-120"/>
              </a:rPr>
              <a:t>CO3 · MODULAR PROGRAMMING</a:t>
            </a:r>
            <a:endParaRPr lang="en-US" sz="1100" dirty="0"/>
          </a:p>
        </p:txBody>
      </p:sp>
      <p:sp>
        <p:nvSpPr>
          <p:cNvPr id="3" name="Text 1"/>
          <p:cNvSpPr/>
          <p:nvPr/>
        </p:nvSpPr>
        <p:spPr>
          <a:xfrm>
            <a:off x="533387" y="708706"/>
            <a:ext cx="11124922" cy="379809"/>
          </a:xfrm>
          <a:prstGeom prst="rect">
            <a:avLst/>
          </a:prstGeom>
          <a:noFill/>
          <a:ln/>
        </p:spPr>
        <p:txBody>
          <a:bodyPr wrap="none" lIns="0" tIns="0" rIns="0" bIns="0" rtlCol="0" anchor="t"/>
          <a:lstStyle/>
          <a:p>
            <a:pPr marL="0" indent="0" algn="l">
              <a:lnSpc>
                <a:spcPct val="90000"/>
              </a:lnSpc>
              <a:buNone/>
            </a:pPr>
            <a:r>
              <a:rPr lang="en-US" sz="2750" kern="100" spc="-28" dirty="0">
                <a:solidFill>
                  <a:srgbClr val="173B35"/>
                </a:solidFill>
                <a:latin typeface="Cormorant Garamond SemiBold" pitchFamily="34" charset="0"/>
                <a:ea typeface="Cormorant Garamond SemiBold" pitchFamily="34" charset="-122"/>
                <a:cs typeface="Cormorant Garamond SemiBold" pitchFamily="34" charset="-120"/>
              </a:rPr>
              <a:t>Methods and arrays make the manager modular and reusable</a:t>
            </a:r>
            <a:endParaRPr lang="en-US" sz="2750" dirty="0"/>
          </a:p>
        </p:txBody>
      </p:sp>
      <p:sp>
        <p:nvSpPr>
          <p:cNvPr id="4" name="Shape 2"/>
          <p:cNvSpPr/>
          <p:nvPr/>
        </p:nvSpPr>
        <p:spPr>
          <a:xfrm>
            <a:off x="533387" y="1306116"/>
            <a:ext cx="3671200" cy="31651"/>
          </a:xfrm>
          <a:prstGeom prst="roundRect">
            <a:avLst>
              <a:gd name="adj" fmla="val 49998"/>
            </a:avLst>
          </a:prstGeom>
          <a:solidFill>
            <a:srgbClr val="C5A46D"/>
          </a:solidFill>
          <a:ln/>
        </p:spPr>
      </p:sp>
      <p:sp>
        <p:nvSpPr>
          <p:cNvPr id="5" name="Shape 3"/>
          <p:cNvSpPr/>
          <p:nvPr/>
        </p:nvSpPr>
        <p:spPr>
          <a:xfrm>
            <a:off x="533387" y="1551087"/>
            <a:ext cx="5410065" cy="5344418"/>
          </a:xfrm>
          <a:prstGeom prst="rect">
            <a:avLst/>
          </a:prstGeom>
          <a:solidFill>
            <a:srgbClr val="EAE6DD"/>
          </a:solidFill>
          <a:ln/>
        </p:spPr>
      </p:sp>
      <p:sp>
        <p:nvSpPr>
          <p:cNvPr id="6" name="Text 4"/>
          <p:cNvSpPr/>
          <p:nvPr/>
        </p:nvSpPr>
        <p:spPr>
          <a:xfrm>
            <a:off x="761981" y="1790979"/>
            <a:ext cx="4952876" cy="240506"/>
          </a:xfrm>
          <a:prstGeom prst="rect">
            <a:avLst/>
          </a:prstGeom>
          <a:noFill/>
          <a:ln/>
        </p:spPr>
        <p:txBody>
          <a:bodyPr wrap="none" lIns="0" tIns="0" rIns="0" bIns="0" rtlCol="0" anchor="t"/>
          <a:lstStyle/>
          <a:p>
            <a:pPr marL="0" indent="0" algn="l">
              <a:lnSpc>
                <a:spcPct val="90000"/>
              </a:lnSpc>
              <a:buNone/>
            </a:pPr>
            <a:r>
              <a:rPr lang="en-US" sz="1750" kern="100" spc="-18" dirty="0">
                <a:solidFill>
                  <a:srgbClr val="29343A"/>
                </a:solidFill>
                <a:latin typeface="Source Sans 3 SemiBold" pitchFamily="34" charset="0"/>
                <a:ea typeface="Source Sans 3 SemiBold" pitchFamily="34" charset="-122"/>
                <a:cs typeface="Source Sans 3 SemiBold" pitchFamily="34" charset="-120"/>
              </a:rPr>
              <a:t>Methods &amp; recursion</a:t>
            </a:r>
            <a:endParaRPr lang="en-US" sz="1750" dirty="0"/>
          </a:p>
        </p:txBody>
      </p:sp>
      <p:sp>
        <p:nvSpPr>
          <p:cNvPr id="7" name="Text 5"/>
          <p:cNvSpPr/>
          <p:nvPr/>
        </p:nvSpPr>
        <p:spPr>
          <a:xfrm>
            <a:off x="761981" y="2152749"/>
            <a:ext cx="4952876" cy="2834283"/>
          </a:xfrm>
          <a:prstGeom prst="rect">
            <a:avLst/>
          </a:prstGeom>
          <a:noFill/>
          <a:ln/>
        </p:spPr>
        <p:txBody>
          <a:bodyPr wrap="square" lIns="0" tIns="0" rIns="0" bIns="0" rtlCol="0" anchor="t">
            <a:normAutofit lnSpcReduction="10000"/>
          </a:bodyPr>
          <a:lstStyle/>
          <a:p>
            <a:pPr marL="0" indent="0" algn="l">
              <a:lnSpc>
                <a:spcPct val="112000"/>
              </a:lnSpc>
              <a:spcAft>
                <a:spcPts val="850"/>
              </a:spcAft>
              <a:buNone/>
            </a:pPr>
            <a:r>
              <a:rPr lang="en-US" sz="1550" dirty="0">
                <a:solidFill>
                  <a:srgbClr val="29343A"/>
                </a:solidFill>
                <a:latin typeface="Source Sans 3" pitchFamily="34" charset="0"/>
                <a:ea typeface="Source Sans 3" pitchFamily="34" charset="-122"/>
                <a:cs typeface="Source Sans 3" pitchFamily="34" charset="-120"/>
              </a:rPr>
              <a:t>Modular programming defines and invokes methods with parameters and return values. Overload </a:t>
            </a:r>
            <a:r>
              <a:rPr lang="en-US" sz="1550" dirty="0">
                <a:solidFill>
                  <a:srgbClr val="29343A"/>
                </a:solidFill>
                <a:highlight>
                  <a:srgbClr val="EAE6DD"/>
                </a:highlight>
                <a:latin typeface="Consolas" pitchFamily="34" charset="0"/>
                <a:ea typeface="Consolas" pitchFamily="34" charset="-122"/>
                <a:cs typeface="Consolas" pitchFamily="34" charset="-120"/>
              </a:rPr>
              <a:t>calculateTotal()</a:t>
            </a:r>
            <a:r>
              <a:rPr lang="en-US" sz="1550" dirty="0">
                <a:solidFill>
                  <a:srgbClr val="29343A"/>
                </a:solidFill>
                <a:latin typeface="Source Sans 3" pitchFamily="34" charset="0"/>
                <a:ea typeface="Source Sans 3" pitchFamily="34" charset="-122"/>
                <a:cs typeface="Source Sans 3" pitchFamily="34" charset="-120"/>
              </a:rPr>
              <a:t> when booking inputs vary.</a:t>
            </a:r>
            <a:endParaRPr lang="en-US" sz="1550" dirty="0"/>
          </a:p>
          <a:p>
            <a:pPr marL="0" indent="0" algn="l">
              <a:lnSpc>
                <a:spcPct val="112000"/>
              </a:lnSpc>
              <a:spcAft>
                <a:spcPts val="850"/>
              </a:spcAft>
              <a:buNone/>
            </a:pPr>
            <a:r>
              <a:rPr lang="en-US" sz="1550" dirty="0">
                <a:solidFill>
                  <a:srgbClr val="29343A"/>
                </a:solidFill>
                <a:highlight>
                  <a:srgbClr val="EAE6DD"/>
                </a:highlight>
                <a:latin typeface="Consolas" pitchFamily="34" charset="0"/>
                <a:ea typeface="Consolas" pitchFamily="34" charset="-122"/>
                <a:cs typeface="Consolas" pitchFamily="34" charset="-120"/>
              </a:rPr>
              <a:t>double calculateTotal(double price, int rooms, int days) { return price * rooms * days; }</a:t>
            </a:r>
            <a:endParaRPr lang="en-US" sz="1550" dirty="0"/>
          </a:p>
          <a:p>
            <a:pPr marL="0" indent="0" algn="l">
              <a:lnSpc>
                <a:spcPct val="112000"/>
              </a:lnSpc>
              <a:spcAft>
                <a:spcPts val="850"/>
              </a:spcAft>
              <a:buNone/>
            </a:pPr>
            <a:r>
              <a:rPr lang="en-US" sz="1550" dirty="0">
                <a:solidFill>
                  <a:srgbClr val="29343A"/>
                </a:solidFill>
                <a:latin typeface="Source Sans 3" pitchFamily="34" charset="0"/>
                <a:ea typeface="Source Sans 3" pitchFamily="34" charset="-122"/>
                <a:cs typeface="Source Sans 3" pitchFamily="34" charset="-120"/>
              </a:rPr>
              <a:t>Factorial shows recursion: a base case stops; a recursive case calls the method again.</a:t>
            </a:r>
            <a:endParaRPr lang="en-US" sz="1550" dirty="0"/>
          </a:p>
          <a:p>
            <a:pPr marL="0" indent="0" algn="l">
              <a:lnSpc>
                <a:spcPct val="112000"/>
              </a:lnSpc>
              <a:buNone/>
            </a:pPr>
            <a:r>
              <a:rPr lang="en-US" sz="1550" dirty="0">
                <a:solidFill>
                  <a:srgbClr val="29343A"/>
                </a:solidFill>
                <a:highlight>
                  <a:srgbClr val="EAE6DD"/>
                </a:highlight>
                <a:latin typeface="Consolas" pitchFamily="34" charset="0"/>
                <a:ea typeface="Consolas" pitchFamily="34" charset="-122"/>
                <a:cs typeface="Consolas" pitchFamily="34" charset="-120"/>
              </a:rPr>
              <a:t>int factorial(int n) { if (n == 0) return 1; return n * factorial(n - 1); }</a:t>
            </a:r>
            <a:endParaRPr lang="en-US" sz="1550" dirty="0"/>
          </a:p>
        </p:txBody>
      </p:sp>
      <p:sp>
        <p:nvSpPr>
          <p:cNvPr id="8" name="Shape 6"/>
          <p:cNvSpPr/>
          <p:nvPr/>
        </p:nvSpPr>
        <p:spPr>
          <a:xfrm>
            <a:off x="6248244" y="1551087"/>
            <a:ext cx="5410065" cy="5344418"/>
          </a:xfrm>
          <a:prstGeom prst="rect">
            <a:avLst/>
          </a:prstGeom>
          <a:solidFill>
            <a:srgbClr val="EAE6DD"/>
          </a:solidFill>
          <a:ln/>
        </p:spPr>
      </p:sp>
      <p:sp>
        <p:nvSpPr>
          <p:cNvPr id="9" name="Text 7"/>
          <p:cNvSpPr/>
          <p:nvPr/>
        </p:nvSpPr>
        <p:spPr>
          <a:xfrm>
            <a:off x="6476838" y="1790979"/>
            <a:ext cx="4952876" cy="240506"/>
          </a:xfrm>
          <a:prstGeom prst="rect">
            <a:avLst/>
          </a:prstGeom>
          <a:noFill/>
          <a:ln/>
        </p:spPr>
        <p:txBody>
          <a:bodyPr wrap="none" lIns="0" tIns="0" rIns="0" bIns="0" rtlCol="0" anchor="t"/>
          <a:lstStyle/>
          <a:p>
            <a:pPr marL="0" indent="0" algn="l">
              <a:lnSpc>
                <a:spcPct val="90000"/>
              </a:lnSpc>
              <a:buNone/>
            </a:pPr>
            <a:r>
              <a:rPr lang="en-US" sz="1750" kern="100" spc="-18" dirty="0">
                <a:solidFill>
                  <a:srgbClr val="29343A"/>
                </a:solidFill>
                <a:latin typeface="Source Sans 3 SemiBold" pitchFamily="34" charset="0"/>
                <a:ea typeface="Source Sans 3 SemiBold" pitchFamily="34" charset="-122"/>
                <a:cs typeface="Source Sans 3 SemiBold" pitchFamily="34" charset="-120"/>
              </a:rPr>
              <a:t>Arrays</a:t>
            </a:r>
            <a:endParaRPr lang="en-US" sz="1750" dirty="0"/>
          </a:p>
        </p:txBody>
      </p:sp>
      <p:sp>
        <p:nvSpPr>
          <p:cNvPr id="10" name="Text 8"/>
          <p:cNvSpPr/>
          <p:nvPr/>
        </p:nvSpPr>
        <p:spPr>
          <a:xfrm>
            <a:off x="6476838" y="2152749"/>
            <a:ext cx="4952876" cy="1487686"/>
          </a:xfrm>
          <a:prstGeom prst="rect">
            <a:avLst/>
          </a:prstGeom>
          <a:noFill/>
          <a:ln/>
        </p:spPr>
        <p:txBody>
          <a:bodyPr wrap="square" lIns="0" tIns="0" rIns="0" bIns="0" rtlCol="0" anchor="t">
            <a:normAutofit/>
          </a:bodyPr>
          <a:lstStyle/>
          <a:p>
            <a:pPr marL="0" indent="0" algn="l">
              <a:lnSpc>
                <a:spcPct val="112000"/>
              </a:lnSpc>
              <a:spcAft>
                <a:spcPts val="850"/>
              </a:spcAft>
              <a:buNone/>
            </a:pPr>
            <a:r>
              <a:rPr lang="en-US" sz="1550" dirty="0">
                <a:solidFill>
                  <a:srgbClr val="29343A"/>
                </a:solidFill>
                <a:latin typeface="Source Sans 3" pitchFamily="34" charset="0"/>
                <a:ea typeface="Source Sans 3" pitchFamily="34" charset="-122"/>
                <a:cs typeface="Source Sans 3" pitchFamily="34" charset="-120"/>
              </a:rPr>
              <a:t>One-dimensional arrays support traversal, searching, summation, average, and counting; enhanced for-each traverses each value:</a:t>
            </a:r>
            <a:endParaRPr lang="en-US" sz="1550" dirty="0"/>
          </a:p>
          <a:p>
            <a:pPr marL="0" indent="0" algn="l">
              <a:lnSpc>
                <a:spcPct val="112000"/>
              </a:lnSpc>
              <a:buNone/>
            </a:pPr>
            <a:r>
              <a:rPr lang="en-US" sz="1550" dirty="0">
                <a:solidFill>
                  <a:srgbClr val="29343A"/>
                </a:solidFill>
                <a:highlight>
                  <a:srgbClr val="EAE6DD"/>
                </a:highlight>
                <a:latin typeface="Consolas" pitchFamily="34" charset="0"/>
                <a:ea typeface="Consolas" pitchFamily="34" charset="-122"/>
                <a:cs typeface="Consolas" pitchFamily="34" charset="-120"/>
              </a:rPr>
              <a:t>int total = 0; for (int value : roomsByType) { total += value; }</a:t>
            </a:r>
            <a:endParaRPr lang="en-US" sz="1550" dirty="0"/>
          </a:p>
        </p:txBody>
      </p:sp>
      <p:sp>
        <p:nvSpPr>
          <p:cNvPr id="11" name="Text 9"/>
          <p:cNvSpPr/>
          <p:nvPr/>
        </p:nvSpPr>
        <p:spPr>
          <a:xfrm>
            <a:off x="6476838" y="3748584"/>
            <a:ext cx="5181470" cy="189309"/>
          </a:xfrm>
          <a:prstGeom prst="rect">
            <a:avLst/>
          </a:prstGeom>
          <a:noFill/>
          <a:ln/>
        </p:spPr>
        <p:txBody>
          <a:bodyPr wrap="none" lIns="0" tIns="0" rIns="0" bIns="0" rtlCol="0" anchor="t"/>
          <a:lstStyle/>
          <a:p>
            <a:pPr marL="0" indent="0" algn="l">
              <a:lnSpc>
                <a:spcPct val="112000"/>
              </a:lnSpc>
              <a:buNone/>
            </a:pPr>
            <a:r>
              <a:rPr lang="en-US" sz="1100" kern="100" spc="133" dirty="0">
                <a:solidFill>
                  <a:srgbClr val="29343A"/>
                </a:solidFill>
                <a:latin typeface="Source Sans 3" pitchFamily="34" charset="0"/>
                <a:ea typeface="Source Sans 3" pitchFamily="34" charset="-122"/>
                <a:cs typeface="Source Sans 3" pitchFamily="34" charset="-120"/>
              </a:rPr>
              <a:t>TWO-DIMENSIONAL ARRAYS</a:t>
            </a:r>
            <a:endParaRPr lang="en-US" sz="1100" dirty="0"/>
          </a:p>
        </p:txBody>
      </p:sp>
      <p:sp>
        <p:nvSpPr>
          <p:cNvPr id="12" name="Text 10"/>
          <p:cNvSpPr/>
          <p:nvPr/>
        </p:nvSpPr>
        <p:spPr>
          <a:xfrm>
            <a:off x="6476838" y="4046041"/>
            <a:ext cx="4952876" cy="536575"/>
          </a:xfrm>
          <a:prstGeom prst="rect">
            <a:avLst/>
          </a:prstGeom>
          <a:noFill/>
          <a:ln/>
        </p:spPr>
        <p:txBody>
          <a:bodyPr wrap="square" lIns="0" tIns="0" rIns="0" bIns="0" rtlCol="0" anchor="t">
            <a:normAutofit/>
          </a:bodyPr>
          <a:lstStyle/>
          <a:p>
            <a:pPr marL="0" indent="0" algn="l">
              <a:lnSpc>
                <a:spcPct val="112000"/>
              </a:lnSpc>
              <a:buNone/>
            </a:pPr>
            <a:r>
              <a:rPr lang="en-US" sz="1550" dirty="0">
                <a:solidFill>
                  <a:srgbClr val="29343A"/>
                </a:solidFill>
                <a:latin typeface="Source Sans 3" pitchFamily="34" charset="0"/>
                <a:ea typeface="Source Sans 3" pitchFamily="34" charset="-122"/>
                <a:cs typeface="Source Sans 3" pitchFamily="34" charset="-120"/>
              </a:rPr>
              <a:t>A matrix represents room data by type and day; matrix arithmetic includes addition of matching booking matrices.</a:t>
            </a:r>
            <a:endParaRPr lang="en-US" sz="15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76838" y="4690765"/>
          <a:ext cx="4952876" cy="1295566"/>
        </p:xfrm>
        <a:graphic>
          <a:graphicData uri="http://schemas.openxmlformats.org/drawingml/2006/table">
            <a:tbl>
              <a:tblPr/>
              <a:tblGrid>
                <a:gridCol w="1683950">
                  <a:extLst>
                    <a:ext uri="{9D8B030D-6E8A-4147-A177-3AD203B41FA5}">
                      <a16:colId xmlns:a16="http://schemas.microsoft.com/office/drawing/2014/main" val="20000"/>
                    </a:ext>
                  </a:extLst>
                </a:gridCol>
                <a:gridCol w="1089609">
                  <a:extLst>
                    <a:ext uri="{9D8B030D-6E8A-4147-A177-3AD203B41FA5}">
                      <a16:colId xmlns:a16="http://schemas.microsoft.com/office/drawing/2014/main" val="20001"/>
                    </a:ext>
                  </a:extLst>
                </a:gridCol>
                <a:gridCol w="1089609">
                  <a:extLst>
                    <a:ext uri="{9D8B030D-6E8A-4147-A177-3AD203B41FA5}">
                      <a16:colId xmlns:a16="http://schemas.microsoft.com/office/drawing/2014/main" val="20002"/>
                    </a:ext>
                  </a:extLst>
                </a:gridCol>
                <a:gridCol w="1089708">
                  <a:extLst>
                    <a:ext uri="{9D8B030D-6E8A-4147-A177-3AD203B41FA5}">
                      <a16:colId xmlns:a16="http://schemas.microsoft.com/office/drawing/2014/main" val="20003"/>
                    </a:ext>
                  </a:extLst>
                </a:gridCol>
              </a:tblGrid>
              <a:tr h="433972">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Room</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Day 1</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Day 2</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Day 3</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extLst>
                  <a:ext uri="{0D108BD9-81ED-4DB2-BD59-A6C34878D82A}">
                    <a16:rowId xmlns:a16="http://schemas.microsoft.com/office/drawing/2014/main" val="10000"/>
                  </a:ext>
                </a:extLst>
              </a:tr>
              <a:tr h="433972">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Standard</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2</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1</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3</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extLst>
                  <a:ext uri="{0D108BD9-81ED-4DB2-BD59-A6C34878D82A}">
                    <a16:rowId xmlns:a16="http://schemas.microsoft.com/office/drawing/2014/main" val="10001"/>
                  </a:ext>
                </a:extLst>
              </a:tr>
              <a:tr h="427622">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Deluxe</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1</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2</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tc>
                  <a:txBody>
                    <a:bodyPr/>
                    <a:lstStyle/>
                    <a:p>
                      <a:pPr marL="0" indent="0" algn="l">
                        <a:buNone/>
                      </a:pPr>
                      <a:r>
                        <a:rPr lang="en-US" sz="1550" dirty="0">
                          <a:solidFill>
                            <a:srgbClr val="29343A"/>
                          </a:solidFill>
                          <a:latin typeface="Source Sans 3" pitchFamily="34" charset="0"/>
                          <a:ea typeface="Source Sans 3" pitchFamily="34" charset="-122"/>
                          <a:cs typeface="Source Sans 3" pitchFamily="34" charset="-120"/>
                        </a:rPr>
                        <a:t>1</a:t>
                      </a:r>
                      <a:endParaRPr lang="en-US" sz="1550" dirty="0">
                        <a:latin typeface="Source Sans 3" charset="0"/>
                        <a:ea typeface="Source Sans 3" charset="0"/>
                        <a:cs typeface="Source Sans 3" charset="0"/>
                      </a:endParaRPr>
                    </a:p>
                  </a:txBody>
                  <a:tcPr marL="149480" marR="149480" marT="79723" marB="79723" anchor="ctr">
                    <a:lnL w="12700" cap="flat" cmpd="sng" algn="ctr">
                      <a:solidFill>
                        <a:srgbClr val="D2CEC3"/>
                      </a:solidFill>
                      <a:prstDash val="solid"/>
                      <a:round/>
                      <a:headEnd type="none" w="med" len="med"/>
                      <a:tailEnd type="none" w="med" len="med"/>
                    </a:lnL>
                    <a:lnR w="12700" cap="flat" cmpd="sng" algn="ctr">
                      <a:solidFill>
                        <a:srgbClr val="D2CEC3"/>
                      </a:solidFill>
                      <a:prstDash val="solid"/>
                      <a:round/>
                      <a:headEnd type="none" w="med" len="med"/>
                      <a:tailEnd type="none" w="med" len="med"/>
                    </a:lnR>
                    <a:lnT w="12700" cap="flat" cmpd="sng" algn="ctr">
                      <a:solidFill>
                        <a:srgbClr val="D2CEC3"/>
                      </a:solidFill>
                      <a:prstDash val="solid"/>
                      <a:round/>
                      <a:headEnd type="none" w="med" len="med"/>
                      <a:tailEnd type="none" w="med" len="med"/>
                    </a:lnT>
                    <a:lnB w="12700" cap="flat" cmpd="sng" algn="ctr">
                      <a:solidFill>
                        <a:srgbClr val="D2CEC3"/>
                      </a:solidFill>
                      <a:prstDash val="solid"/>
                      <a:round/>
                      <a:headEnd type="none" w="med" len="med"/>
                      <a:tailEnd type="none" w="med" len="med"/>
                    </a:lnB>
                    <a:solidFill>
                      <a:srgbClr val="EAE6DD"/>
                    </a:solidFill>
                  </a:tcPr>
                </a:tc>
                <a:extLst>
                  <a:ext uri="{0D108BD9-81ED-4DB2-BD59-A6C34878D82A}">
                    <a16:rowId xmlns:a16="http://schemas.microsoft.com/office/drawing/2014/main" val="10002"/>
                  </a:ext>
                </a:extLst>
              </a:tr>
            </a:tbl>
          </a:graphicData>
        </a:graphic>
      </p:graphicFrame>
      <p:sp>
        <p:nvSpPr>
          <p:cNvPr id="14" name="Text 11"/>
          <p:cNvSpPr/>
          <p:nvPr/>
        </p:nvSpPr>
        <p:spPr>
          <a:xfrm>
            <a:off x="6476838" y="6164064"/>
            <a:ext cx="5181470" cy="189309"/>
          </a:xfrm>
          <a:prstGeom prst="rect">
            <a:avLst/>
          </a:prstGeom>
          <a:noFill/>
          <a:ln/>
        </p:spPr>
        <p:txBody>
          <a:bodyPr wrap="none" lIns="0" tIns="0" rIns="0" bIns="0" rtlCol="0" anchor="t"/>
          <a:lstStyle/>
          <a:p>
            <a:pPr marL="0" indent="0" algn="l">
              <a:lnSpc>
                <a:spcPct val="112000"/>
              </a:lnSpc>
              <a:buNone/>
            </a:pPr>
            <a:r>
              <a:rPr lang="en-US" sz="1100" kern="100" spc="133" dirty="0">
                <a:solidFill>
                  <a:srgbClr val="92713A"/>
                </a:solidFill>
                <a:latin typeface="Source Sans 3" pitchFamily="34" charset="0"/>
                <a:ea typeface="Source Sans 3" pitchFamily="34" charset="-122"/>
                <a:cs typeface="Source Sans 3" pitchFamily="34" charset="-120"/>
              </a:rPr>
              <a:t>NEXT</a:t>
            </a:r>
            <a:endParaRPr lang="en-US" sz="1100" dirty="0"/>
          </a:p>
        </p:txBody>
      </p:sp>
      <p:sp>
        <p:nvSpPr>
          <p:cNvPr id="15" name="Text 12"/>
          <p:cNvSpPr/>
          <p:nvPr/>
        </p:nvSpPr>
        <p:spPr>
          <a:xfrm>
            <a:off x="6476838" y="6437691"/>
            <a:ext cx="4952876" cy="240506"/>
          </a:xfrm>
          <a:prstGeom prst="rect">
            <a:avLst/>
          </a:prstGeom>
          <a:noFill/>
          <a:ln/>
        </p:spPr>
        <p:txBody>
          <a:bodyPr wrap="none" lIns="0" tIns="0" rIns="0" bIns="0" rtlCol="0" anchor="t"/>
          <a:lstStyle/>
          <a:p>
            <a:pPr marL="0" indent="0" algn="l">
              <a:lnSpc>
                <a:spcPct val="90000"/>
              </a:lnSpc>
              <a:buNone/>
            </a:pPr>
            <a:r>
              <a:rPr lang="en-US" sz="1750" kern="100" spc="-18" dirty="0">
                <a:solidFill>
                  <a:srgbClr val="29343A"/>
                </a:solidFill>
                <a:latin typeface="Source Sans 3 SemiBold" pitchFamily="34" charset="0"/>
                <a:ea typeface="Source Sans 3 SemiBold" pitchFamily="34" charset="-122"/>
                <a:cs typeface="Source Sans 3 SemiBold" pitchFamily="34" charset="-120"/>
              </a:rPr>
              <a:t>Continued in Part 2 – CO4, CO5 and CO6.</a:t>
            </a:r>
            <a:endParaRPr lang="en-US" sz="1750" dirty="0"/>
          </a:p>
        </p:txBody>
      </p:sp>
      <p:sp>
        <p:nvSpPr>
          <p:cNvPr id="16" name="Text 13"/>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3387" y="431800"/>
            <a:ext cx="11658308" cy="194568"/>
          </a:xfrm>
          <a:prstGeom prst="rect">
            <a:avLst/>
          </a:prstGeom>
          <a:noFill/>
          <a:ln/>
        </p:spPr>
        <p:txBody>
          <a:bodyPr wrap="none" lIns="0" tIns="0" rIns="0" bIns="0" rtlCol="0" anchor="t"/>
          <a:lstStyle/>
          <a:p>
            <a:pPr marL="0" indent="0" algn="l">
              <a:lnSpc>
                <a:spcPct val="113000"/>
              </a:lnSpc>
              <a:buNone/>
            </a:pPr>
            <a:r>
              <a:rPr lang="en-US" sz="1150" kern="100" spc="135" dirty="0">
                <a:solidFill>
                  <a:srgbClr val="173B35"/>
                </a:solidFill>
                <a:latin typeface="Source Sans 3" pitchFamily="34" charset="0"/>
                <a:ea typeface="Source Sans 3" pitchFamily="34" charset="-122"/>
                <a:cs typeface="Source Sans 3" pitchFamily="34" charset="-120"/>
              </a:rPr>
              <a:t>CO4 · CLASSES, OBJECTS AND EXCEPTIONS</a:t>
            </a:r>
            <a:endParaRPr lang="en-US" sz="1150" dirty="0"/>
          </a:p>
        </p:txBody>
      </p:sp>
      <p:sp>
        <p:nvSpPr>
          <p:cNvPr id="3" name="Text 1"/>
          <p:cNvSpPr/>
          <p:nvPr/>
        </p:nvSpPr>
        <p:spPr>
          <a:xfrm>
            <a:off x="533387" y="719642"/>
            <a:ext cx="11124922" cy="386854"/>
          </a:xfrm>
          <a:prstGeom prst="rect">
            <a:avLst/>
          </a:prstGeom>
          <a:noFill/>
          <a:ln/>
        </p:spPr>
        <p:txBody>
          <a:bodyPr wrap="none" lIns="0" tIns="0" rIns="0" bIns="0" rtlCol="0" anchor="t"/>
          <a:lstStyle/>
          <a:p>
            <a:pPr marL="0" indent="0" algn="l">
              <a:lnSpc>
                <a:spcPct val="90000"/>
              </a:lnSpc>
              <a:buNone/>
            </a:pPr>
            <a:r>
              <a:rPr lang="en-US" sz="2800" kern="100" spc="-28" dirty="0">
                <a:solidFill>
                  <a:srgbClr val="173B35"/>
                </a:solidFill>
                <a:latin typeface="Cormorant Garamond SemiBold" pitchFamily="34" charset="0"/>
                <a:ea typeface="Cormorant Garamond SemiBold" pitchFamily="34" charset="-122"/>
                <a:cs typeface="Cormorant Garamond SemiBold" pitchFamily="34" charset="-120"/>
              </a:rPr>
              <a:t>Classes and objects bundle booking data and protect it with exceptions</a:t>
            </a:r>
            <a:endParaRPr lang="en-US" sz="2800" dirty="0"/>
          </a:p>
        </p:txBody>
      </p:sp>
      <p:sp>
        <p:nvSpPr>
          <p:cNvPr id="4" name="Shape 2"/>
          <p:cNvSpPr/>
          <p:nvPr/>
        </p:nvSpPr>
        <p:spPr>
          <a:xfrm>
            <a:off x="533387" y="1328837"/>
            <a:ext cx="3671200" cy="31651"/>
          </a:xfrm>
          <a:prstGeom prst="roundRect">
            <a:avLst>
              <a:gd name="adj" fmla="val 49998"/>
            </a:avLst>
          </a:prstGeom>
          <a:solidFill>
            <a:srgbClr val="C5A46D"/>
          </a:solidFill>
          <a:ln/>
        </p:spPr>
      </p:sp>
      <p:sp>
        <p:nvSpPr>
          <p:cNvPr id="5" name="Shape 3"/>
          <p:cNvSpPr/>
          <p:nvPr/>
        </p:nvSpPr>
        <p:spPr>
          <a:xfrm>
            <a:off x="533387" y="1580852"/>
            <a:ext cx="5410065" cy="5276850"/>
          </a:xfrm>
          <a:prstGeom prst="rect">
            <a:avLst/>
          </a:prstGeom>
          <a:solidFill>
            <a:srgbClr val="EAE6DD"/>
          </a:solidFill>
          <a:ln/>
        </p:spPr>
      </p:sp>
      <p:sp>
        <p:nvSpPr>
          <p:cNvPr id="6" name="Text 4"/>
          <p:cNvSpPr/>
          <p:nvPr/>
        </p:nvSpPr>
        <p:spPr>
          <a:xfrm>
            <a:off x="761981" y="1814865"/>
            <a:ext cx="4952876" cy="244971"/>
          </a:xfrm>
          <a:prstGeom prst="rect">
            <a:avLst/>
          </a:prstGeom>
          <a:noFill/>
          <a:ln/>
        </p:spPr>
        <p:txBody>
          <a:bodyPr wrap="none" lIns="0" tIns="0" rIns="0" bIns="0" rtlCol="0" anchor="t"/>
          <a:lstStyle/>
          <a:p>
            <a:pPr marL="0" indent="0" algn="l">
              <a:lnSpc>
                <a:spcPct val="90000"/>
              </a:lnSpc>
              <a:buNone/>
            </a:pPr>
            <a:r>
              <a:rPr lang="en-US" sz="1800" kern="100" spc="-18" dirty="0">
                <a:solidFill>
                  <a:srgbClr val="29343A"/>
                </a:solidFill>
                <a:latin typeface="Source Sans 3 SemiBold" pitchFamily="34" charset="0"/>
                <a:ea typeface="Source Sans 3 SemiBold" pitchFamily="34" charset="-122"/>
                <a:cs typeface="Source Sans 3 SemiBold" pitchFamily="34" charset="-120"/>
              </a:rPr>
              <a:t>Class &amp; encapsulation</a:t>
            </a:r>
            <a:endParaRPr lang="en-US" sz="1800" dirty="0"/>
          </a:p>
        </p:txBody>
      </p:sp>
      <p:sp>
        <p:nvSpPr>
          <p:cNvPr id="7" name="Text 5"/>
          <p:cNvSpPr/>
          <p:nvPr/>
        </p:nvSpPr>
        <p:spPr>
          <a:xfrm>
            <a:off x="761981" y="2191941"/>
            <a:ext cx="4952876" cy="4437162"/>
          </a:xfrm>
          <a:prstGeom prst="rect">
            <a:avLst/>
          </a:prstGeom>
          <a:noFill/>
          <a:ln/>
        </p:spPr>
        <p:txBody>
          <a:bodyPr wrap="square" lIns="0" tIns="0" rIns="0" bIns="0" rtlCol="0" anchor="t">
            <a:normAutofit lnSpcReduction="10000"/>
          </a:bodyPr>
          <a:lstStyle/>
          <a:p>
            <a:pPr marL="0" indent="0" algn="l">
              <a:lnSpc>
                <a:spcPct val="113000"/>
              </a:lnSpc>
              <a:spcAft>
                <a:spcPts val="850"/>
              </a:spcAft>
              <a:buNone/>
            </a:pPr>
            <a:r>
              <a:rPr lang="en-US" sz="1600" dirty="0">
                <a:solidFill>
                  <a:srgbClr val="29343A"/>
                </a:solidFill>
                <a:latin typeface="Source Sans 3" pitchFamily="34" charset="0"/>
                <a:ea typeface="Source Sans 3" pitchFamily="34" charset="-122"/>
                <a:cs typeface="Source Sans 3" pitchFamily="34" charset="-120"/>
              </a:rPr>
              <a:t>A class defines attributes and methods; an object is one booking. Private data members are read through getters and set through validated setters. Constructors set up each object: a default constructor and a parameterized constructor.</a:t>
            </a:r>
            <a:endParaRPr lang="en-US" sz="1600" dirty="0"/>
          </a:p>
          <a:p>
            <a:pPr marL="0" indent="0" algn="l">
              <a:lnSpc>
                <a:spcPct val="113000"/>
              </a:lnSpc>
              <a:buNone/>
            </a:pPr>
            <a:r>
              <a:rPr lang="en-US" sz="1600" dirty="0">
                <a:solidFill>
                  <a:srgbClr val="29343A"/>
                </a:solidFill>
                <a:highlight>
                  <a:srgbClr val="EAE6DD"/>
                </a:highlight>
                <a:latin typeface="Consolas" pitchFamily="34" charset="0"/>
                <a:ea typeface="Consolas" pitchFamily="34" charset="-122"/>
                <a:cs typeface="Consolas" pitchFamily="34" charset="-120"/>
              </a:rPr>
              <a:t>public class HotelBooking { private String customerName; private String roomType; private int numberOfRooms; private int numberOfDays; public HotelBooking(String customerName, String roomType, int numberOfRooms, int numberOfDays) { this.customerName = customerName; this.roomType = roomType; this.numberOfRooms = numberOfRooms; this.numberOfDays = numberOfDays; } public String getCustomerName() { return customerName; } }</a:t>
            </a:r>
            <a:endParaRPr lang="en-US" sz="1600" dirty="0"/>
          </a:p>
        </p:txBody>
      </p:sp>
      <p:sp>
        <p:nvSpPr>
          <p:cNvPr id="8" name="Shape 6"/>
          <p:cNvSpPr/>
          <p:nvPr/>
        </p:nvSpPr>
        <p:spPr>
          <a:xfrm>
            <a:off x="6248244" y="1580852"/>
            <a:ext cx="5410065" cy="5276850"/>
          </a:xfrm>
          <a:prstGeom prst="rect">
            <a:avLst/>
          </a:prstGeom>
          <a:solidFill>
            <a:srgbClr val="EAE6DD"/>
          </a:solidFill>
          <a:ln/>
        </p:spPr>
      </p:sp>
      <p:sp>
        <p:nvSpPr>
          <p:cNvPr id="9" name="Text 7"/>
          <p:cNvSpPr/>
          <p:nvPr/>
        </p:nvSpPr>
        <p:spPr>
          <a:xfrm>
            <a:off x="6476838" y="1814865"/>
            <a:ext cx="4952876" cy="244971"/>
          </a:xfrm>
          <a:prstGeom prst="rect">
            <a:avLst/>
          </a:prstGeom>
          <a:noFill/>
          <a:ln/>
        </p:spPr>
        <p:txBody>
          <a:bodyPr wrap="none" lIns="0" tIns="0" rIns="0" bIns="0" rtlCol="0" anchor="t"/>
          <a:lstStyle/>
          <a:p>
            <a:pPr marL="0" indent="0" algn="l">
              <a:lnSpc>
                <a:spcPct val="90000"/>
              </a:lnSpc>
              <a:buNone/>
            </a:pPr>
            <a:r>
              <a:rPr lang="en-US" sz="1800" kern="100" spc="-18" dirty="0">
                <a:solidFill>
                  <a:srgbClr val="29343A"/>
                </a:solidFill>
                <a:latin typeface="Source Sans 3 SemiBold" pitchFamily="34" charset="0"/>
                <a:ea typeface="Source Sans 3 SemiBold" pitchFamily="34" charset="-122"/>
                <a:cs typeface="Source Sans 3 SemiBold" pitchFamily="34" charset="-120"/>
              </a:rPr>
              <a:t>Exception handling</a:t>
            </a:r>
            <a:endParaRPr lang="en-US" sz="1800" dirty="0"/>
          </a:p>
        </p:txBody>
      </p:sp>
      <p:sp>
        <p:nvSpPr>
          <p:cNvPr id="10" name="Text 8"/>
          <p:cNvSpPr/>
          <p:nvPr/>
        </p:nvSpPr>
        <p:spPr>
          <a:xfrm>
            <a:off x="6476838" y="2191941"/>
            <a:ext cx="4952876" cy="4110335"/>
          </a:xfrm>
          <a:prstGeom prst="rect">
            <a:avLst/>
          </a:prstGeom>
          <a:noFill/>
          <a:ln/>
        </p:spPr>
        <p:txBody>
          <a:bodyPr wrap="square" lIns="0" tIns="0" rIns="0" bIns="0" rtlCol="0" anchor="t">
            <a:normAutofit lnSpcReduction="10000"/>
          </a:bodyPr>
          <a:lstStyle/>
          <a:p>
            <a:pPr marL="0" indent="0" algn="l">
              <a:lnSpc>
                <a:spcPct val="113000"/>
              </a:lnSpc>
              <a:spcAft>
                <a:spcPts val="850"/>
              </a:spcAft>
              <a:buNone/>
            </a:pPr>
            <a:r>
              <a:rPr lang="en-US" sz="1600" dirty="0">
                <a:solidFill>
                  <a:srgbClr val="29343A"/>
                </a:solidFill>
                <a:latin typeface="Source Sans 3" pitchFamily="34" charset="0"/>
                <a:ea typeface="Source Sans 3" pitchFamily="34" charset="-122"/>
                <a:cs typeface="Source Sans 3" pitchFamily="34" charset="-120"/>
              </a:rPr>
              <a:t>try holds risky code, catch handles the error, finally always runs. throw raises an exception; throws declares it in the method signature.</a:t>
            </a:r>
            <a:endParaRPr lang="en-US" sz="1600" dirty="0"/>
          </a:p>
          <a:p>
            <a:pPr marL="0" indent="0" algn="l">
              <a:lnSpc>
                <a:spcPct val="113000"/>
              </a:lnSpc>
              <a:spcAft>
                <a:spcPts val="850"/>
              </a:spcAft>
              <a:buNone/>
            </a:pPr>
            <a:r>
              <a:rPr lang="en-US" sz="1600" dirty="0">
                <a:solidFill>
                  <a:srgbClr val="29343A"/>
                </a:solidFill>
                <a:highlight>
                  <a:srgbClr val="EAE6DD"/>
                </a:highlight>
                <a:latin typeface="Consolas" pitchFamily="34" charset="0"/>
                <a:ea typeface="Consolas" pitchFamily="34" charset="-122"/>
                <a:cs typeface="Consolas" pitchFamily="34" charset="-120"/>
              </a:rPr>
              <a:t>class InvalidBookingException extends Exception { public InvalidBookingException(String message) { super(message); } }</a:t>
            </a:r>
            <a:endParaRPr lang="en-US" sz="1600" dirty="0"/>
          </a:p>
          <a:p>
            <a:pPr marL="0" indent="0" algn="l">
              <a:lnSpc>
                <a:spcPct val="113000"/>
              </a:lnSpc>
              <a:spcAft>
                <a:spcPts val="850"/>
              </a:spcAft>
              <a:buNone/>
            </a:pPr>
            <a:r>
              <a:rPr lang="en-US" sz="1600" dirty="0">
                <a:solidFill>
                  <a:srgbClr val="29343A"/>
                </a:solidFill>
                <a:highlight>
                  <a:srgbClr val="EAE6DD"/>
                </a:highlight>
                <a:latin typeface="Consolas" pitchFamily="34" charset="0"/>
                <a:ea typeface="Consolas" pitchFamily="34" charset="-122"/>
                <a:cs typeface="Consolas" pitchFamily="34" charset="-120"/>
              </a:rPr>
              <a:t>if (numberOfRooms &lt;= 0) { throw new InvalidBookingException("Rooms must be positive"); }</a:t>
            </a:r>
            <a:endParaRPr lang="en-US" sz="1600" dirty="0"/>
          </a:p>
          <a:p>
            <a:pPr marL="0" indent="0" algn="l">
              <a:lnSpc>
                <a:spcPct val="113000"/>
              </a:lnSpc>
              <a:buNone/>
            </a:pPr>
            <a:r>
              <a:rPr lang="en-US" sz="1600" dirty="0">
                <a:solidFill>
                  <a:srgbClr val="29343A"/>
                </a:solidFill>
                <a:highlight>
                  <a:srgbClr val="EAE6DD"/>
                </a:highlight>
                <a:latin typeface="Consolas" pitchFamily="34" charset="0"/>
                <a:ea typeface="Consolas" pitchFamily="34" charset="-122"/>
                <a:cs typeface="Consolas" pitchFamily="34" charset="-120"/>
              </a:rPr>
              <a:t>try { booking.validate(); } catch (InvalidBookingException e) { System.out.println(e.getMessage()); } finally { System.out.println("Check complete"); }</a:t>
            </a:r>
            <a:endParaRPr lang="en-US" sz="1600" dirty="0"/>
          </a:p>
        </p:txBody>
      </p:sp>
      <p:sp>
        <p:nvSpPr>
          <p:cNvPr id="11" name="Text 9"/>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7</a:t>
            </a:r>
            <a:endParaRPr lang="en-US" sz="1200" dirty="0"/>
          </a:p>
        </p:txBody>
      </p:sp>
    </p:spTree>
    <p:extLst>
      <p:ext uri="{BB962C8B-B14F-4D97-AF65-F5344CB8AC3E}">
        <p14:creationId xmlns:p14="http://schemas.microsoft.com/office/powerpoint/2010/main" val="2359575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3387" y="431800"/>
            <a:ext cx="11658308"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CO5 · STRINGS, FILES AND SEARCHING</a:t>
            </a:r>
            <a:endParaRPr lang="en-US" sz="1200" dirty="0"/>
          </a:p>
        </p:txBody>
      </p:sp>
      <p:sp>
        <p:nvSpPr>
          <p:cNvPr id="3" name="Text 1"/>
          <p:cNvSpPr/>
          <p:nvPr/>
        </p:nvSpPr>
        <p:spPr>
          <a:xfrm>
            <a:off x="533387" y="751800"/>
            <a:ext cx="11124922" cy="411460"/>
          </a:xfrm>
          <a:prstGeom prst="rect">
            <a:avLst/>
          </a:prstGeom>
          <a:noFill/>
          <a:ln/>
        </p:spPr>
        <p:txBody>
          <a:bodyPr wrap="none" lIns="0" tIns="0" rIns="0" bIns="0" rtlCol="0" anchor="t"/>
          <a:lstStyle/>
          <a:p>
            <a:pPr marL="0" indent="0" algn="l">
              <a:lnSpc>
                <a:spcPct val="90000"/>
              </a:lnSpc>
              <a:buNone/>
            </a:pPr>
            <a:r>
              <a:rPr lang="en-US" sz="3000" kern="100" spc="-30" dirty="0">
                <a:solidFill>
                  <a:srgbClr val="173B35"/>
                </a:solidFill>
                <a:latin typeface="Cormorant Garamond SemiBold" pitchFamily="34" charset="0"/>
                <a:ea typeface="Cormorant Garamond SemiBold" pitchFamily="34" charset="-122"/>
                <a:cs typeface="Cormorant Garamond SemiBold" pitchFamily="34" charset="-120"/>
              </a:rPr>
              <a:t>Strings and files store customer names, room types and saved bookings</a:t>
            </a:r>
            <a:endParaRPr lang="en-US" sz="3000" dirty="0"/>
          </a:p>
        </p:txBody>
      </p:sp>
      <p:sp>
        <p:nvSpPr>
          <p:cNvPr id="4" name="Shape 2"/>
          <p:cNvSpPr/>
          <p:nvPr/>
        </p:nvSpPr>
        <p:spPr>
          <a:xfrm>
            <a:off x="533387" y="1410593"/>
            <a:ext cx="3671200" cy="31651"/>
          </a:xfrm>
          <a:prstGeom prst="roundRect">
            <a:avLst>
              <a:gd name="adj" fmla="val 49998"/>
            </a:avLst>
          </a:prstGeom>
          <a:solidFill>
            <a:srgbClr val="C5A46D"/>
          </a:solidFill>
          <a:ln/>
        </p:spPr>
      </p:sp>
      <p:sp>
        <p:nvSpPr>
          <p:cNvPr id="5" name="Shape 3"/>
          <p:cNvSpPr/>
          <p:nvPr/>
        </p:nvSpPr>
        <p:spPr>
          <a:xfrm>
            <a:off x="533387" y="1688405"/>
            <a:ext cx="5410065" cy="4213027"/>
          </a:xfrm>
          <a:prstGeom prst="rect">
            <a:avLst/>
          </a:prstGeom>
          <a:solidFill>
            <a:srgbClr val="EAE6DD"/>
          </a:solidFill>
          <a:ln/>
        </p:spPr>
      </p:sp>
      <p:sp>
        <p:nvSpPr>
          <p:cNvPr id="6" name="Text 4"/>
          <p:cNvSpPr/>
          <p:nvPr/>
        </p:nvSpPr>
        <p:spPr>
          <a:xfrm>
            <a:off x="761981" y="1928054"/>
            <a:ext cx="4952876"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String handling</a:t>
            </a:r>
            <a:endParaRPr lang="en-US" sz="1900" dirty="0"/>
          </a:p>
        </p:txBody>
      </p:sp>
      <p:sp>
        <p:nvSpPr>
          <p:cNvPr id="7" name="Text 5"/>
          <p:cNvSpPr/>
          <p:nvPr/>
        </p:nvSpPr>
        <p:spPr>
          <a:xfrm>
            <a:off x="761981" y="2333129"/>
            <a:ext cx="4952876" cy="2433042"/>
          </a:xfrm>
          <a:prstGeom prst="rect">
            <a:avLst/>
          </a:prstGeom>
          <a:noFill/>
          <a:ln/>
        </p:spPr>
        <p:txBody>
          <a:bodyPr wrap="square" lIns="0" tIns="0" rIns="0" bIns="0" rtlCol="0" anchor="t">
            <a:normAutofit fontScale="92500"/>
          </a:bodyPr>
          <a:lstStyle/>
          <a:p>
            <a:pPr marL="0" indent="0" algn="l">
              <a:lnSpc>
                <a:spcPct val="117000"/>
              </a:lnSpc>
              <a:spcAft>
                <a:spcPts val="950"/>
              </a:spcAft>
              <a:buNone/>
            </a:pPr>
            <a:r>
              <a:rPr lang="en-US" sz="1700" dirty="0">
                <a:solidFill>
                  <a:srgbClr val="29343A"/>
                </a:solidFill>
                <a:latin typeface="Source Sans 3" pitchFamily="34" charset="0"/>
                <a:ea typeface="Source Sans 3" pitchFamily="34" charset="-122"/>
                <a:cs typeface="Source Sans 3" pitchFamily="34" charset="-120"/>
              </a:rPr>
              <a:t>Clean and compare user input before searching or saving.</a:t>
            </a:r>
            <a:endParaRPr lang="en-US" sz="1700" dirty="0"/>
          </a:p>
          <a:p>
            <a:pPr marL="0" indent="0" algn="l">
              <a:lnSpc>
                <a:spcPct val="117000"/>
              </a:lnSpc>
              <a:spcAft>
                <a:spcPts val="950"/>
              </a:spcAft>
              <a:buNone/>
            </a:pPr>
            <a:r>
              <a:rPr lang="en-US" sz="1700" dirty="0">
                <a:solidFill>
                  <a:srgbClr val="29343A"/>
                </a:solidFill>
                <a:highlight>
                  <a:srgbClr val="EAE6DD"/>
                </a:highlight>
                <a:latin typeface="Consolas" pitchFamily="34" charset="0"/>
                <a:ea typeface="Consolas" pitchFamily="34" charset="-122"/>
                <a:cs typeface="Consolas" pitchFamily="34" charset="-120"/>
              </a:rPr>
              <a:t>String name = "  Asha Rao  ".trim().toLowerCase(); int size = name.length(); String[] parts = "Deluxe,2,3".split(",");</a:t>
            </a:r>
            <a:endParaRPr lang="en-US" sz="1700" dirty="0"/>
          </a:p>
          <a:p>
            <a:pPr marL="0" indent="0" algn="l">
              <a:lnSpc>
                <a:spcPct val="117000"/>
              </a:lnSpc>
              <a:buNone/>
            </a:pPr>
            <a:r>
              <a:rPr lang="en-US" sz="1700" dirty="0">
                <a:solidFill>
                  <a:srgbClr val="29343A"/>
                </a:solidFill>
                <a:highlight>
                  <a:srgbClr val="EAE6DD"/>
                </a:highlight>
                <a:latin typeface="Consolas" pitchFamily="34" charset="0"/>
                <a:ea typeface="Consolas" pitchFamily="34" charset="-122"/>
                <a:cs typeface="Consolas" pitchFamily="34" charset="-120"/>
              </a:rPr>
              <a:t>if (roomType.equals("Suite")) { System.out.println("Suite selected"); }</a:t>
            </a:r>
            <a:endParaRPr lang="en-US" sz="1700" dirty="0"/>
          </a:p>
        </p:txBody>
      </p:sp>
      <p:sp>
        <p:nvSpPr>
          <p:cNvPr id="8" name="Shape 6"/>
          <p:cNvSpPr/>
          <p:nvPr/>
        </p:nvSpPr>
        <p:spPr>
          <a:xfrm>
            <a:off x="6248244" y="1688405"/>
            <a:ext cx="5410065" cy="4213027"/>
          </a:xfrm>
          <a:prstGeom prst="rect">
            <a:avLst/>
          </a:prstGeom>
          <a:solidFill>
            <a:srgbClr val="EAE6DD"/>
          </a:solidFill>
          <a:ln/>
        </p:spPr>
      </p:sp>
      <p:sp>
        <p:nvSpPr>
          <p:cNvPr id="9" name="Text 7"/>
          <p:cNvSpPr/>
          <p:nvPr/>
        </p:nvSpPr>
        <p:spPr>
          <a:xfrm>
            <a:off x="6476838" y="1928054"/>
            <a:ext cx="4952876"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File reading &amp; writing</a:t>
            </a:r>
            <a:endParaRPr lang="en-US" sz="1900" dirty="0"/>
          </a:p>
        </p:txBody>
      </p:sp>
      <p:sp>
        <p:nvSpPr>
          <p:cNvPr id="10" name="Text 8"/>
          <p:cNvSpPr/>
          <p:nvPr/>
        </p:nvSpPr>
        <p:spPr>
          <a:xfrm>
            <a:off x="6476838" y="2333129"/>
            <a:ext cx="4952876" cy="3339703"/>
          </a:xfrm>
          <a:prstGeom prst="rect">
            <a:avLst/>
          </a:prstGeom>
          <a:noFill/>
          <a:ln/>
        </p:spPr>
        <p:txBody>
          <a:bodyPr wrap="square" lIns="0" tIns="0" rIns="0" bIns="0" rtlCol="0" anchor="t">
            <a:normAutofit fontScale="92500" lnSpcReduction="10000"/>
          </a:bodyPr>
          <a:lstStyle/>
          <a:p>
            <a:pPr marL="0" indent="0" algn="l">
              <a:lnSpc>
                <a:spcPct val="117000"/>
              </a:lnSpc>
              <a:spcAft>
                <a:spcPts val="950"/>
              </a:spcAft>
              <a:buNone/>
            </a:pPr>
            <a:r>
              <a:rPr lang="en-US" sz="1700" dirty="0">
                <a:solidFill>
                  <a:srgbClr val="29343A"/>
                </a:solidFill>
                <a:latin typeface="Source Sans 3" pitchFamily="34" charset="0"/>
                <a:ea typeface="Source Sans 3" pitchFamily="34" charset="-122"/>
                <a:cs typeface="Source Sans 3" pitchFamily="34" charset="-120"/>
              </a:rPr>
              <a:t>FileWriter saves a booking record; BufferedReader reads records line by line. try-with-resources closes both files automatically.</a:t>
            </a:r>
            <a:endParaRPr lang="en-US" sz="1700" dirty="0"/>
          </a:p>
          <a:p>
            <a:pPr marL="0" indent="0" algn="l">
              <a:lnSpc>
                <a:spcPct val="117000"/>
              </a:lnSpc>
              <a:spcAft>
                <a:spcPts val="950"/>
              </a:spcAft>
              <a:buNone/>
            </a:pPr>
            <a:r>
              <a:rPr lang="en-US" sz="1700" dirty="0">
                <a:solidFill>
                  <a:srgbClr val="29343A"/>
                </a:solidFill>
                <a:highlight>
                  <a:srgbClr val="EAE6DD"/>
                </a:highlight>
                <a:latin typeface="Consolas" pitchFamily="34" charset="0"/>
                <a:ea typeface="Consolas" pitchFamily="34" charset="-122"/>
                <a:cs typeface="Consolas" pitchFamily="34" charset="-120"/>
              </a:rPr>
              <a:t>try (FileWriter fw = new FileWriter("bookings.txt", true); BufferedReader br = new BufferedReader(new FileReader("bookings.txt"))) { fw.write("Asha Rao,Deluxe,2,3\n"); String line = br.readLine(); }</a:t>
            </a:r>
            <a:endParaRPr lang="en-US" sz="1700" dirty="0"/>
          </a:p>
          <a:p>
            <a:pPr marL="0" indent="0" algn="l">
              <a:lnSpc>
                <a:spcPct val="117000"/>
              </a:lnSpc>
              <a:buNone/>
            </a:pPr>
            <a:r>
              <a:rPr lang="en-US" sz="1700" b="1" dirty="0">
                <a:solidFill>
                  <a:srgbClr val="29343A"/>
                </a:solidFill>
                <a:latin typeface="Source Sans 3 Bold" pitchFamily="34" charset="0"/>
                <a:ea typeface="Source Sans 3 Bold" pitchFamily="34" charset="-122"/>
                <a:cs typeface="Source Sans 3 Bold" pitchFamily="34" charset="-120"/>
              </a:rPr>
              <a:t>Search:</a:t>
            </a:r>
            <a:r>
              <a:rPr lang="en-US" sz="1700" dirty="0">
                <a:solidFill>
                  <a:srgbClr val="29343A"/>
                </a:solidFill>
                <a:latin typeface="Source Sans 3" pitchFamily="34" charset="0"/>
                <a:ea typeface="Source Sans 3" pitchFamily="34" charset="-122"/>
                <a:cs typeface="Source Sans 3" pitchFamily="34" charset="-120"/>
              </a:rPr>
              <a:t> loop through records and keep lines where the name or room type matches the query.</a:t>
            </a:r>
            <a:endParaRPr lang="en-US" sz="1700" dirty="0"/>
          </a:p>
        </p:txBody>
      </p:sp>
      <p:sp>
        <p:nvSpPr>
          <p:cNvPr id="11" name="Text 9"/>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8</a:t>
            </a:r>
            <a:endParaRPr lang="en-US" sz="1200" dirty="0"/>
          </a:p>
        </p:txBody>
      </p:sp>
    </p:spTree>
    <p:extLst>
      <p:ext uri="{BB962C8B-B14F-4D97-AF65-F5344CB8AC3E}">
        <p14:creationId xmlns:p14="http://schemas.microsoft.com/office/powerpoint/2010/main" val="1335003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3387" y="431800"/>
            <a:ext cx="11658308"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CO6 · COLLECTIONS AND STREAMS</a:t>
            </a:r>
            <a:endParaRPr lang="en-US" sz="1200" dirty="0"/>
          </a:p>
        </p:txBody>
      </p:sp>
      <p:sp>
        <p:nvSpPr>
          <p:cNvPr id="3" name="Text 1"/>
          <p:cNvSpPr/>
          <p:nvPr/>
        </p:nvSpPr>
        <p:spPr>
          <a:xfrm>
            <a:off x="533387" y="751800"/>
            <a:ext cx="11124922" cy="411460"/>
          </a:xfrm>
          <a:prstGeom prst="rect">
            <a:avLst/>
          </a:prstGeom>
          <a:noFill/>
          <a:ln/>
        </p:spPr>
        <p:txBody>
          <a:bodyPr wrap="none" lIns="0" tIns="0" rIns="0" bIns="0" rtlCol="0" anchor="t"/>
          <a:lstStyle/>
          <a:p>
            <a:pPr marL="0" indent="0" algn="l">
              <a:lnSpc>
                <a:spcPct val="90000"/>
              </a:lnSpc>
              <a:buNone/>
            </a:pPr>
            <a:r>
              <a:rPr lang="en-US" sz="3000" kern="100" spc="-30" dirty="0">
                <a:solidFill>
                  <a:srgbClr val="173B35"/>
                </a:solidFill>
                <a:latin typeface="Cormorant Garamond SemiBold" pitchFamily="34" charset="0"/>
                <a:ea typeface="Cormorant Garamond SemiBold" pitchFamily="34" charset="-122"/>
                <a:cs typeface="Cormorant Garamond SemiBold" pitchFamily="34" charset="-120"/>
              </a:rPr>
              <a:t>Collections and streams organise and analyse many booking objects</a:t>
            </a:r>
            <a:endParaRPr lang="en-US" sz="3000" dirty="0"/>
          </a:p>
        </p:txBody>
      </p:sp>
      <p:sp>
        <p:nvSpPr>
          <p:cNvPr id="4" name="Shape 2"/>
          <p:cNvSpPr/>
          <p:nvPr/>
        </p:nvSpPr>
        <p:spPr>
          <a:xfrm>
            <a:off x="533387" y="1410593"/>
            <a:ext cx="3671200" cy="31651"/>
          </a:xfrm>
          <a:prstGeom prst="roundRect">
            <a:avLst>
              <a:gd name="adj" fmla="val 49998"/>
            </a:avLst>
          </a:prstGeom>
          <a:solidFill>
            <a:srgbClr val="C5A46D"/>
          </a:solidFill>
          <a:ln/>
        </p:spPr>
      </p:sp>
      <p:sp>
        <p:nvSpPr>
          <p:cNvPr id="5" name="Shape 3"/>
          <p:cNvSpPr/>
          <p:nvPr/>
        </p:nvSpPr>
        <p:spPr>
          <a:xfrm>
            <a:off x="533387" y="1688405"/>
            <a:ext cx="5410065" cy="3608586"/>
          </a:xfrm>
          <a:prstGeom prst="rect">
            <a:avLst/>
          </a:prstGeom>
          <a:solidFill>
            <a:srgbClr val="EAE6DD"/>
          </a:solidFill>
          <a:ln/>
        </p:spPr>
      </p:sp>
      <p:sp>
        <p:nvSpPr>
          <p:cNvPr id="6" name="Text 4"/>
          <p:cNvSpPr/>
          <p:nvPr/>
        </p:nvSpPr>
        <p:spPr>
          <a:xfrm>
            <a:off x="761981" y="1928054"/>
            <a:ext cx="4952876"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Storing bookings</a:t>
            </a:r>
            <a:endParaRPr lang="en-US" sz="1900" dirty="0"/>
          </a:p>
        </p:txBody>
      </p:sp>
      <p:sp>
        <p:nvSpPr>
          <p:cNvPr id="7" name="Text 5"/>
          <p:cNvSpPr/>
          <p:nvPr/>
        </p:nvSpPr>
        <p:spPr>
          <a:xfrm>
            <a:off x="761981" y="2333129"/>
            <a:ext cx="4952876" cy="2735263"/>
          </a:xfrm>
          <a:prstGeom prst="rect">
            <a:avLst/>
          </a:prstGeom>
          <a:noFill/>
          <a:ln/>
        </p:spPr>
        <p:txBody>
          <a:bodyPr wrap="square" lIns="0" tIns="0" rIns="0" bIns="0" rtlCol="0" anchor="t">
            <a:normAutofit fontScale="92500"/>
          </a:bodyPr>
          <a:lstStyle/>
          <a:p>
            <a:pPr marL="0" indent="0" algn="l">
              <a:lnSpc>
                <a:spcPct val="117000"/>
              </a:lnSpc>
              <a:spcAft>
                <a:spcPts val="950"/>
              </a:spcAft>
              <a:buNone/>
            </a:pPr>
            <a:r>
              <a:rPr lang="en-US" sz="1700" b="1" dirty="0">
                <a:solidFill>
                  <a:srgbClr val="29343A"/>
                </a:solidFill>
                <a:latin typeface="Source Sans 3 Bold" pitchFamily="34" charset="0"/>
                <a:ea typeface="Source Sans 3 Bold" pitchFamily="34" charset="-122"/>
                <a:cs typeface="Source Sans 3 Bold" pitchFamily="34" charset="-120"/>
              </a:rPr>
              <a:t>ArrayList</a:t>
            </a:r>
            <a:r>
              <a:rPr lang="en-US" sz="1700" dirty="0">
                <a:solidFill>
                  <a:srgbClr val="29343A"/>
                </a:solidFill>
                <a:latin typeface="Source Sans 3" pitchFamily="34" charset="0"/>
                <a:ea typeface="Source Sans 3" pitchFamily="34" charset="-122"/>
                <a:cs typeface="Source Sans 3" pitchFamily="34" charset="-120"/>
              </a:rPr>
              <a:t> keeps an ordered list of HotelBooking objects. </a:t>
            </a:r>
            <a:r>
              <a:rPr lang="en-US" sz="1700" b="1" dirty="0">
                <a:solidFill>
                  <a:srgbClr val="29343A"/>
                </a:solidFill>
                <a:latin typeface="Source Sans 3 Bold" pitchFamily="34" charset="0"/>
                <a:ea typeface="Source Sans 3 Bold" pitchFamily="34" charset="-122"/>
                <a:cs typeface="Source Sans 3 Bold" pitchFamily="34" charset="-120"/>
              </a:rPr>
              <a:t>HashMap</a:t>
            </a:r>
            <a:r>
              <a:rPr lang="en-US" sz="1700" dirty="0">
                <a:solidFill>
                  <a:srgbClr val="29343A"/>
                </a:solidFill>
                <a:latin typeface="Source Sans 3" pitchFamily="34" charset="0"/>
                <a:ea typeface="Source Sans 3" pitchFamily="34" charset="-122"/>
                <a:cs typeface="Source Sans 3" pitchFamily="34" charset="-120"/>
              </a:rPr>
              <a:t> links a customer name to that customer's booking amount.</a:t>
            </a:r>
            <a:endParaRPr lang="en-US" sz="1700" dirty="0"/>
          </a:p>
          <a:p>
            <a:pPr marL="0" indent="0" algn="l">
              <a:lnSpc>
                <a:spcPct val="117000"/>
              </a:lnSpc>
              <a:spcAft>
                <a:spcPts val="950"/>
              </a:spcAft>
              <a:buNone/>
            </a:pPr>
            <a:r>
              <a:rPr lang="en-US" sz="1700" dirty="0">
                <a:solidFill>
                  <a:srgbClr val="29343A"/>
                </a:solidFill>
                <a:highlight>
                  <a:srgbClr val="EAE6DD"/>
                </a:highlight>
                <a:latin typeface="Consolas" pitchFamily="34" charset="0"/>
                <a:ea typeface="Consolas" pitchFamily="34" charset="-122"/>
                <a:cs typeface="Consolas" pitchFamily="34" charset="-120"/>
              </a:rPr>
              <a:t>List&lt;HotelBooking&gt; bookings = new ArrayList&lt;&gt;(); bookings.add(new HotelBooking("Asha Rao", "Deluxe", 2, 3));</a:t>
            </a:r>
            <a:endParaRPr lang="en-US" sz="1700" dirty="0"/>
          </a:p>
          <a:p>
            <a:pPr marL="0" indent="0" algn="l">
              <a:lnSpc>
                <a:spcPct val="117000"/>
              </a:lnSpc>
              <a:buNone/>
            </a:pPr>
            <a:r>
              <a:rPr lang="en-US" sz="1700" dirty="0">
                <a:solidFill>
                  <a:srgbClr val="29343A"/>
                </a:solidFill>
                <a:highlight>
                  <a:srgbClr val="EAE6DD"/>
                </a:highlight>
                <a:latin typeface="Consolas" pitchFamily="34" charset="0"/>
                <a:ea typeface="Consolas" pitchFamily="34" charset="-122"/>
                <a:cs typeface="Consolas" pitchFamily="34" charset="-120"/>
              </a:rPr>
              <a:t>Map&lt;String, Double&gt; amounts = new HashMap&lt;&gt;();</a:t>
            </a:r>
            <a:endParaRPr lang="en-US" sz="1700" dirty="0"/>
          </a:p>
        </p:txBody>
      </p:sp>
      <p:sp>
        <p:nvSpPr>
          <p:cNvPr id="8" name="Shape 6"/>
          <p:cNvSpPr/>
          <p:nvPr/>
        </p:nvSpPr>
        <p:spPr>
          <a:xfrm>
            <a:off x="6248244" y="1688405"/>
            <a:ext cx="5410065" cy="3608586"/>
          </a:xfrm>
          <a:prstGeom prst="rect">
            <a:avLst/>
          </a:prstGeom>
          <a:solidFill>
            <a:srgbClr val="EAE6DD"/>
          </a:solidFill>
          <a:ln/>
        </p:spPr>
      </p:sp>
      <p:sp>
        <p:nvSpPr>
          <p:cNvPr id="9" name="Text 7"/>
          <p:cNvSpPr/>
          <p:nvPr/>
        </p:nvSpPr>
        <p:spPr>
          <a:xfrm>
            <a:off x="6476838" y="1928054"/>
            <a:ext cx="4952876"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Stream API</a:t>
            </a:r>
            <a:endParaRPr lang="en-US" sz="1900" dirty="0"/>
          </a:p>
        </p:txBody>
      </p:sp>
      <p:sp>
        <p:nvSpPr>
          <p:cNvPr id="10" name="Text 8"/>
          <p:cNvSpPr/>
          <p:nvPr/>
        </p:nvSpPr>
        <p:spPr>
          <a:xfrm>
            <a:off x="6476838" y="2333129"/>
            <a:ext cx="4952876" cy="2016522"/>
          </a:xfrm>
          <a:prstGeom prst="rect">
            <a:avLst/>
          </a:prstGeom>
          <a:noFill/>
          <a:ln/>
        </p:spPr>
        <p:txBody>
          <a:bodyPr wrap="square" lIns="0" tIns="0" rIns="0" bIns="0" rtlCol="0" anchor="t">
            <a:normAutofit/>
          </a:bodyPr>
          <a:lstStyle/>
          <a:p>
            <a:pPr marL="0" indent="0" algn="l">
              <a:lnSpc>
                <a:spcPct val="117000"/>
              </a:lnSpc>
              <a:spcAft>
                <a:spcPts val="950"/>
              </a:spcAft>
              <a:buNone/>
            </a:pPr>
            <a:r>
              <a:rPr lang="en-US" sz="1700" dirty="0">
                <a:solidFill>
                  <a:srgbClr val="29343A"/>
                </a:solidFill>
                <a:highlight>
                  <a:srgbClr val="EAE6DD"/>
                </a:highlight>
                <a:latin typeface="Consolas" pitchFamily="34" charset="0"/>
                <a:ea typeface="Consolas" pitchFamily="34" charset="-122"/>
                <a:cs typeface="Consolas" pitchFamily="34" charset="-120"/>
              </a:rPr>
              <a:t>filter()</a:t>
            </a:r>
            <a:r>
              <a:rPr lang="en-US" sz="1700" dirty="0">
                <a:solidFill>
                  <a:srgbClr val="29343A"/>
                </a:solidFill>
                <a:latin typeface="Source Sans 3" pitchFamily="34" charset="0"/>
                <a:ea typeface="Source Sans 3" pitchFamily="34" charset="-122"/>
                <a:cs typeface="Source Sans 3" pitchFamily="34" charset="-120"/>
              </a:rPr>
              <a:t> keeps matching bookings, </a:t>
            </a:r>
            <a:r>
              <a:rPr lang="en-US" sz="1700" dirty="0">
                <a:solidFill>
                  <a:srgbClr val="29343A"/>
                </a:solidFill>
                <a:highlight>
                  <a:srgbClr val="EAE6DD"/>
                </a:highlight>
                <a:latin typeface="Consolas" pitchFamily="34" charset="0"/>
                <a:ea typeface="Consolas" pitchFamily="34" charset="-122"/>
                <a:cs typeface="Consolas" pitchFamily="34" charset="-120"/>
              </a:rPr>
              <a:t>map()</a:t>
            </a:r>
            <a:r>
              <a:rPr lang="en-US" sz="1700" dirty="0">
                <a:solidFill>
                  <a:srgbClr val="29343A"/>
                </a:solidFill>
                <a:latin typeface="Source Sans 3" pitchFamily="34" charset="0"/>
                <a:ea typeface="Source Sans 3" pitchFamily="34" charset="-122"/>
                <a:cs typeface="Source Sans 3" pitchFamily="34" charset="-120"/>
              </a:rPr>
              <a:t> extracts values, </a:t>
            </a:r>
            <a:r>
              <a:rPr lang="en-US" sz="1700" dirty="0">
                <a:solidFill>
                  <a:srgbClr val="29343A"/>
                </a:solidFill>
                <a:highlight>
                  <a:srgbClr val="EAE6DD"/>
                </a:highlight>
                <a:latin typeface="Consolas" pitchFamily="34" charset="0"/>
                <a:ea typeface="Consolas" pitchFamily="34" charset="-122"/>
                <a:cs typeface="Consolas" pitchFamily="34" charset="-120"/>
              </a:rPr>
              <a:t>mapToDouble()</a:t>
            </a:r>
            <a:r>
              <a:rPr lang="en-US" sz="1700" dirty="0">
                <a:solidFill>
                  <a:srgbClr val="29343A"/>
                </a:solidFill>
                <a:latin typeface="Source Sans 3" pitchFamily="34" charset="0"/>
                <a:ea typeface="Source Sans 3" pitchFamily="34" charset="-122"/>
                <a:cs typeface="Source Sans 3" pitchFamily="34" charset="-120"/>
              </a:rPr>
              <a:t> converts them, </a:t>
            </a:r>
            <a:r>
              <a:rPr lang="en-US" sz="1700" dirty="0">
                <a:solidFill>
                  <a:srgbClr val="29343A"/>
                </a:solidFill>
                <a:highlight>
                  <a:srgbClr val="EAE6DD"/>
                </a:highlight>
                <a:latin typeface="Consolas" pitchFamily="34" charset="0"/>
                <a:ea typeface="Consolas" pitchFamily="34" charset="-122"/>
                <a:cs typeface="Consolas" pitchFamily="34" charset="-120"/>
              </a:rPr>
              <a:t>sum()</a:t>
            </a:r>
            <a:r>
              <a:rPr lang="en-US" sz="1700" dirty="0">
                <a:solidFill>
                  <a:srgbClr val="29343A"/>
                </a:solidFill>
                <a:latin typeface="Source Sans 3" pitchFamily="34" charset="0"/>
                <a:ea typeface="Source Sans 3" pitchFamily="34" charset="-122"/>
                <a:cs typeface="Source Sans 3" pitchFamily="34" charset="-120"/>
              </a:rPr>
              <a:t> totals them, and </a:t>
            </a:r>
            <a:r>
              <a:rPr lang="en-US" sz="1700" dirty="0">
                <a:solidFill>
                  <a:srgbClr val="29343A"/>
                </a:solidFill>
                <a:highlight>
                  <a:srgbClr val="EAE6DD"/>
                </a:highlight>
                <a:latin typeface="Consolas" pitchFamily="34" charset="0"/>
                <a:ea typeface="Consolas" pitchFamily="34" charset="-122"/>
                <a:cs typeface="Consolas" pitchFamily="34" charset="-120"/>
              </a:rPr>
              <a:t>collect()</a:t>
            </a:r>
            <a:r>
              <a:rPr lang="en-US" sz="1700" dirty="0">
                <a:solidFill>
                  <a:srgbClr val="29343A"/>
                </a:solidFill>
                <a:latin typeface="Source Sans 3" pitchFamily="34" charset="0"/>
                <a:ea typeface="Source Sans 3" pitchFamily="34" charset="-122"/>
                <a:cs typeface="Source Sans 3" pitchFamily="34" charset="-120"/>
              </a:rPr>
              <a:t> gathers results.</a:t>
            </a:r>
            <a:endParaRPr lang="en-US" sz="1700" dirty="0"/>
          </a:p>
          <a:p>
            <a:pPr marL="0" indent="0" algn="l">
              <a:lnSpc>
                <a:spcPct val="117000"/>
              </a:lnSpc>
              <a:buNone/>
            </a:pPr>
            <a:r>
              <a:rPr lang="en-US" sz="1700" dirty="0">
                <a:solidFill>
                  <a:srgbClr val="29343A"/>
                </a:solidFill>
                <a:highlight>
                  <a:srgbClr val="EAE6DD"/>
                </a:highlight>
                <a:latin typeface="Consolas" pitchFamily="34" charset="0"/>
                <a:ea typeface="Consolas" pitchFamily="34" charset="-122"/>
                <a:cs typeface="Consolas" pitchFamily="34" charset="-120"/>
              </a:rPr>
              <a:t>double total = bookings.stream().filter(b -&gt; b.getNumberOfDays() &gt; 0).mapToDouble(b -&gt; b.getAmount()).sum();</a:t>
            </a:r>
            <a:endParaRPr lang="en-US" sz="1700" dirty="0"/>
          </a:p>
        </p:txBody>
      </p:sp>
      <p:sp>
        <p:nvSpPr>
          <p:cNvPr id="11" name="Text 9"/>
          <p:cNvSpPr/>
          <p:nvPr/>
        </p:nvSpPr>
        <p:spPr>
          <a:xfrm>
            <a:off x="6476838" y="4476651"/>
            <a:ext cx="4952876" cy="533400"/>
          </a:xfrm>
          <a:prstGeom prst="rect">
            <a:avLst/>
          </a:prstGeom>
          <a:noFill/>
          <a:ln/>
        </p:spPr>
        <p:txBody>
          <a:bodyPr wrap="square" lIns="0" tIns="0" rIns="0" bIns="0" rtlCol="0" anchor="t">
            <a:normAutofit/>
          </a:bodyPr>
          <a:lstStyle/>
          <a:p>
            <a:pPr marL="0" indent="0" algn="l">
              <a:lnSpc>
                <a:spcPct val="117000"/>
              </a:lnSpc>
              <a:buNone/>
            </a:pPr>
            <a:r>
              <a:rPr lang="en-US" sz="1500" dirty="0">
                <a:solidFill>
                  <a:srgbClr val="29343A"/>
                </a:solidFill>
                <a:latin typeface="Source Sans 3" pitchFamily="34" charset="0"/>
                <a:ea typeface="Source Sans 3" pitchFamily="34" charset="-122"/>
                <a:cs typeface="Source Sans 3" pitchFamily="34" charset="-120"/>
              </a:rPr>
              <a:t>Example: Standard rooms at 4,000 per night, 2 rooms, 3 days = 24,000 total.</a:t>
            </a:r>
            <a:endParaRPr lang="en-US" sz="1500" dirty="0"/>
          </a:p>
        </p:txBody>
      </p:sp>
      <p:sp>
        <p:nvSpPr>
          <p:cNvPr id="12" name="Text 10"/>
          <p:cNvSpPr/>
          <p:nvPr/>
        </p:nvSpPr>
        <p:spPr>
          <a:xfrm>
            <a:off x="609585" y="6447433"/>
            <a:ext cx="684691"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9</a:t>
            </a:r>
            <a:endParaRPr lang="en-US" sz="1200" dirty="0"/>
          </a:p>
        </p:txBody>
      </p:sp>
    </p:spTree>
    <p:extLst>
      <p:ext uri="{BB962C8B-B14F-4D97-AF65-F5344CB8AC3E}">
        <p14:creationId xmlns:p14="http://schemas.microsoft.com/office/powerpoint/2010/main" val="1175337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3387" y="431800"/>
            <a:ext cx="11658308"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CONCLUSION</a:t>
            </a:r>
            <a:endParaRPr lang="en-US" sz="1200" dirty="0"/>
          </a:p>
        </p:txBody>
      </p:sp>
      <p:sp>
        <p:nvSpPr>
          <p:cNvPr id="3" name="Text 1"/>
          <p:cNvSpPr/>
          <p:nvPr/>
        </p:nvSpPr>
        <p:spPr>
          <a:xfrm>
            <a:off x="533387" y="751800"/>
            <a:ext cx="11124922" cy="411460"/>
          </a:xfrm>
          <a:prstGeom prst="rect">
            <a:avLst/>
          </a:prstGeom>
          <a:noFill/>
          <a:ln/>
        </p:spPr>
        <p:txBody>
          <a:bodyPr wrap="none" lIns="0" tIns="0" rIns="0" bIns="0" rtlCol="0" anchor="t"/>
          <a:lstStyle/>
          <a:p>
            <a:pPr marL="0" indent="0" algn="l">
              <a:lnSpc>
                <a:spcPct val="90000"/>
              </a:lnSpc>
              <a:buNone/>
            </a:pPr>
            <a:r>
              <a:rPr lang="en-US" sz="3000" kern="100" spc="-30" dirty="0">
                <a:solidFill>
                  <a:srgbClr val="173B35"/>
                </a:solidFill>
                <a:latin typeface="Cormorant Garamond SemiBold" pitchFamily="34" charset="0"/>
                <a:ea typeface="Cormorant Garamond SemiBold" pitchFamily="34" charset="-122"/>
                <a:cs typeface="Cormorant Garamond SemiBold" pitchFamily="34" charset="-120"/>
              </a:rPr>
              <a:t>Six Java outcomes build one structured hotel booking application</a:t>
            </a:r>
            <a:endParaRPr lang="en-US" sz="3000" dirty="0"/>
          </a:p>
        </p:txBody>
      </p:sp>
      <p:sp>
        <p:nvSpPr>
          <p:cNvPr id="4" name="Shape 2"/>
          <p:cNvSpPr/>
          <p:nvPr/>
        </p:nvSpPr>
        <p:spPr>
          <a:xfrm>
            <a:off x="533387" y="1410593"/>
            <a:ext cx="3671200" cy="31651"/>
          </a:xfrm>
          <a:prstGeom prst="roundRect">
            <a:avLst>
              <a:gd name="adj" fmla="val 49998"/>
            </a:avLst>
          </a:prstGeom>
          <a:solidFill>
            <a:srgbClr val="C5A46D"/>
          </a:solidFill>
          <a:ln/>
        </p:spPr>
      </p:sp>
      <p:sp>
        <p:nvSpPr>
          <p:cNvPr id="5" name="Shape 3"/>
          <p:cNvSpPr/>
          <p:nvPr/>
        </p:nvSpPr>
        <p:spPr>
          <a:xfrm>
            <a:off x="533387" y="1688405"/>
            <a:ext cx="5410065" cy="4165402"/>
          </a:xfrm>
          <a:prstGeom prst="rect">
            <a:avLst/>
          </a:prstGeom>
          <a:solidFill>
            <a:srgbClr val="EAE6DD"/>
          </a:solidFill>
          <a:ln/>
        </p:spPr>
      </p:sp>
      <p:sp>
        <p:nvSpPr>
          <p:cNvPr id="6" name="Text 4"/>
          <p:cNvSpPr/>
          <p:nvPr/>
        </p:nvSpPr>
        <p:spPr>
          <a:xfrm>
            <a:off x="761981" y="1928054"/>
            <a:ext cx="4952876"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Course outcomes covered</a:t>
            </a:r>
            <a:endParaRPr lang="en-US" sz="1900" dirty="0"/>
          </a:p>
        </p:txBody>
      </p:sp>
      <p:sp>
        <p:nvSpPr>
          <p:cNvPr id="7" name="Text 5"/>
          <p:cNvSpPr/>
          <p:nvPr/>
        </p:nvSpPr>
        <p:spPr>
          <a:xfrm>
            <a:off x="761981" y="2333129"/>
            <a:ext cx="4952876" cy="3292078"/>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b="1" dirty="0">
                <a:solidFill>
                  <a:srgbClr val="29343A"/>
                </a:solidFill>
                <a:latin typeface="Source Sans 3 Bold" pitchFamily="34" charset="0"/>
                <a:ea typeface="Source Sans 3 Bold" pitchFamily="34" charset="-122"/>
                <a:cs typeface="Source Sans 3 Bold" pitchFamily="34" charset="-120"/>
              </a:rPr>
              <a:t>CO1</a:t>
            </a:r>
            <a:r>
              <a:rPr lang="en-US" sz="1700" dirty="0">
                <a:solidFill>
                  <a:srgbClr val="29343A"/>
                </a:solidFill>
                <a:latin typeface="Source Sans 3" pitchFamily="34" charset="0"/>
                <a:ea typeface="Source Sans 3" pitchFamily="34" charset="-122"/>
                <a:cs typeface="Source Sans 3" pitchFamily="34" charset="-120"/>
              </a:rPr>
              <a:t> Java foundations: variables, data types, operators</a:t>
            </a:r>
            <a:endParaRPr lang="en-US" sz="1700" dirty="0"/>
          </a:p>
          <a:p>
            <a:pPr marL="345440" indent="-345440" algn="l">
              <a:lnSpc>
                <a:spcPct val="117000"/>
              </a:lnSpc>
              <a:buSzPct val="100000"/>
              <a:buChar char="•"/>
            </a:pPr>
            <a:r>
              <a:rPr lang="en-US" sz="1700" b="1" dirty="0">
                <a:solidFill>
                  <a:srgbClr val="29343A"/>
                </a:solidFill>
                <a:latin typeface="Source Sans 3 Bold" pitchFamily="34" charset="0"/>
                <a:ea typeface="Source Sans 3 Bold" pitchFamily="34" charset="-122"/>
                <a:cs typeface="Source Sans 3 Bold" pitchFamily="34" charset="-120"/>
              </a:rPr>
              <a:t>CO2</a:t>
            </a:r>
            <a:r>
              <a:rPr lang="en-US" sz="1700" dirty="0">
                <a:solidFill>
                  <a:srgbClr val="29343A"/>
                </a:solidFill>
                <a:latin typeface="Source Sans 3" pitchFamily="34" charset="0"/>
                <a:ea typeface="Source Sans 3" pitchFamily="34" charset="-122"/>
                <a:cs typeface="Source Sans 3" pitchFamily="34" charset="-120"/>
              </a:rPr>
              <a:t> Selection and iteration: room choice, validation, loops</a:t>
            </a:r>
            <a:endParaRPr lang="en-US" sz="1700" dirty="0"/>
          </a:p>
          <a:p>
            <a:pPr marL="345440" indent="-345440" algn="l">
              <a:lnSpc>
                <a:spcPct val="117000"/>
              </a:lnSpc>
              <a:buSzPct val="100000"/>
              <a:buChar char="•"/>
            </a:pPr>
            <a:r>
              <a:rPr lang="en-US" sz="1700" b="1" dirty="0">
                <a:solidFill>
                  <a:srgbClr val="29343A"/>
                </a:solidFill>
                <a:latin typeface="Source Sans 3 Bold" pitchFamily="34" charset="0"/>
                <a:ea typeface="Source Sans 3 Bold" pitchFamily="34" charset="-122"/>
                <a:cs typeface="Source Sans 3 Bold" pitchFamily="34" charset="-120"/>
              </a:rPr>
              <a:t>CO3</a:t>
            </a:r>
            <a:r>
              <a:rPr lang="en-US" sz="1700" dirty="0">
                <a:solidFill>
                  <a:srgbClr val="29343A"/>
                </a:solidFill>
                <a:latin typeface="Source Sans 3" pitchFamily="34" charset="0"/>
                <a:ea typeface="Source Sans 3" pitchFamily="34" charset="-122"/>
                <a:cs typeface="Source Sans 3" pitchFamily="34" charset="-120"/>
              </a:rPr>
              <a:t> Methods, recursion and arrays: modular logic</a:t>
            </a:r>
            <a:endParaRPr lang="en-US" sz="1700" dirty="0"/>
          </a:p>
          <a:p>
            <a:pPr marL="345440" indent="-345440" algn="l">
              <a:lnSpc>
                <a:spcPct val="117000"/>
              </a:lnSpc>
              <a:buSzPct val="100000"/>
              <a:buChar char="•"/>
            </a:pPr>
            <a:r>
              <a:rPr lang="en-US" sz="1700" b="1" dirty="0">
                <a:solidFill>
                  <a:srgbClr val="29343A"/>
                </a:solidFill>
                <a:latin typeface="Source Sans 3 Bold" pitchFamily="34" charset="0"/>
                <a:ea typeface="Source Sans 3 Bold" pitchFamily="34" charset="-122"/>
                <a:cs typeface="Source Sans 3 Bold" pitchFamily="34" charset="-120"/>
              </a:rPr>
              <a:t>CO4</a:t>
            </a:r>
            <a:r>
              <a:rPr lang="en-US" sz="1700" dirty="0">
                <a:solidFill>
                  <a:srgbClr val="29343A"/>
                </a:solidFill>
                <a:latin typeface="Source Sans 3" pitchFamily="34" charset="0"/>
                <a:ea typeface="Source Sans 3" pitchFamily="34" charset="-122"/>
                <a:cs typeface="Source Sans 3" pitchFamily="34" charset="-120"/>
              </a:rPr>
              <a:t> Classes, objects and exceptions: HotelBooking and validation</a:t>
            </a:r>
            <a:endParaRPr lang="en-US" sz="1700" dirty="0"/>
          </a:p>
          <a:p>
            <a:pPr marL="345440" indent="-345440" algn="l">
              <a:lnSpc>
                <a:spcPct val="117000"/>
              </a:lnSpc>
              <a:buSzPct val="100000"/>
              <a:buChar char="•"/>
            </a:pPr>
            <a:r>
              <a:rPr lang="en-US" sz="1700" b="1" dirty="0">
                <a:solidFill>
                  <a:srgbClr val="29343A"/>
                </a:solidFill>
                <a:latin typeface="Source Sans 3 Bold" pitchFamily="34" charset="0"/>
                <a:ea typeface="Source Sans 3 Bold" pitchFamily="34" charset="-122"/>
                <a:cs typeface="Source Sans 3 Bold" pitchFamily="34" charset="-120"/>
              </a:rPr>
              <a:t>CO5</a:t>
            </a:r>
            <a:r>
              <a:rPr lang="en-US" sz="1700" dirty="0">
                <a:solidFill>
                  <a:srgbClr val="29343A"/>
                </a:solidFill>
                <a:latin typeface="Source Sans 3" pitchFamily="34" charset="0"/>
                <a:ea typeface="Source Sans 3" pitchFamily="34" charset="-122"/>
                <a:cs typeface="Source Sans 3" pitchFamily="34" charset="-120"/>
              </a:rPr>
              <a:t> Strings, files and searching: records and lookup</a:t>
            </a:r>
            <a:endParaRPr lang="en-US" sz="1700" dirty="0"/>
          </a:p>
          <a:p>
            <a:pPr marL="345440" indent="-345440" algn="l">
              <a:lnSpc>
                <a:spcPct val="117000"/>
              </a:lnSpc>
              <a:buSzPct val="100000"/>
              <a:buChar char="•"/>
            </a:pPr>
            <a:r>
              <a:rPr lang="en-US" sz="1700" b="1" dirty="0">
                <a:solidFill>
                  <a:srgbClr val="29343A"/>
                </a:solidFill>
                <a:latin typeface="Source Sans 3 Bold" pitchFamily="34" charset="0"/>
                <a:ea typeface="Source Sans 3 Bold" pitchFamily="34" charset="-122"/>
                <a:cs typeface="Source Sans 3 Bold" pitchFamily="34" charset="-120"/>
              </a:rPr>
              <a:t>CO6</a:t>
            </a:r>
            <a:r>
              <a:rPr lang="en-US" sz="1700" dirty="0">
                <a:solidFill>
                  <a:srgbClr val="29343A"/>
                </a:solidFill>
                <a:latin typeface="Source Sans 3" pitchFamily="34" charset="0"/>
                <a:ea typeface="Source Sans 3" pitchFamily="34" charset="-122"/>
                <a:cs typeface="Source Sans 3" pitchFamily="34" charset="-120"/>
              </a:rPr>
              <a:t> Collections and streams: totals and analysis</a:t>
            </a:r>
            <a:endParaRPr lang="en-US" sz="1700" dirty="0"/>
          </a:p>
        </p:txBody>
      </p:sp>
      <p:sp>
        <p:nvSpPr>
          <p:cNvPr id="8" name="Shape 6"/>
          <p:cNvSpPr/>
          <p:nvPr/>
        </p:nvSpPr>
        <p:spPr>
          <a:xfrm>
            <a:off x="6248244" y="1688405"/>
            <a:ext cx="5410065" cy="4165402"/>
          </a:xfrm>
          <a:prstGeom prst="rect">
            <a:avLst/>
          </a:prstGeom>
          <a:solidFill>
            <a:srgbClr val="EAE6DD"/>
          </a:solidFill>
          <a:ln/>
        </p:spPr>
      </p:sp>
      <p:sp>
        <p:nvSpPr>
          <p:cNvPr id="9" name="Text 7"/>
          <p:cNvSpPr/>
          <p:nvPr/>
        </p:nvSpPr>
        <p:spPr>
          <a:xfrm>
            <a:off x="6476838" y="1928054"/>
            <a:ext cx="4952876"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Future scope</a:t>
            </a:r>
            <a:endParaRPr lang="en-US" sz="1900" dirty="0"/>
          </a:p>
        </p:txBody>
      </p:sp>
      <p:sp>
        <p:nvSpPr>
          <p:cNvPr id="10" name="Text 8"/>
          <p:cNvSpPr/>
          <p:nvPr/>
        </p:nvSpPr>
        <p:spPr>
          <a:xfrm>
            <a:off x="6476838" y="2333129"/>
            <a:ext cx="4952876"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Planned extensions only; not implemented in this project:</a:t>
            </a:r>
            <a:endParaRPr lang="en-US" sz="1700" dirty="0"/>
          </a:p>
        </p:txBody>
      </p:sp>
      <p:sp>
        <p:nvSpPr>
          <p:cNvPr id="11" name="Text 9"/>
          <p:cNvSpPr/>
          <p:nvPr/>
        </p:nvSpPr>
        <p:spPr>
          <a:xfrm>
            <a:off x="6476838" y="3064570"/>
            <a:ext cx="4952876" cy="1727002"/>
          </a:xfrm>
          <a:prstGeom prst="rect">
            <a:avLst/>
          </a:prstGeom>
          <a:noFill/>
          <a:ln/>
        </p:spPr>
        <p:txBody>
          <a:bodyPr wrap="square" lIns="0" tIns="0" rIns="0" bIns="0" rtlCol="0" anchor="t">
            <a:normAutofit/>
          </a:bodyPr>
          <a:lstStyle/>
          <a:p>
            <a:pPr marL="345440" indent="-345440" algn="l">
              <a:lnSpc>
                <a:spcPct val="117000"/>
              </a:lnSpc>
              <a:buSzPct val="100000"/>
              <a:buChar char="•"/>
            </a:pPr>
            <a:r>
              <a:rPr lang="en-US" sz="1700" dirty="0">
                <a:solidFill>
                  <a:srgbClr val="29343A"/>
                </a:solidFill>
                <a:latin typeface="Source Sans 3" pitchFamily="34" charset="0"/>
                <a:ea typeface="Source Sans 3" pitchFamily="34" charset="-122"/>
                <a:cs typeface="Source Sans 3" pitchFamily="34" charset="-120"/>
              </a:rPr>
              <a:t>Database connectivity</a:t>
            </a:r>
            <a:endParaRPr lang="en-US" sz="1700" dirty="0"/>
          </a:p>
          <a:p>
            <a:pPr marL="345440" indent="-345440" algn="l">
              <a:lnSpc>
                <a:spcPct val="117000"/>
              </a:lnSpc>
              <a:buSzPct val="100000"/>
              <a:buChar char="•"/>
            </a:pPr>
            <a:r>
              <a:rPr lang="en-US" sz="1700" dirty="0">
                <a:solidFill>
                  <a:srgbClr val="29343A"/>
                </a:solidFill>
                <a:latin typeface="Source Sans 3" pitchFamily="34" charset="0"/>
                <a:ea typeface="Source Sans 3" pitchFamily="34" charset="-122"/>
                <a:cs typeface="Source Sans 3" pitchFamily="34" charset="-120"/>
              </a:rPr>
              <a:t>Online reservations</a:t>
            </a:r>
            <a:endParaRPr lang="en-US" sz="1700" dirty="0"/>
          </a:p>
          <a:p>
            <a:pPr marL="345440" indent="-345440" algn="l">
              <a:lnSpc>
                <a:spcPct val="117000"/>
              </a:lnSpc>
              <a:buSzPct val="100000"/>
              <a:buChar char="•"/>
            </a:pPr>
            <a:r>
              <a:rPr lang="en-US" sz="1700" dirty="0">
                <a:solidFill>
                  <a:srgbClr val="29343A"/>
                </a:solidFill>
                <a:latin typeface="Source Sans 3" pitchFamily="34" charset="0"/>
                <a:ea typeface="Source Sans 3" pitchFamily="34" charset="-122"/>
                <a:cs typeface="Source Sans 3" pitchFamily="34" charset="-120"/>
              </a:rPr>
              <a:t>Graphical user interface</a:t>
            </a:r>
            <a:endParaRPr lang="en-US" sz="1700" dirty="0"/>
          </a:p>
          <a:p>
            <a:pPr marL="345440" indent="-345440" algn="l">
              <a:lnSpc>
                <a:spcPct val="117000"/>
              </a:lnSpc>
              <a:buSzPct val="100000"/>
              <a:buChar char="•"/>
            </a:pPr>
            <a:r>
              <a:rPr lang="en-US" sz="1700" dirty="0">
                <a:solidFill>
                  <a:srgbClr val="29343A"/>
                </a:solidFill>
                <a:latin typeface="Source Sans 3" pitchFamily="34" charset="0"/>
                <a:ea typeface="Source Sans 3" pitchFamily="34" charset="-122"/>
                <a:cs typeface="Source Sans 3" pitchFamily="34" charset="-120"/>
              </a:rPr>
              <a:t>Payment integration</a:t>
            </a:r>
            <a:endParaRPr lang="en-US" sz="1700" dirty="0"/>
          </a:p>
          <a:p>
            <a:pPr marL="345440" indent="-345440" algn="l">
              <a:lnSpc>
                <a:spcPct val="117000"/>
              </a:lnSpc>
              <a:buSzPct val="100000"/>
              <a:buChar char="•"/>
            </a:pPr>
            <a:r>
              <a:rPr lang="en-US" sz="1700" dirty="0">
                <a:solidFill>
                  <a:srgbClr val="29343A"/>
                </a:solidFill>
                <a:latin typeface="Source Sans 3" pitchFamily="34" charset="0"/>
                <a:ea typeface="Source Sans 3" pitchFamily="34" charset="-122"/>
                <a:cs typeface="Source Sans 3" pitchFamily="34" charset="-120"/>
              </a:rPr>
              <a:t>Room availability tracking</a:t>
            </a:r>
            <a:endParaRPr lang="en-US" sz="1700" dirty="0"/>
          </a:p>
        </p:txBody>
      </p:sp>
      <p:sp>
        <p:nvSpPr>
          <p:cNvPr id="12" name="Text 10"/>
          <p:cNvSpPr/>
          <p:nvPr/>
        </p:nvSpPr>
        <p:spPr>
          <a:xfrm>
            <a:off x="609585" y="6447433"/>
            <a:ext cx="759798"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10</a:t>
            </a:r>
            <a:endParaRPr lang="en-US" sz="1200" dirty="0"/>
          </a:p>
        </p:txBody>
      </p:sp>
    </p:spTree>
    <p:extLst>
      <p:ext uri="{BB962C8B-B14F-4D97-AF65-F5344CB8AC3E}">
        <p14:creationId xmlns:p14="http://schemas.microsoft.com/office/powerpoint/2010/main" val="4259052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3387" y="431800"/>
            <a:ext cx="11658308"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SCREEN SHOTS</a:t>
            </a:r>
            <a:endParaRPr lang="en-US" sz="1200" dirty="0"/>
          </a:p>
        </p:txBody>
      </p:sp>
      <p:sp>
        <p:nvSpPr>
          <p:cNvPr id="3" name="Text 1"/>
          <p:cNvSpPr/>
          <p:nvPr/>
        </p:nvSpPr>
        <p:spPr>
          <a:xfrm>
            <a:off x="533387" y="751800"/>
            <a:ext cx="11124922" cy="411460"/>
          </a:xfrm>
          <a:prstGeom prst="rect">
            <a:avLst/>
          </a:prstGeom>
          <a:noFill/>
          <a:ln/>
        </p:spPr>
        <p:txBody>
          <a:bodyPr wrap="none" lIns="0" tIns="0" rIns="0" bIns="0" rtlCol="0" anchor="t"/>
          <a:lstStyle/>
          <a:p>
            <a:pPr marL="0" indent="0" algn="l">
              <a:lnSpc>
                <a:spcPct val="90000"/>
              </a:lnSpc>
              <a:buNone/>
            </a:pPr>
            <a:r>
              <a:rPr lang="en-US" sz="3000" kern="100" spc="-30" dirty="0">
                <a:solidFill>
                  <a:srgbClr val="173B35"/>
                </a:solidFill>
                <a:latin typeface="Cormorant Garamond SemiBold" pitchFamily="34" charset="0"/>
                <a:ea typeface="Cormorant Garamond SemiBold" pitchFamily="34" charset="-122"/>
                <a:cs typeface="Cormorant Garamond SemiBold" pitchFamily="34" charset="-120"/>
              </a:rPr>
              <a:t>Program screenshots</a:t>
            </a:r>
            <a:endParaRPr lang="en-US" sz="3000" dirty="0"/>
          </a:p>
        </p:txBody>
      </p:sp>
      <p:sp>
        <p:nvSpPr>
          <p:cNvPr id="4" name="Shape 2"/>
          <p:cNvSpPr/>
          <p:nvPr/>
        </p:nvSpPr>
        <p:spPr>
          <a:xfrm>
            <a:off x="533387" y="1410593"/>
            <a:ext cx="3671200" cy="31651"/>
          </a:xfrm>
          <a:prstGeom prst="roundRect">
            <a:avLst>
              <a:gd name="adj" fmla="val 49998"/>
            </a:avLst>
          </a:prstGeom>
          <a:solidFill>
            <a:srgbClr val="C5A46D"/>
          </a:solidFill>
          <a:ln/>
        </p:spPr>
      </p:sp>
      <p:sp>
        <p:nvSpPr>
          <p:cNvPr id="5" name="Shape 3"/>
          <p:cNvSpPr/>
          <p:nvPr/>
        </p:nvSpPr>
        <p:spPr>
          <a:xfrm>
            <a:off x="533387" y="1688405"/>
            <a:ext cx="3555911" cy="1474589"/>
          </a:xfrm>
          <a:prstGeom prst="rect">
            <a:avLst/>
          </a:prstGeom>
          <a:solidFill>
            <a:srgbClr val="EAE6DD"/>
          </a:solidFill>
          <a:ln/>
        </p:spPr>
      </p:sp>
      <p:sp>
        <p:nvSpPr>
          <p:cNvPr id="6" name="Text 4"/>
          <p:cNvSpPr/>
          <p:nvPr/>
        </p:nvSpPr>
        <p:spPr>
          <a:xfrm>
            <a:off x="761981" y="1917005"/>
            <a:ext cx="3327317"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29343A"/>
                </a:solidFill>
                <a:latin typeface="Source Sans 3" pitchFamily="34" charset="0"/>
                <a:ea typeface="Source Sans 3" pitchFamily="34" charset="-122"/>
                <a:cs typeface="Source Sans 3" pitchFamily="34" charset="-120"/>
              </a:rPr>
              <a:t>PLACEHOLDER 1</a:t>
            </a:r>
            <a:endParaRPr lang="en-US" sz="1200" dirty="0"/>
          </a:p>
        </p:txBody>
      </p:sp>
      <p:sp>
        <p:nvSpPr>
          <p:cNvPr id="7" name="Text 5"/>
          <p:cNvSpPr/>
          <p:nvPr/>
        </p:nvSpPr>
        <p:spPr>
          <a:xfrm>
            <a:off x="761981" y="2227100"/>
            <a:ext cx="3098722"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Java program execution</a:t>
            </a:r>
            <a:endParaRPr lang="en-US" sz="1900" dirty="0"/>
          </a:p>
        </p:txBody>
      </p:sp>
      <p:sp>
        <p:nvSpPr>
          <p:cNvPr id="8" name="Text 6"/>
          <p:cNvSpPr/>
          <p:nvPr/>
        </p:nvSpPr>
        <p:spPr>
          <a:xfrm>
            <a:off x="761981" y="2632174"/>
            <a:ext cx="3327317" cy="302220"/>
          </a:xfrm>
          <a:prstGeom prst="rect">
            <a:avLst/>
          </a:prstGeom>
          <a:noFill/>
          <a:ln/>
        </p:spPr>
        <p:txBody>
          <a:bodyPr wrap="none" lIns="0" tIns="0" rIns="0" bIns="0" rtlCol="0" anchor="t"/>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[Insert screenshot]</a:t>
            </a:r>
            <a:endParaRPr lang="en-US" sz="1700" dirty="0"/>
          </a:p>
        </p:txBody>
      </p:sp>
      <p:sp>
        <p:nvSpPr>
          <p:cNvPr id="9" name="Shape 7"/>
          <p:cNvSpPr/>
          <p:nvPr/>
        </p:nvSpPr>
        <p:spPr>
          <a:xfrm>
            <a:off x="4394090" y="1688405"/>
            <a:ext cx="3403515" cy="1474589"/>
          </a:xfrm>
          <a:prstGeom prst="rect">
            <a:avLst/>
          </a:prstGeom>
          <a:solidFill>
            <a:srgbClr val="EAE6DD"/>
          </a:solidFill>
          <a:ln/>
        </p:spPr>
      </p:sp>
      <p:sp>
        <p:nvSpPr>
          <p:cNvPr id="10" name="Text 8"/>
          <p:cNvSpPr/>
          <p:nvPr/>
        </p:nvSpPr>
        <p:spPr>
          <a:xfrm>
            <a:off x="4622684" y="1917005"/>
            <a:ext cx="3174921"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29343A"/>
                </a:solidFill>
                <a:latin typeface="Source Sans 3" pitchFamily="34" charset="0"/>
                <a:ea typeface="Source Sans 3" pitchFamily="34" charset="-122"/>
                <a:cs typeface="Source Sans 3" pitchFamily="34" charset="-120"/>
              </a:rPr>
              <a:t>PLACEHOLDER 2</a:t>
            </a:r>
            <a:endParaRPr lang="en-US" sz="1200" dirty="0"/>
          </a:p>
        </p:txBody>
      </p:sp>
      <p:sp>
        <p:nvSpPr>
          <p:cNvPr id="11" name="Text 9"/>
          <p:cNvSpPr/>
          <p:nvPr/>
        </p:nvSpPr>
        <p:spPr>
          <a:xfrm>
            <a:off x="4622684" y="2227100"/>
            <a:ext cx="2946326"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Customer details input</a:t>
            </a:r>
            <a:endParaRPr lang="en-US" sz="1900" dirty="0"/>
          </a:p>
        </p:txBody>
      </p:sp>
      <p:sp>
        <p:nvSpPr>
          <p:cNvPr id="12" name="Text 10"/>
          <p:cNvSpPr/>
          <p:nvPr/>
        </p:nvSpPr>
        <p:spPr>
          <a:xfrm>
            <a:off x="4622684" y="2632174"/>
            <a:ext cx="3174921" cy="302220"/>
          </a:xfrm>
          <a:prstGeom prst="rect">
            <a:avLst/>
          </a:prstGeom>
          <a:noFill/>
          <a:ln/>
        </p:spPr>
        <p:txBody>
          <a:bodyPr wrap="none" lIns="0" tIns="0" rIns="0" bIns="0" rtlCol="0" anchor="t"/>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[Insert screenshot]</a:t>
            </a:r>
            <a:endParaRPr lang="en-US" sz="1700" dirty="0"/>
          </a:p>
        </p:txBody>
      </p:sp>
      <p:sp>
        <p:nvSpPr>
          <p:cNvPr id="13" name="Shape 11"/>
          <p:cNvSpPr/>
          <p:nvPr/>
        </p:nvSpPr>
        <p:spPr>
          <a:xfrm>
            <a:off x="8102397" y="1688405"/>
            <a:ext cx="3555911" cy="1474589"/>
          </a:xfrm>
          <a:prstGeom prst="rect">
            <a:avLst/>
          </a:prstGeom>
          <a:solidFill>
            <a:srgbClr val="EAE6DD"/>
          </a:solidFill>
          <a:ln/>
        </p:spPr>
      </p:sp>
      <p:sp>
        <p:nvSpPr>
          <p:cNvPr id="14" name="Text 12"/>
          <p:cNvSpPr/>
          <p:nvPr/>
        </p:nvSpPr>
        <p:spPr>
          <a:xfrm>
            <a:off x="8330992" y="1917005"/>
            <a:ext cx="3327317"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29343A"/>
                </a:solidFill>
                <a:latin typeface="Source Sans 3" pitchFamily="34" charset="0"/>
                <a:ea typeface="Source Sans 3" pitchFamily="34" charset="-122"/>
                <a:cs typeface="Source Sans 3" pitchFamily="34" charset="-120"/>
              </a:rPr>
              <a:t>PLACEHOLDER 3</a:t>
            </a:r>
            <a:endParaRPr lang="en-US" sz="1200" dirty="0"/>
          </a:p>
        </p:txBody>
      </p:sp>
      <p:sp>
        <p:nvSpPr>
          <p:cNvPr id="15" name="Text 13"/>
          <p:cNvSpPr/>
          <p:nvPr/>
        </p:nvSpPr>
        <p:spPr>
          <a:xfrm>
            <a:off x="8330992" y="2227100"/>
            <a:ext cx="3098722"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Room selection</a:t>
            </a:r>
            <a:endParaRPr lang="en-US" sz="1900" dirty="0"/>
          </a:p>
        </p:txBody>
      </p:sp>
      <p:sp>
        <p:nvSpPr>
          <p:cNvPr id="16" name="Text 14"/>
          <p:cNvSpPr/>
          <p:nvPr/>
        </p:nvSpPr>
        <p:spPr>
          <a:xfrm>
            <a:off x="8330992" y="2632174"/>
            <a:ext cx="3327317" cy="302220"/>
          </a:xfrm>
          <a:prstGeom prst="rect">
            <a:avLst/>
          </a:prstGeom>
          <a:noFill/>
          <a:ln/>
        </p:spPr>
        <p:txBody>
          <a:bodyPr wrap="none" lIns="0" tIns="0" rIns="0" bIns="0" rtlCol="0" anchor="t"/>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[Insert screenshot]</a:t>
            </a:r>
            <a:endParaRPr lang="en-US" sz="1700" dirty="0"/>
          </a:p>
        </p:txBody>
      </p:sp>
      <p:sp>
        <p:nvSpPr>
          <p:cNvPr id="17" name="Shape 15"/>
          <p:cNvSpPr/>
          <p:nvPr/>
        </p:nvSpPr>
        <p:spPr>
          <a:xfrm>
            <a:off x="533387" y="3467795"/>
            <a:ext cx="3555911" cy="1474589"/>
          </a:xfrm>
          <a:prstGeom prst="rect">
            <a:avLst/>
          </a:prstGeom>
          <a:solidFill>
            <a:srgbClr val="EAE6DD"/>
          </a:solidFill>
          <a:ln/>
        </p:spPr>
      </p:sp>
      <p:sp>
        <p:nvSpPr>
          <p:cNvPr id="18" name="Text 16"/>
          <p:cNvSpPr/>
          <p:nvPr/>
        </p:nvSpPr>
        <p:spPr>
          <a:xfrm>
            <a:off x="761981" y="3696395"/>
            <a:ext cx="3327317"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29343A"/>
                </a:solidFill>
                <a:latin typeface="Source Sans 3" pitchFamily="34" charset="0"/>
                <a:ea typeface="Source Sans 3" pitchFamily="34" charset="-122"/>
                <a:cs typeface="Source Sans 3" pitchFamily="34" charset="-120"/>
              </a:rPr>
              <a:t>PLACEHOLDER 4</a:t>
            </a:r>
            <a:endParaRPr lang="en-US" sz="1200" dirty="0"/>
          </a:p>
        </p:txBody>
      </p:sp>
      <p:sp>
        <p:nvSpPr>
          <p:cNvPr id="19" name="Text 17"/>
          <p:cNvSpPr/>
          <p:nvPr/>
        </p:nvSpPr>
        <p:spPr>
          <a:xfrm>
            <a:off x="761981" y="4006489"/>
            <a:ext cx="3098722"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Booking amount calculation</a:t>
            </a:r>
            <a:endParaRPr lang="en-US" sz="1900" dirty="0"/>
          </a:p>
        </p:txBody>
      </p:sp>
      <p:sp>
        <p:nvSpPr>
          <p:cNvPr id="20" name="Text 18"/>
          <p:cNvSpPr/>
          <p:nvPr/>
        </p:nvSpPr>
        <p:spPr>
          <a:xfrm>
            <a:off x="761981" y="4411563"/>
            <a:ext cx="3327317" cy="302220"/>
          </a:xfrm>
          <a:prstGeom prst="rect">
            <a:avLst/>
          </a:prstGeom>
          <a:noFill/>
          <a:ln/>
        </p:spPr>
        <p:txBody>
          <a:bodyPr wrap="none" lIns="0" tIns="0" rIns="0" bIns="0" rtlCol="0" anchor="t"/>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[Insert screenshot]</a:t>
            </a:r>
            <a:endParaRPr lang="en-US" sz="1700" dirty="0"/>
          </a:p>
        </p:txBody>
      </p:sp>
      <p:sp>
        <p:nvSpPr>
          <p:cNvPr id="21" name="Shape 19"/>
          <p:cNvSpPr/>
          <p:nvPr/>
        </p:nvSpPr>
        <p:spPr>
          <a:xfrm>
            <a:off x="4394090" y="3467795"/>
            <a:ext cx="3403515" cy="1474589"/>
          </a:xfrm>
          <a:prstGeom prst="rect">
            <a:avLst/>
          </a:prstGeom>
          <a:solidFill>
            <a:srgbClr val="EAE6DD"/>
          </a:solidFill>
          <a:ln/>
        </p:spPr>
      </p:sp>
      <p:sp>
        <p:nvSpPr>
          <p:cNvPr id="22" name="Text 20"/>
          <p:cNvSpPr/>
          <p:nvPr/>
        </p:nvSpPr>
        <p:spPr>
          <a:xfrm>
            <a:off x="4622684" y="3696395"/>
            <a:ext cx="3174921"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29343A"/>
                </a:solidFill>
                <a:latin typeface="Source Sans 3" pitchFamily="34" charset="0"/>
                <a:ea typeface="Source Sans 3" pitchFamily="34" charset="-122"/>
                <a:cs typeface="Source Sans 3" pitchFamily="34" charset="-120"/>
              </a:rPr>
              <a:t>PLACEHOLDER 5</a:t>
            </a:r>
            <a:endParaRPr lang="en-US" sz="1200" dirty="0"/>
          </a:p>
        </p:txBody>
      </p:sp>
      <p:sp>
        <p:nvSpPr>
          <p:cNvPr id="23" name="Text 21"/>
          <p:cNvSpPr/>
          <p:nvPr/>
        </p:nvSpPr>
        <p:spPr>
          <a:xfrm>
            <a:off x="4622684" y="4006489"/>
            <a:ext cx="2946326"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Membership classification</a:t>
            </a:r>
            <a:endParaRPr lang="en-US" sz="1900" dirty="0"/>
          </a:p>
        </p:txBody>
      </p:sp>
      <p:sp>
        <p:nvSpPr>
          <p:cNvPr id="24" name="Text 22"/>
          <p:cNvSpPr/>
          <p:nvPr/>
        </p:nvSpPr>
        <p:spPr>
          <a:xfrm>
            <a:off x="4622684" y="4411563"/>
            <a:ext cx="3174921" cy="302220"/>
          </a:xfrm>
          <a:prstGeom prst="rect">
            <a:avLst/>
          </a:prstGeom>
          <a:noFill/>
          <a:ln/>
        </p:spPr>
        <p:txBody>
          <a:bodyPr wrap="none" lIns="0" tIns="0" rIns="0" bIns="0" rtlCol="0" anchor="t"/>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[Insert screenshot]</a:t>
            </a:r>
            <a:endParaRPr lang="en-US" sz="1700" dirty="0"/>
          </a:p>
        </p:txBody>
      </p:sp>
      <p:sp>
        <p:nvSpPr>
          <p:cNvPr id="25" name="Shape 23"/>
          <p:cNvSpPr/>
          <p:nvPr/>
        </p:nvSpPr>
        <p:spPr>
          <a:xfrm>
            <a:off x="8102397" y="3467795"/>
            <a:ext cx="3555911" cy="1474589"/>
          </a:xfrm>
          <a:prstGeom prst="rect">
            <a:avLst/>
          </a:prstGeom>
          <a:solidFill>
            <a:srgbClr val="EAE6DD"/>
          </a:solidFill>
          <a:ln/>
        </p:spPr>
      </p:sp>
      <p:sp>
        <p:nvSpPr>
          <p:cNvPr id="26" name="Text 24"/>
          <p:cNvSpPr/>
          <p:nvPr/>
        </p:nvSpPr>
        <p:spPr>
          <a:xfrm>
            <a:off x="8330992" y="3696395"/>
            <a:ext cx="3327317"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29343A"/>
                </a:solidFill>
                <a:latin typeface="Source Sans 3" pitchFamily="34" charset="0"/>
                <a:ea typeface="Source Sans 3" pitchFamily="34" charset="-122"/>
                <a:cs typeface="Source Sans 3" pitchFamily="34" charset="-120"/>
              </a:rPr>
              <a:t>PLACEHOLDER 6</a:t>
            </a:r>
            <a:endParaRPr lang="en-US" sz="1200" dirty="0"/>
          </a:p>
        </p:txBody>
      </p:sp>
      <p:sp>
        <p:nvSpPr>
          <p:cNvPr id="27" name="Text 25"/>
          <p:cNvSpPr/>
          <p:nvPr/>
        </p:nvSpPr>
        <p:spPr>
          <a:xfrm>
            <a:off x="8330992" y="4006489"/>
            <a:ext cx="3098722"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Final output</a:t>
            </a:r>
            <a:endParaRPr lang="en-US" sz="1900" dirty="0"/>
          </a:p>
        </p:txBody>
      </p:sp>
      <p:sp>
        <p:nvSpPr>
          <p:cNvPr id="28" name="Text 26"/>
          <p:cNvSpPr/>
          <p:nvPr/>
        </p:nvSpPr>
        <p:spPr>
          <a:xfrm>
            <a:off x="8330992" y="4411563"/>
            <a:ext cx="3327317" cy="302220"/>
          </a:xfrm>
          <a:prstGeom prst="rect">
            <a:avLst/>
          </a:prstGeom>
          <a:noFill/>
          <a:ln/>
        </p:spPr>
        <p:txBody>
          <a:bodyPr wrap="none" lIns="0" tIns="0" rIns="0" bIns="0" rtlCol="0" anchor="t"/>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[Insert screenshot]</a:t>
            </a:r>
            <a:endParaRPr lang="en-US" sz="1700" dirty="0"/>
          </a:p>
        </p:txBody>
      </p:sp>
      <p:sp>
        <p:nvSpPr>
          <p:cNvPr id="29" name="Text 27"/>
          <p:cNvSpPr/>
          <p:nvPr/>
        </p:nvSpPr>
        <p:spPr>
          <a:xfrm>
            <a:off x="609585" y="6447433"/>
            <a:ext cx="759798"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11</a:t>
            </a:r>
            <a:endParaRPr lang="en-US" sz="1200" dirty="0"/>
          </a:p>
        </p:txBody>
      </p:sp>
    </p:spTree>
    <p:extLst>
      <p:ext uri="{BB962C8B-B14F-4D97-AF65-F5344CB8AC3E}">
        <p14:creationId xmlns:p14="http://schemas.microsoft.com/office/powerpoint/2010/main" val="87584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3387" y="431800"/>
            <a:ext cx="11658308" cy="213320"/>
          </a:xfrm>
          <a:prstGeom prst="rect">
            <a:avLst/>
          </a:prstGeom>
          <a:noFill/>
          <a:ln/>
        </p:spPr>
        <p:txBody>
          <a:bodyPr wrap="none" lIns="0" tIns="0" rIns="0" bIns="0" rtlCol="0" anchor="t"/>
          <a:lstStyle/>
          <a:p>
            <a:pPr marL="0" indent="0" algn="l">
              <a:lnSpc>
                <a:spcPct val="117000"/>
              </a:lnSpc>
              <a:buNone/>
            </a:pPr>
            <a:r>
              <a:rPr lang="en-US" sz="1200" kern="100" spc="144" dirty="0">
                <a:solidFill>
                  <a:srgbClr val="173B35"/>
                </a:solidFill>
                <a:latin typeface="Source Sans 3" pitchFamily="34" charset="0"/>
                <a:ea typeface="Source Sans 3" pitchFamily="34" charset="-122"/>
                <a:cs typeface="Source Sans 3" pitchFamily="34" charset="-120"/>
              </a:rPr>
              <a:t>PROJECT TEAM</a:t>
            </a:r>
            <a:endParaRPr lang="en-US" sz="1200" dirty="0"/>
          </a:p>
        </p:txBody>
      </p:sp>
      <p:sp>
        <p:nvSpPr>
          <p:cNvPr id="3" name="Text 1"/>
          <p:cNvSpPr/>
          <p:nvPr/>
        </p:nvSpPr>
        <p:spPr>
          <a:xfrm>
            <a:off x="533387" y="751800"/>
            <a:ext cx="11124922" cy="411460"/>
          </a:xfrm>
          <a:prstGeom prst="rect">
            <a:avLst/>
          </a:prstGeom>
          <a:noFill/>
          <a:ln/>
        </p:spPr>
        <p:txBody>
          <a:bodyPr wrap="none" lIns="0" tIns="0" rIns="0" bIns="0" rtlCol="0" anchor="t"/>
          <a:lstStyle/>
          <a:p>
            <a:pPr marL="0" indent="0" algn="l">
              <a:lnSpc>
                <a:spcPct val="90000"/>
              </a:lnSpc>
              <a:buNone/>
            </a:pPr>
            <a:r>
              <a:rPr lang="en-US" sz="3000" kern="100" spc="-30" dirty="0">
                <a:solidFill>
                  <a:srgbClr val="173B35"/>
                </a:solidFill>
                <a:latin typeface="Cormorant Garamond SemiBold" pitchFamily="34" charset="0"/>
                <a:ea typeface="Cormorant Garamond SemiBold" pitchFamily="34" charset="-122"/>
                <a:cs typeface="Cormorant Garamond SemiBold" pitchFamily="34" charset="-120"/>
              </a:rPr>
              <a:t>Geo Tag Photo and GitHub Repository</a:t>
            </a:r>
            <a:endParaRPr lang="en-US" sz="3000" dirty="0"/>
          </a:p>
        </p:txBody>
      </p:sp>
      <p:sp>
        <p:nvSpPr>
          <p:cNvPr id="4" name="Shape 2"/>
          <p:cNvSpPr/>
          <p:nvPr/>
        </p:nvSpPr>
        <p:spPr>
          <a:xfrm>
            <a:off x="533387" y="1410593"/>
            <a:ext cx="3671200" cy="31651"/>
          </a:xfrm>
          <a:prstGeom prst="roundRect">
            <a:avLst>
              <a:gd name="adj" fmla="val 49998"/>
            </a:avLst>
          </a:prstGeom>
          <a:solidFill>
            <a:srgbClr val="C5A46D"/>
          </a:solidFill>
          <a:ln/>
        </p:spPr>
      </p:sp>
      <p:sp>
        <p:nvSpPr>
          <p:cNvPr id="5" name="Shape 3"/>
          <p:cNvSpPr/>
          <p:nvPr/>
        </p:nvSpPr>
        <p:spPr>
          <a:xfrm>
            <a:off x="533387" y="1688405"/>
            <a:ext cx="5770716" cy="2820888"/>
          </a:xfrm>
          <a:prstGeom prst="rect">
            <a:avLst/>
          </a:prstGeom>
          <a:solidFill>
            <a:srgbClr val="EAE6DD"/>
          </a:solidFill>
          <a:ln/>
        </p:spPr>
      </p:sp>
      <p:sp>
        <p:nvSpPr>
          <p:cNvPr id="6" name="Text 4"/>
          <p:cNvSpPr/>
          <p:nvPr/>
        </p:nvSpPr>
        <p:spPr>
          <a:xfrm>
            <a:off x="761981" y="1928054"/>
            <a:ext cx="5313527"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29343A"/>
                </a:solidFill>
                <a:latin typeface="Source Sans 3 SemiBold" pitchFamily="34" charset="0"/>
                <a:ea typeface="Source Sans 3 SemiBold" pitchFamily="34" charset="-122"/>
                <a:cs typeface="Source Sans 3 SemiBold" pitchFamily="34" charset="-120"/>
              </a:rPr>
              <a:t>Geo Tag Photo</a:t>
            </a:r>
            <a:endParaRPr lang="en-US" sz="1900" dirty="0"/>
          </a:p>
        </p:txBody>
      </p:sp>
      <p:sp>
        <p:nvSpPr>
          <p:cNvPr id="7" name="Text 5"/>
          <p:cNvSpPr/>
          <p:nvPr/>
        </p:nvSpPr>
        <p:spPr>
          <a:xfrm>
            <a:off x="761981" y="2333129"/>
            <a:ext cx="5542122" cy="302220"/>
          </a:xfrm>
          <a:prstGeom prst="rect">
            <a:avLst/>
          </a:prstGeom>
          <a:noFill/>
          <a:ln/>
        </p:spPr>
        <p:txBody>
          <a:bodyPr wrap="none" lIns="0" tIns="0" rIns="0" bIns="0" rtlCol="0" anchor="t"/>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[Insert geo-tagged team photograph here]</a:t>
            </a:r>
            <a:endParaRPr lang="en-US" sz="1700" dirty="0"/>
          </a:p>
        </p:txBody>
      </p:sp>
      <p:sp>
        <p:nvSpPr>
          <p:cNvPr id="8" name="Text 6"/>
          <p:cNvSpPr/>
          <p:nvPr/>
        </p:nvSpPr>
        <p:spPr>
          <a:xfrm>
            <a:off x="761981" y="2762349"/>
            <a:ext cx="5542122" cy="222250"/>
          </a:xfrm>
          <a:prstGeom prst="rect">
            <a:avLst/>
          </a:prstGeom>
          <a:noFill/>
          <a:ln/>
        </p:spPr>
        <p:txBody>
          <a:bodyPr wrap="none" lIns="0" tIns="0" rIns="0" bIns="0" rtlCol="0" anchor="t"/>
          <a:lstStyle/>
          <a:p>
            <a:pPr marL="0" indent="0" algn="l">
              <a:lnSpc>
                <a:spcPct val="117000"/>
              </a:lnSpc>
              <a:buNone/>
            </a:pPr>
            <a:r>
              <a:rPr lang="en-US" sz="1250" dirty="0">
                <a:solidFill>
                  <a:srgbClr val="29343A"/>
                </a:solidFill>
                <a:latin typeface="Source Sans 3" pitchFamily="34" charset="0"/>
                <a:ea typeface="Source Sans 3" pitchFamily="34" charset="-122"/>
                <a:cs typeface="Source Sans 3" pitchFamily="34" charset="-120"/>
              </a:rPr>
              <a:t>Project Team Photo</a:t>
            </a:r>
            <a:endParaRPr lang="en-US" sz="1250" dirty="0"/>
          </a:p>
        </p:txBody>
      </p:sp>
      <p:sp>
        <p:nvSpPr>
          <p:cNvPr id="9" name="Text 7"/>
          <p:cNvSpPr/>
          <p:nvPr/>
        </p:nvSpPr>
        <p:spPr>
          <a:xfrm>
            <a:off x="6608796" y="1928054"/>
            <a:ext cx="5049513" cy="260548"/>
          </a:xfrm>
          <a:prstGeom prst="rect">
            <a:avLst/>
          </a:prstGeom>
          <a:noFill/>
          <a:ln/>
        </p:spPr>
        <p:txBody>
          <a:bodyPr wrap="none" lIns="0" tIns="0" rIns="0" bIns="0" rtlCol="0" anchor="t"/>
          <a:lstStyle/>
          <a:p>
            <a:pPr marL="0" indent="0" algn="l">
              <a:lnSpc>
                <a:spcPct val="90000"/>
              </a:lnSpc>
              <a:buNone/>
            </a:pPr>
            <a:r>
              <a:rPr lang="en-US" sz="1900" kern="100" spc="-19" dirty="0">
                <a:solidFill>
                  <a:srgbClr val="173B35"/>
                </a:solidFill>
                <a:latin typeface="Source Sans 3 SemiBold" pitchFamily="34" charset="0"/>
                <a:ea typeface="Source Sans 3 SemiBold" pitchFamily="34" charset="-122"/>
                <a:cs typeface="Source Sans 3 SemiBold" pitchFamily="34" charset="-120"/>
              </a:rPr>
              <a:t>GitHub Repository</a:t>
            </a:r>
            <a:endParaRPr lang="en-US" sz="1900" dirty="0"/>
          </a:p>
        </p:txBody>
      </p:sp>
      <p:sp>
        <p:nvSpPr>
          <p:cNvPr id="10" name="Text 8"/>
          <p:cNvSpPr/>
          <p:nvPr/>
        </p:nvSpPr>
        <p:spPr>
          <a:xfrm>
            <a:off x="6608796" y="2333129"/>
            <a:ext cx="5049513" cy="604441"/>
          </a:xfrm>
          <a:prstGeom prst="rect">
            <a:avLst/>
          </a:prstGeom>
          <a:noFill/>
          <a:ln/>
        </p:spPr>
        <p:txBody>
          <a:bodyPr wrap="square" lIns="0" tIns="0" rIns="0" bIns="0" rtlCol="0" anchor="t">
            <a:normAutofit/>
          </a:bodyPr>
          <a:lstStyle/>
          <a:p>
            <a:pPr marL="0" indent="0" algn="l">
              <a:lnSpc>
                <a:spcPct val="117000"/>
              </a:lnSpc>
              <a:buNone/>
            </a:pPr>
            <a:r>
              <a:rPr lang="en-US" sz="1700" b="1" u="sng" dirty="0">
                <a:solidFill>
                  <a:srgbClr val="173B35"/>
                </a:solidFill>
                <a:latin typeface="Source Sans 3 Bold" pitchFamily="34" charset="0"/>
                <a:ea typeface="Source Sans 3 Bold" pitchFamily="34" charset="-122"/>
                <a:cs typeface="Source Sans 3 Bold" pitchFamily="34" charset="-120"/>
                <a:hlinkClick r:id="rId3">
                  <a:extLst>
                    <a:ext uri="{A12FA001-AC4F-418D-AE19-62706E023703}">
                      <ahyp:hlinkClr xmlns:ahyp="http://schemas.microsoft.com/office/drawing/2018/hyperlinkcolor" val="tx"/>
                    </a:ext>
                  </a:extLst>
                </a:hlinkClick>
              </a:rPr>
              <a:t>https://github.com/Bharadwaj-08/Hotel-Booking-Occupancy-Manager</a:t>
            </a:r>
            <a:endParaRPr lang="en-US" sz="1700" dirty="0"/>
          </a:p>
        </p:txBody>
      </p:sp>
      <p:sp>
        <p:nvSpPr>
          <p:cNvPr id="11" name="Text 9"/>
          <p:cNvSpPr/>
          <p:nvPr/>
        </p:nvSpPr>
        <p:spPr>
          <a:xfrm>
            <a:off x="6608796" y="3148961"/>
            <a:ext cx="5049513" cy="329109"/>
          </a:xfrm>
          <a:prstGeom prst="rect">
            <a:avLst/>
          </a:prstGeom>
          <a:noFill/>
          <a:ln/>
        </p:spPr>
        <p:txBody>
          <a:bodyPr wrap="none" lIns="0" tIns="0" rIns="0" bIns="0" rtlCol="0" anchor="t"/>
          <a:lstStyle/>
          <a:p>
            <a:pPr marL="0" indent="0" algn="l">
              <a:lnSpc>
                <a:spcPct val="90000"/>
              </a:lnSpc>
              <a:buNone/>
            </a:pPr>
            <a:r>
              <a:rPr lang="en-US" sz="2400" kern="100" spc="-24" dirty="0">
                <a:solidFill>
                  <a:srgbClr val="173B35"/>
                </a:solidFill>
                <a:latin typeface="Cormorant Garamond SemiBold" pitchFamily="34" charset="0"/>
                <a:ea typeface="Cormorant Garamond SemiBold" pitchFamily="34" charset="-122"/>
                <a:cs typeface="Cormorant Garamond SemiBold" pitchFamily="34" charset="-120"/>
              </a:rPr>
              <a:t>THANK YOU</a:t>
            </a:r>
            <a:endParaRPr lang="en-US" sz="2400" dirty="0"/>
          </a:p>
        </p:txBody>
      </p:sp>
      <p:sp>
        <p:nvSpPr>
          <p:cNvPr id="12" name="Text 10"/>
          <p:cNvSpPr/>
          <p:nvPr/>
        </p:nvSpPr>
        <p:spPr>
          <a:xfrm>
            <a:off x="6608796" y="3676253"/>
            <a:ext cx="5049513"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29343A"/>
                </a:solidFill>
                <a:latin typeface="Source Sans 3" pitchFamily="34" charset="0"/>
                <a:ea typeface="Source Sans 3" pitchFamily="34" charset="-122"/>
                <a:cs typeface="Source Sans 3" pitchFamily="34" charset="-120"/>
              </a:rPr>
              <a:t>Thank you for reviewing the Hotel Booking &amp; Occupancy Manager.</a:t>
            </a:r>
            <a:endParaRPr lang="en-US" sz="1700" dirty="0"/>
          </a:p>
        </p:txBody>
      </p:sp>
      <p:sp>
        <p:nvSpPr>
          <p:cNvPr id="13" name="Text 11"/>
          <p:cNvSpPr/>
          <p:nvPr/>
        </p:nvSpPr>
        <p:spPr>
          <a:xfrm>
            <a:off x="609585" y="6447433"/>
            <a:ext cx="759798" cy="211534"/>
          </a:xfrm>
          <a:prstGeom prst="rect">
            <a:avLst/>
          </a:prstGeom>
          <a:noFill/>
          <a:ln/>
        </p:spPr>
        <p:txBody>
          <a:bodyPr wrap="none" lIns="0" tIns="0" rIns="0" bIns="0" rtlCol="0" anchor="ctr"/>
          <a:lstStyle/>
          <a:p>
            <a:pPr marL="0" indent="0" algn="l">
              <a:lnSpc>
                <a:spcPct val="117000"/>
              </a:lnSpc>
              <a:buNone/>
            </a:pPr>
            <a:r>
              <a:rPr lang="en-US" sz="1200" dirty="0">
                <a:solidFill>
                  <a:srgbClr val="29343A"/>
                </a:solidFill>
                <a:latin typeface="Source Sans 3" pitchFamily="34" charset="0"/>
                <a:ea typeface="Source Sans 3" pitchFamily="34" charset="-122"/>
                <a:cs typeface="Source Sans 3" pitchFamily="34" charset="-120"/>
              </a:rPr>
              <a:t>12</a:t>
            </a:r>
            <a:endParaRPr lang="en-US" sz="1200" dirty="0"/>
          </a:p>
        </p:txBody>
      </p:sp>
    </p:spTree>
    <p:extLst>
      <p:ext uri="{BB962C8B-B14F-4D97-AF65-F5344CB8AC3E}">
        <p14:creationId xmlns:p14="http://schemas.microsoft.com/office/powerpoint/2010/main" val="2694314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1714</Words>
  <Application>Microsoft Office PowerPoint</Application>
  <PresentationFormat>Widescreen</PresentationFormat>
  <Paragraphs>188</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Source Sans 3</vt:lpstr>
      <vt:lpstr>Cormorant Garamond SemiBold</vt:lpstr>
      <vt:lpstr>Source Sans 3 Bold</vt:lpstr>
      <vt:lpstr>Consolas</vt:lpstr>
      <vt:lpstr>Source Sans 3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Bharadwaj Gangavarapu</cp:lastModifiedBy>
  <cp:revision>1</cp:revision>
  <dcterms:created xsi:type="dcterms:W3CDTF">2026-10-16T03:48:52Z</dcterms:created>
  <dcterms:modified xsi:type="dcterms:W3CDTF">2026-10-16T04:00:00Z</dcterms:modified>
</cp:coreProperties>
</file>